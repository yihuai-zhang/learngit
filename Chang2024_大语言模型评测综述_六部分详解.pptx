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一篇评测综述，不是提出新模型的实验论文。本次只讲这份PDF：先建立框架，再逐项理解任务、基准与指标，最后讨论作者如何从已有研究归纳成功、失败与未来挑战。页脚的2018是排版模板残留，不是论文发表时间。</a:t>
            </a:r>
          </a:p>
          <a:p/>
          <a:p>
            <a:r>
              <a:t>论文信息：Yupeng Chang、Xu Wang等16位作者；正式期刊为ACM Transactions on Intelligent Systems and Technology（2024），DOI：10.1145/3641289。</a:t>
            </a:r>
          </a:p>
          <a:p>
            <a:r>
              <a:t>讲解底本：内容以用户提供的arXiv:2307.03109v9（2023-12-29）为准；覆盖原文3幅图、10张表，密集图表附放大讲解。</a:t>
            </a:r>
          </a:p>
          <a:p>
            <a:r>
              <a:t>核心主张：评测应是一门支撑模型发展的独立学科。既要识别任务能力，也要揭示安全风险、失败条件和改进方向。</a:t>
            </a:r>
          </a:p>
          <a:p>
            <a:r>
              <a:t>来源：PDF pp.1–4、33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原文有八个编号章节，这里按汇报逻辑重组为六部分，但不遗漏正文主题。图表按论证需要穿插，原始编号保持不变，最后提供逐项对应的页码索引。</a:t>
            </a:r>
          </a:p>
          <a:p/>
          <a:p>
            <a:r>
              <a:t>01—02｜背景与测量对象：第一部分：研究背景、贡献与三维框架。第二部分：自然语言处理、推理、生成、多语言、事实性与安全。</a:t>
            </a:r>
          </a:p>
          <a:p>
            <a:r>
              <a:t>03—04｜应用与基准：第三部分：社会科学、自然科学、工程、医疗、Agent与其他应用。第四部分：通用、下游和多模态基准。</a:t>
            </a:r>
          </a:p>
          <a:p>
            <a:r>
              <a:t>05—06｜方法与总结：第五部分：自动指标与人类评价。第六部分：成功失败、协议演进、七项挑战与作者结论。</a:t>
            </a:r>
          </a:p>
          <a:p>
            <a:r>
              <a:t>来源：原文章节1–8；汇报重组为六部分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先指出纵轴的单位是论文数量，而不是模型表现。图2提供的是研究热度背景。作者真正要解决的是，已有评测很多，但它们各测什么、用什么数据、怎么打分，没有被系统组织。</a:t>
            </a:r>
          </a:p>
          <a:p/>
          <a:p>
            <a:r>
              <a:t>图怎么读：横轴含2020—2022年度与2023年月度节点；纵轴为论文数。上半年末端节点明显增加，末端标2023.06+、图注包含7月，并非全年趋势。</a:t>
            </a:r>
          </a:p>
          <a:p>
            <a:r>
              <a:t>它支持什么：LLM发展促使研究者从推理、鲁棒性、可信性、医疗等不同角度评测；跨任务与跨协议的综述因而有必要。</a:t>
            </a:r>
          </a:p>
          <a:p>
            <a:r>
              <a:t>不能怎么解释：年度与月度时间粒度混排，不应计算等间隔增长率；这不是模型准确率曲线，也不能据此判断哪个模型领先。</a:t>
            </a:r>
          </a:p>
          <a:p>
            <a:r>
              <a:t>来源：图2｜PDF p.5；引言pp.2–4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介绍贡献时要避免把综述当成全模型横向实验。作者没有把所有数据集统一跑一遍，而是梳理各原始论文的证据；因此后面的数值都需要带着任务、模型和数据集条件理解。</a:t>
            </a:r>
          </a:p>
          <a:p/>
          <a:p>
            <a:r>
              <a:t>三维结构：以what to evaluate、where to evaluate、how to evaluate整理LLM评测。任务决定对象，基准提供载体，协议决定测量过程。</a:t>
            </a:r>
          </a:p>
          <a:p>
            <a:r>
              <a:t>证据综合：汇总多个领域的评测研究，归纳任务依赖的成功与失败；第4节整理46个基准，第5节总结自动与人工评价。</a:t>
            </a:r>
          </a:p>
          <a:p>
            <a:r>
              <a:t>面向未来：讨论更完整的行为评测、鲁棒性、动态测试与评测可信性，并强调打分之后应进一步诊断与增强模型。</a:t>
            </a:r>
          </a:p>
          <a:p>
            <a:r>
              <a:t>来源：引言｜PDF p.4；总结pp.30–33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图1不是技术架构图，它是文献组织图。讲解时先从根节点LLMs evaluation开始，沿what、where和how三个方向看，再看最右侧研究列表。不要逐条读作者名，而要解释作者用何种分类连接这些研究。</a:t>
            </a:r>
          </a:p>
          <a:p/>
          <a:p>
            <a:r>
              <a:t>主干结构：what覆盖NLP、安全与可信性、社会科学、科学工程、医疗、Agent和其他应用；where与how分别整理基准和指标。</a:t>
            </a:r>
          </a:p>
          <a:p>
            <a:r>
              <a:t>叶节点含义：每个细分任务后面的姓名与引用编号是该主题的代表研究索引。它们不是算法步骤，也不是模型的性能排名。</a:t>
            </a:r>
          </a:p>
          <a:p>
            <a:r>
              <a:t>后续阅读：原图完整保留在左侧；接下来分上下区域放大，分别讲测量对象与测量载体、方法和挑战。</a:t>
            </a:r>
          </a:p>
          <a:p>
            <a:r>
              <a:t>来源：图1｜PDF p.3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这一页看图1的上半部分。可以用“考试科目表”帮助理解：不同科目有各自题目和标准，不能把某一科高分推成全面能力。安全与事实性不是附加备注，而是必须进入测量的维度。</a:t>
            </a:r>
          </a:p>
          <a:p/>
          <a:p>
            <a:r>
              <a:t>能力主线：理解、推理、生成、多语言、事实性形成NLP板块。每一项又分为若干任务，避免只用一个“语言能力”总分。</a:t>
            </a:r>
          </a:p>
          <a:p>
            <a:r>
              <a:t>风险主线：鲁棒性、伦理与偏见、可信性具有交叉关系。答对正常问题，不意味着对抗输入下仍正确；表达流畅也不保证事实准确。</a:t>
            </a:r>
          </a:p>
          <a:p>
            <a:r>
              <a:t>跨域主线：社会科学、自然科学与工程继续展开。它们说明模型能力必须放到具体任务、领域知识和评测条件中判断。</a:t>
            </a:r>
          </a:p>
          <a:p>
            <a:r>
              <a:t>来源：图1上半区｜PDF p.3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继续读图1的下半部分。评测并非只需要一套题库，还需要评分过程、评价者和解释方式。作者最终把评测结果接到挑战和改进上，说明这篇综述的重点是评测体系，而不只是模型能力列表。</a:t>
            </a:r>
          </a:p>
          <a:p/>
          <a:p>
            <a:r>
              <a:t>应用边界：医疗、Agent和其他应用把语言能力带入行业使用；测试的对象从单句回答走向工具调用与实际任务。</a:t>
            </a:r>
          </a:p>
          <a:p>
            <a:r>
              <a:t>基准与方法：通用、下游、多模态基准对应不同数据载体；自动与人工评价对应不同判断方式，两者均需要明确标准。</a:t>
            </a:r>
          </a:p>
          <a:p>
            <a:r>
              <a:t>总结与挑战：图的末端是成功失败、协议演进和未来挑战。作者希望评测能形成诊断与改进，而非停留在排行榜。</a:t>
            </a:r>
          </a:p>
          <a:p>
            <a:r>
              <a:t>来源：图1下半区｜PDF p.3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这里只补够理解评测所需的技术背景。公式强调模型按条件概率生成，不意味着它的置信度自动等于事实正确率。提示和反馈会改变表现，因此评测时必须注意交互方式。</a:t>
            </a:r>
          </a:p>
          <a:p/>
          <a:p>
            <a:r>
              <a:t>生成机制：自回归模型逐词元生成：P(y|X) = ∏ P(y_t | X, y_1, …, y_(t−1))。序列概率由逐步条件概率组成，不是一个安全分数。</a:t>
            </a:r>
          </a:p>
          <a:p>
            <a:r>
              <a:t>使用机制：提示工程决定输入任务；上下文学习使模型利用示例与语境；RLHF以人类反馈优化输出，改变交互行为。</a:t>
            </a:r>
          </a:p>
          <a:p>
            <a:r>
              <a:t>评测含义：提示、任务形式和生成条件会影响输出。即使架构或参数规模增加，也必须用具体任务验证能力、风险与可靠性。</a:t>
            </a:r>
          </a:p>
          <a:p>
            <a:r>
              <a:t>来源：背景2.1｜PDF pp.4–5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这是一张背景对照表，不是一张分数表。重点读训练、解释性和硬件三行，说明为什么LLM更需要系统评价。遇到“性能最高”，要加上这是概括性比较，不能把它读成每个任务均超过其他模型。</a:t>
            </a:r>
          </a:p>
          <a:p/>
          <a:p>
            <a:r>
              <a:t>行列怎么读：列对应三类模型，行对应数据规模、特征工程、复杂度、可解释性、表现和硬件需求。逐行对比，不要把行当成实验结果。</a:t>
            </a:r>
          </a:p>
          <a:p>
            <a:r>
              <a:t>主要变化：传统ML较依赖手工特征，深度学习和LLM自动提取特征；LLM使用更大数据、模型和硬件，解释模型行为更加困难。</a:t>
            </a:r>
          </a:p>
          <a:p>
            <a:r>
              <a:t>证据边界：表中Highest等措辞是作者的概括性描述，不是统一数据集上的严格优胜证明；后面的跨任务评测正是为了细化这种概括。</a:t>
            </a:r>
          </a:p>
          <a:p>
            <a:r>
              <a:t>来源：表1｜PDF p.6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图3是整个汇报最重要的简单框架。同一个模型接受什么任务、什么样本、什么评分过程，这三件事共同构成一次评测。换其中任何一项，都不能默认分数可直接相减或比较。</a:t>
            </a:r>
          </a:p>
          <a:p/>
          <a:p>
            <a:r>
              <a:t>任务｜What：先明确要测什么，例如分类、生成、推理或鲁棒性。能力标签过宽，会导致结果难以解释。</a:t>
            </a:r>
          </a:p>
          <a:p>
            <a:r>
              <a:t>数据｜Where：用数据集和基准把任务转成可检验样本。数据覆盖面、分布和时效会影响结论能否外推。</a:t>
            </a:r>
          </a:p>
          <a:p>
            <a:r>
              <a:t>过程｜How：选择自动指标、人类评价和测试协议。传统交叉验证、留出法等提供背景，但LLM还需要新的评价设计。</a:t>
            </a:r>
          </a:p>
          <a:p>
            <a:r>
              <a:t>来源：图3｜背景2.2｜PDF p.6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长表先完整呈现，再分三页放大。读表时先看列名，再看引用研究。勾号是一种主题标签，不能解释为该模型通过了测试，更不能把勾号数当作能力强弱。</a:t>
            </a:r>
          </a:p>
          <a:p/>
          <a:p>
            <a:r>
              <a:t>列的含义：NLU分情感分析SA、分类TC、推断NLI及其他；RNG是推理；NLG分摘要、对话、翻译、问答及其他；Mul为多语言。</a:t>
            </a:r>
          </a:p>
          <a:p>
            <a:r>
              <a:t>行的含义：每行是一项文献，按第一作者排列。一个研究可覆盖多个任务；多处勾号显示任务的交叉性。</a:t>
            </a:r>
          </a:p>
          <a:p>
            <a:r>
              <a:t>阅读方法：先看哪些研究覆盖目标任务，再回到原文条件理解结果。事实性虽在3.1.5讨论，但没有独立列出在表2。</a:t>
            </a:r>
          </a:p>
          <a:p>
            <a:r>
              <a:t>来源：表2｜PDF p.8；3.1｜pp.7–12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放大后的第一段便于看清列名。重点比较单列研究和跨列研究，说明任务分类不是完全互斥。后面讲NLP能力时，会按小节解释这些文献中的发现。</a:t>
            </a:r>
          </a:p>
          <a:p/>
          <a:p>
            <a:r>
              <a:t>观察左侧：Abdelali与Ahuja侧重多语言，Bang覆盖多类任务；这些行说明评测可能同时涉及推理、摘要、翻译与问答。</a:t>
            </a:r>
          </a:p>
          <a:p>
            <a:r>
              <a:t>观察中间：NLU子列细分“理解”；RNG单列提示推理不是情感判断；NLG下不同任务也不能用一种质量标准。</a:t>
            </a:r>
          </a:p>
          <a:p>
            <a:r>
              <a:t>应当记住：选择评测数据前先说清任务范围。一个通用模型的优势可能集中于生成，而非所有理解和推理任务。</a:t>
            </a:r>
          </a:p>
          <a:p>
            <a:r>
              <a:t>来源：表2前段放大｜PDF p.8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这里用生成任务说明“分数口径不能混”。摘要要求忠实保留原文，翻译要求语义与表达，问答要求正确回答。即便都由语言模型完成，它们的成功标准也不同。</a:t>
            </a:r>
          </a:p>
          <a:p/>
          <a:p>
            <a:r>
              <a:t>生成维度：Summ、Dlg、Tran、QA分别对应摘要、对话、翻译和问答。一个模型在其中表现好，不保证在其余任务上同样可靠。</a:t>
            </a:r>
          </a:p>
          <a:p>
            <a:r>
              <a:t>代表索引：Liang覆盖多个任务，Honovich等研究与摘要、对话及事实相关；各行可作为继续查找原始评测的入口。</a:t>
            </a:r>
          </a:p>
          <a:p>
            <a:r>
              <a:t>解释边界：表里没有模型版本、样本量或分数。这些信息必须从正文和被引用的原始研究中取得，不能从勾号推断。</a:t>
            </a:r>
          </a:p>
          <a:p>
            <a:r>
              <a:t>来源：表2中段放大｜PDF p.8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完整表2的最后一段补齐所有行。这里重点引出多语言不均衡，提醒听众英语评测结论不能直接推广到低资源语言。下一页开始分别看各类任务的实际发现。</a:t>
            </a:r>
          </a:p>
          <a:p/>
          <a:p>
            <a:r>
              <a:t>推理研究：多个Wu、Xu、Zhuang、Zhang等引用集中于RNG列，说明推理是重要评测主题，但任务复杂度仍各不相同。</a:t>
            </a:r>
          </a:p>
          <a:p>
            <a:r>
              <a:t>多语言研究：Mul列由部分研究覆盖。总体表现必须结合语言脚本、训练资源和任务适配解释。</a:t>
            </a:r>
          </a:p>
          <a:p>
            <a:r>
              <a:t>避免误读：这是一张文献地图而不是总体统计抽样。研究数量多的领域不必然更成熟，也不代表该领域风险更高。</a:t>
            </a:r>
          </a:p>
          <a:p>
            <a:r>
              <a:t>来源：表2后段放大｜PDF p.8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可以先用“判断一句话是正面还是负面”解释情感分析，再用“这句话是否由前提推出”解释NLI。作者把二者分开，因为简单分类的成功不能证明复杂语义推断可靠。</a:t>
            </a:r>
          </a:p>
          <a:p/>
          <a:p>
            <a:r>
              <a:t>情感与分类：引用研究常报告较好的情感分析和分类表现；Liang的特定分类评测中GLM-130B准确率85.8%，不是全任务平均成绩。</a:t>
            </a:r>
          </a:p>
          <a:p>
            <a:r>
              <a:t>推断与语义：NLI要求判断前提与假设关系；模型难以表达人的意见分歧。事件语义相似性、无意义短语识别等仍显示不足。</a:t>
            </a:r>
          </a:p>
          <a:p>
            <a:r>
              <a:t>任务适配：Choi引用研究中微调BERT可超过更大零样本模型的社会知识表现。模型规模不能替代专门任务验证。</a:t>
            </a:r>
          </a:p>
          <a:p>
            <a:r>
              <a:t>来源：3.1.1｜PDF pp.7、9；引用[114][105][184][166][23]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讲推理时避免只看模型能否写出很长的步骤。作者列出了多种推理，说明每种都有不同难度。局部成功与抽象、多跳、分布外失败可以并存，这也是综合评测必要的原因。</a:t>
            </a:r>
          </a:p>
          <a:p/>
          <a:p>
            <a:r>
              <a:t>已有优势：引用研究中ChatGPT的算术相对GPT-3.5进步；ChatGPT和GPT-4在部分逻辑测试优于传统微调方法。</a:t>
            </a:r>
          </a:p>
          <a:p>
            <a:r>
              <a:t>主要失败：符号、空间、多跳和复杂抽象任务仍有困难；反事实变化可能使模型失去原有表现，说明泛化与熟悉题目不同。</a:t>
            </a:r>
          </a:p>
          <a:p>
            <a:r>
              <a:t>评价原则：逐步推理输出只是可观察行为。应检查最终正确性、题目变化和任务条件，不能仅凭解释完整认定推理可靠。</a:t>
            </a:r>
          </a:p>
          <a:p>
            <a:r>
              <a:t>来源：3.1.2｜PDF pp.9–10；引用[159][124][227][56][47]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这里不需要给出一个统一的“生成分数”。同一模型可能对话好但摘要一般。重点是让听众看到，任务优化、人工与自动标准、语言方向都会改变判断。</a:t>
            </a:r>
          </a:p>
          <a:p/>
          <a:p>
            <a:r>
              <a:t>摘要与对话：TNLG v2在某摘要评测领先，ChatGPT表现一般；Claude和ChatGPT在部分对话中强于GPT-3.5，但专门微调模型仍可领先。</a:t>
            </a:r>
          </a:p>
          <a:p>
            <a:r>
              <a:t>翻译与问答：人工评价中翻译可较强，但英译其他语言和对比测试有不足；一般知识问答进步，常识问答仍有缺口。</a:t>
            </a:r>
          </a:p>
          <a:p>
            <a:r>
              <a:t>写作与风格：生成通常流畅，但正式程度控制、特殊写作和文本质量判断各有边界；读起来顺畅不等于忠实、正确或无偏。</a:t>
            </a:r>
          </a:p>
          <a:p>
            <a:r>
              <a:t>来源：3.1.3｜PDF pp.10–11；引用[114][6][130][159][158][20]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用英语提问可能提高部分结果，但它不是普适解决方案。作者认为低资源和非拉丁语言需要单独评测，因此语言是测量条件，而不是一个可忽略的外观变化。</a:t>
            </a:r>
          </a:p>
          <a:p/>
          <a:p>
            <a:r>
              <a:t>主要观察：阿拉伯语零样本、非拉丁文字和低资源语言任务表现不足；模型对英语的适配通常更充分。</a:t>
            </a:r>
          </a:p>
          <a:p>
            <a:r>
              <a:t>简单补救的限制：先译成英语、使用英语提示，也不能稳定追平专用SOTA。翻译可能改变任务信息，无法消除全部语言差异。</a:t>
            </a:r>
          </a:p>
          <a:p>
            <a:r>
              <a:t>研究含义：多语言评测应分别报告各语言与任务，关注语言公平和文化偏向；不能用英文榜单代表中文或所有语言能力。</a:t>
            </a:r>
          </a:p>
          <a:p>
            <a:r>
              <a:t>来源：3.1.4｜PDF pp.11–12；引用[1][2][6][100][250]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事实性可用“账单逐项核对”类比：一段回答里有多条可验证陈述，不能因为整体读起来合理就算正确。作者列出不同估计方法，但没有证明一种方法解决所有事实问题。</a:t>
            </a:r>
          </a:p>
          <a:p/>
          <a:p>
            <a:r>
              <a:t>测什么：问答检查与现实事实是否一致，摘要检查是否忠于原文；FactScore等将回答拆成原子事实逐项评价。</a:t>
            </a:r>
          </a:p>
          <a:p>
            <a:r>
              <a:t>引用发现：Wang等引用研究中GPT-4和BingChat答对超过80%的问题，但仍未达到完全准确；该比例只适用于其特定问答集。</a:t>
            </a:r>
          </a:p>
          <a:p>
            <a:r>
              <a:t>尚存缺口：NLI、问答式评估、似然与熵可互补，但缺少统一比较框架；扩大模型不一定提高真实性，估计器本身也须检验。</a:t>
            </a:r>
          </a:p>
          <a:p>
            <a:r>
              <a:t>来源：3.1.5｜PDF p.12；引用[204][74][138][156]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原表全部保留。把三类问题讲清楚，比逐行读作者名更有价值。某些可信性研究包含多个维度，分类是综述组织方式之一，而不是天然互斥的风险清单。</a:t>
            </a:r>
          </a:p>
          <a:p/>
          <a:p>
            <a:r>
              <a:t>表怎么读：三列分别是Robustness、Ethics and biases、Trustworthiness；每行仍是一项引用研究，勾号不是安全分。</a:t>
            </a:r>
          </a:p>
          <a:p>
            <a:r>
              <a:t>三种问题：鲁棒性问扰动下是否稳定；伦理偏见问是否产生不当差异或伤害；可信性还包含隐私、公平、判断一致性与幻觉。</a:t>
            </a:r>
          </a:p>
          <a:p>
            <a:r>
              <a:t>读表提醒：部分文献跨列；表中Liu[123]重复列示，不能简单按行计独立研究数。更不应把空白解释成“没有风险”。</a:t>
            </a:r>
          </a:p>
          <a:p>
            <a:r>
              <a:t>来源：表3｜PDF p.13；3.2｜pp.13–15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用“晴天行车与雨天测试”解释正常性能和鲁棒性：一个模型平时答得对，不代表遇到异常文本、陌生分布或视觉干扰仍可靠。评测需要覆盖这些压力条件。</a:t>
            </a:r>
          </a:p>
          <a:p/>
          <a:p>
            <a:r>
              <a:t>测试载体：AdvGLUE、ANLI、DDXPlus及扩展GLUE检查分布外或对抗表现；不能只重复常规测试。</a:t>
            </a:r>
          </a:p>
          <a:p>
            <a:r>
              <a:t>提示攻击：PromptBench从字符、词、句和语义层攻击提示，说明改变任务表达就可能影响结果；视觉攻击也可能迁移。</a:t>
            </a:r>
          </a:p>
          <a:p>
            <a:r>
              <a:t>总结边界：论文引用的证据指向脆弱性，但攻击难度、预算和样本条件各异。没有统一条件时，ASR之间不可随意比较。</a:t>
            </a:r>
          </a:p>
          <a:p>
            <a:r>
              <a:t>来源：3.2.1｜PDF pp.13–14；引用[206][234][258][264]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看似矛盾的结论实际上可能来自不同测试条件。标准场景更可信，与特定攻击下更脆弱可以同时发生；这正说明安全结论必须明确风险维度和协议。</a:t>
            </a:r>
          </a:p>
          <a:p/>
          <a:p>
            <a:r>
              <a:t>伦理与偏见：训练数据中的偏见可被继承和放大；角色扮演研究中毒性最高增至六倍。政治、人格和道德问卷仅反映特定测试。</a:t>
            </a:r>
          </a:p>
          <a:p>
            <a:r>
              <a:t>可信性多维：DecodingTrust同时检查毒性、刻板印象、鲁棒性、隐私、机器伦理和公平；各维度不能被一个概念替代。</a:t>
            </a:r>
          </a:p>
          <a:p>
            <a:r>
              <a:t>条件性判断：GPT-4在标准评测更可信，但在引用研究中也可能更易受攻击；初始正确判断会被质疑或误导，视觉幻觉同样存在。</a:t>
            </a:r>
          </a:p>
          <a:p>
            <a:r>
              <a:t>来源：3.2.2–3.2.3｜PDF pp.14–15；引用[35][201][62][163][113]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第三部分把前面的测量维度放到具体应用。作者的逻辑是用途改变，错误后果和成功标准也改变。因此社会科学、工程、医疗和Agent需要各自的评价设计。</a:t>
            </a:r>
          </a:p>
          <a:p/>
          <a:p>
            <a:r>
              <a:t>社会科学：立场、情感和错误信息分类较强；隐性仇恨等任务部分准确率低于40%。法律判决摘要仍有不连贯和幻觉，税法表现尚未达专家水平。</a:t>
            </a:r>
          </a:p>
          <a:p>
            <a:r>
              <a:t>自然与工程：数学、化学、代码和规划对知识与步骤有不同要求。能解释概念，不等于能完成高难证明或可靠工程执行。</a:t>
            </a:r>
          </a:p>
          <a:p>
            <a:r>
              <a:t>医疗与Agent：查询、考试、助手及工具调用分别具有不同成功标准；不能用一个问答表现推断临床或外部行动安全。</a:t>
            </a:r>
          </a:p>
          <a:p>
            <a:r>
              <a:t>来源：3.3–3.7｜PDF pp.15–22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表4完整显示各研究的领域归属。读完表后要把能力层级讲清楚，算术、化学问答、代码生成和规划不是同一种任务。作者引用的证据也不是统一难度。</a:t>
            </a:r>
          </a:p>
          <a:p/>
          <a:p>
            <a:r>
              <a:t>表怎么读：三列对应Mathematics、General science、Engineering。按引用研究定位领域，不能比较各领域模型“平均能力”。</a:t>
            </a:r>
          </a:p>
          <a:p>
            <a:r>
              <a:t>数学证据：基础加减较强，除法、幂、三角函数和长表达式更难；引用研究中高认知层级任务准确率明显下降。</a:t>
            </a:r>
          </a:p>
          <a:p>
            <a:r>
              <a:t>不能外推：单套竞赛题或一类科学问答的成功，无法证明科研能力。第3.4节明确区分数学、一般科学和代码规划。</a:t>
            </a:r>
          </a:p>
          <a:p>
            <a:r>
              <a:t>来源：表4｜PDF p.16；3.4｜pp.16–17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工程应用的关键是结果能否执行。代码看起来合理但运行失败，或者步骤看起来完整却漏掉约束，都说明文本生成和工程能力不能混为一谈。</a:t>
            </a:r>
          </a:p>
          <a:p/>
          <a:p>
            <a:r>
              <a:t>科学知识：五项化学任务准确率介于25%—100%，范围本身显示任务差异。物理与化学比较仅来自有限研究。</a:t>
            </a:r>
          </a:p>
          <a:p>
            <a:r>
              <a:t>代码与软件：代码生成和解释有竞争力，但数据结构、树、图论较难；漏洞检测、测试优先级等软件工程任务仍不可靠。</a:t>
            </a:r>
          </a:p>
          <a:p>
            <a:r>
              <a:t>规划与执行：常识规划即使在简单任务上也可能失败，泛化能力有限；微调CodeT5在引用研究的规划领域表现最佳，不能只按模型代际推断。</a:t>
            </a:r>
          </a:p>
          <a:p>
            <a:r>
              <a:t>来源：3.4.2–3.4.3｜PDF p.17；引用[18][61][125][181][150][194][195]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医学是最容易出现误读的部分。考试成绩、医疗信息质量和临床辅助有不同含义。这里保留原始分类，明确不能把考试通过作为部署安全证据。</a:t>
            </a:r>
          </a:p>
          <a:p/>
          <a:p>
            <a:r>
              <a:t>行列含义：列序为Medical queries、Medical examination、Medical assistants；标题列举顺序不同，应以实际表头为准。</a:t>
            </a:r>
          </a:p>
          <a:p>
            <a:r>
              <a:t>证据类型：查询评测关注知识信息；考试评测关注标准题正确性；助手评测还需面对患者沟通、临床流程和引用可靠性。</a:t>
            </a:r>
          </a:p>
          <a:p>
            <a:r>
              <a:t>关键边界：这些研究是在不同数据和使用方式下验证潜力。不能把“接近USMLE及格线”写成“具备自主临床能力”。</a:t>
            </a:r>
          </a:p>
          <a:p>
            <a:r>
              <a:t>来源：表5｜PDF p.18；3.5｜pp.18–19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讲这页时把潜力和边界放在同一条论证中。原文并不否认医疗辅助价值，而是提醒知识正确率不能覆盖误诊、隐私和临床后果。数值必须带上原始任务条件。</a:t>
            </a:r>
          </a:p>
          <a:p/>
          <a:p>
            <a:r>
              <a:t>查询与考试：遗传学、放疗物理和生物医学回答相对准确；初级保健评测也有未及格结果。USMLE表现支持教育潜力，不等于临床替代。</a:t>
            </a:r>
          </a:p>
          <a:p>
            <a:r>
              <a:t>医疗助手：报告通俗化和教育辅助显示可行性；手术信息引用研究中GPT-3.5/4准确率46.8%/76.4%，仅限该具体评测。</a:t>
            </a:r>
          </a:p>
          <a:p>
            <a:r>
              <a:t>风险限制：引用不足、编造、回答不确定性、误诊和患者隐私仍限制使用。本文没有开展新临床试验。</a:t>
            </a:r>
          </a:p>
          <a:p>
            <a:r>
              <a:t>来源：3.5.1–3.5.3｜PDF pp.18–19；引用[186][57][97][143][131]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可以把Agent类比为“从答题学生变成要操作设备的助理”。调用工具以后，仅看最终回答就可能漏掉过程错误。不过本文这一节主要是路线介绍，不是统一Agent评测实验。</a:t>
            </a:r>
          </a:p>
          <a:p/>
          <a:p>
            <a:r>
              <a:t>代表路线：Toolformer学习API调用，TALM通过迭代改进，MRKL连接模块，HuggingGPT协调其他模型；ToolLLM等服务工具应用。</a:t>
            </a:r>
          </a:p>
          <a:p>
            <a:r>
              <a:t>从回答到行动：评价不再只看最终文字，还需要理解工具选择、调用时机、交互及任务结果；这是对原文系统路线的讲解。</a:t>
            </a:r>
          </a:p>
          <a:p>
            <a:r>
              <a:t>本文范围：该节主要介绍代表框架与能力扩展，没有统一Agent排行榜，也没有证明各系统能完成所有复杂任务。</a:t>
            </a:r>
          </a:p>
          <a:p>
            <a:r>
              <a:t>来源：3.6｜PDF p.19；引用[160][161][90][172][152][174]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表6说明LLM评价已超出传统NLP。不同应用的好结果有不同含义，例如学习反馈更有用、检索更快、人格量表更一致，不能汇总成一种能力。</a:t>
            </a:r>
          </a:p>
          <a:p/>
          <a:p>
            <a:r>
              <a:t>表怎么读：四列分别为Education、Search and recommendation、Personality testing、Specific applications；勾号仅标文献归属。</a:t>
            </a:r>
          </a:p>
          <a:p>
            <a:r>
              <a:t>典型用途：教育关注反馈与考试；搜索推荐关注检索与个性化；人格测试关注回答一致性、情绪与心理测量。</a:t>
            </a:r>
          </a:p>
          <a:p>
            <a:r>
              <a:t>其他应用：游戏设计、日志解析、模型性能评估等也被纳入。表只是整理研究，未提供跨应用统一比较分数。</a:t>
            </a:r>
          </a:p>
          <a:p>
            <a:r>
              <a:t>来源：表6｜PDF p.20；3.7｜pp.19–22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这一页的关键例子是答案泄漏。高分可能来自提示里含答案，而不是能力；本文明确指出这个问题。人格量表结果同样需要谨慎，行为相似不等于机制相同。</a:t>
            </a:r>
          </a:p>
          <a:p/>
          <a:p>
            <a:r>
              <a:t>教育测量：模型可辅助反馈与问题解释。本文指出某MIT考试引用研究把正确答案放入提示，导致结果不公平，说明要审查协议。</a:t>
            </a:r>
          </a:p>
          <a:p>
            <a:r>
              <a:t>检索与推荐：部分实验中ChatGPT组用时更少，推荐可辅助冷启动与解释；不公平推荐仍要求单独检验。</a:t>
            </a:r>
          </a:p>
          <a:p>
            <a:r>
              <a:t>人格与特定任务：人格回答存在偏差和一致性问题；模型得分像人类，不代表具有相同心理机制。游戏与日志任务也需专门标准。</a:t>
            </a:r>
          </a:p>
          <a:p>
            <a:r>
              <a:t>来源：3.7｜PDF pp.20–22；引用[248][232][246][180][212][101][103]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这是论文的基准总表，共46项。它不是谁最好的一张排行榜，而是说明每套测试到底在测什么。四列都很重要：同叫综合基准，领域和评分也可能不同。</a:t>
            </a:r>
          </a:p>
          <a:p/>
          <a:p>
            <a:r>
              <a:t>四列读法：Benchmark是名称，Focus是测量焦点，Domain是领域类型，Evaluation Criteria是评价标准；表中没有模型得分。</a:t>
            </a:r>
          </a:p>
          <a:p>
            <a:r>
              <a:t>三类组织：第4节按通用语言任务、特定下游任务和多模态任务归纳。不同基准可以重叠，也可能测同一能力的不同侧面。</a:t>
            </a:r>
          </a:p>
          <a:p>
            <a:r>
              <a:t>读表目的：完整原表先展示，随后分三段放大。重点比较“同一模型在何种测量对象和标准下被观察”，不是记住所有名称。</a:t>
            </a:r>
          </a:p>
          <a:p>
            <a:r>
              <a:t>来源：表7｜PDF p.22；第4节pp.23–26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第一段包含许多熟悉的名称，但熟悉名称不等于理解测量。以MMLU、Chatbot Arena、TRUSTGPT对比：知识正确性、用户偏好与风险表现是三类证据。</a:t>
            </a:r>
          </a:p>
          <a:p/>
          <a:p>
            <a:r>
              <a:t>知识与推理：MMLU测多任务知识，MATH测数学，APPS测代码；CUAD关注合同，SOCKET关注社会知识。</a:t>
            </a:r>
          </a:p>
          <a:p>
            <a:r>
              <a:t>交互与榜单：Chatbot Arena强调用户投票，OpenLLM提供公开比较，DynaBench关注动态评价；这些载体产生不同证据。</a:t>
            </a:r>
          </a:p>
          <a:p>
            <a:r>
              <a:t>安全与中文：TRUSTGPT覆盖毒性、偏见与对齐，C-Eval关注中文考试。它们各有对象，不是同一个安全维度。</a:t>
            </a:r>
          </a:p>
          <a:p>
            <a:r>
              <a:t>来源：表7前段放大｜PDF p.22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这一段把基准从语言问答扩展到工具、动态信息和行业领域。一个模型在某套题上得高分，仍需要进一步测试工具过程、过时知识或具体医疗能力。</a:t>
            </a:r>
          </a:p>
          <a:p/>
          <a:p>
            <a:r>
              <a:t>综合与多模态：HELM多维评测，MMBench和SEED-Bench面向多模态；不同综合体系仍保留各自标准。</a:t>
            </a:r>
          </a:p>
          <a:p>
            <a:r>
              <a:t>工具与动态知识：API-Bank评价API调用、检索、规划，ToolBench关注工具执行，FreshQA关注动态知识；最终答案之外还要看过程。</a:t>
            </a:r>
          </a:p>
          <a:p>
            <a:r>
              <a:t>风险与领域：UHGEval关注中文幻觉，CVALUES关注安全责任，MultiMedQA与CMB关注医疗。任务适配是选择基准的前提。</a:t>
            </a:r>
          </a:p>
          <a:p>
            <a:r>
              <a:t>来源：表7中段放大｜PDF p.22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最后一段引出评价工具与被评价模型的区别。PandaLM可以帮助评价，但不能因为使用了一个大模型裁判就认为结果自动可信。接下来讲基准选择原则。</a:t>
            </a:r>
          </a:p>
          <a:p/>
          <a:p>
            <a:r>
              <a:t>鲁棒性载体：BOSS、GLUE-X关注分布外表现，PromptBench关注提示攻击；测试条件不同于普通知识题。</a:t>
            </a:r>
          </a:p>
          <a:p>
            <a:r>
              <a:t>语言与对话：KoLA关注知识，AGIEval以人类考试为中心，MT-Bench关注多轮对话，GAOKAO-Bench与M3KE提供中文场景。</a:t>
            </a:r>
          </a:p>
          <a:p>
            <a:r>
              <a:t>裁判类基准：PandaLM和LLMEval等使用模型评价输出。自动裁判是评价程序的一部分，需要区分模型能力与裁判能力。</a:t>
            </a:r>
          </a:p>
          <a:p>
            <a:r>
              <a:t>来源：表7后段放大｜PDF p.22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选基准像选体检项目：先知道要排查什么风险，再选择检测。综合考试和行业测试都重要，但一种项目的正常结果不能替代另一种。</a:t>
            </a:r>
          </a:p>
          <a:p/>
          <a:p>
            <a:r>
              <a:t>通用任务：HELM覆盖多维，BIG-bench含204项挑战任务；Chatbot Arena与MT-Bench强调交互，MMLU与AGIEval强调知识考试。</a:t>
            </a:r>
          </a:p>
          <a:p>
            <a:r>
              <a:t>下游任务：医疗、合同、数学、代码、安全、社会知识、复杂指令分别使用专门基准；不能用考试总分代表全部部署能力。</a:t>
            </a:r>
          </a:p>
          <a:p>
            <a:r>
              <a:t>工具测试：API-Bank含53种API、264段标注对话、568次调用；它提供检索和规划测试，但并不覆盖全部外部环境。</a:t>
            </a:r>
          </a:p>
          <a:p>
            <a:r>
              <a:t>来源：4.1–4.2｜PDF pp.23–26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多模态基准让模型从文本题走向视觉与其他输入。讲到题目数量时要避免把规模当作充分性，覆盖方面和真实任务匹配仍是关键。</a:t>
            </a:r>
          </a:p>
          <a:p/>
          <a:p>
            <a:r>
              <a:t>感知与认知：MME兼顾感知、认知；MMBench采用CircularEval，试图更系统测试多模态能力；具体协议各有特点。</a:t>
            </a:r>
          </a:p>
          <a:p>
            <a:r>
              <a:t>覆盖规模：SEED-Bench含约19,000道人工标注选择题，覆盖12类评价方面；LAMM进一步扩展至点云等形式。</a:t>
            </a:r>
          </a:p>
          <a:p>
            <a:r>
              <a:t>解释限制：数据量大不代表所有部署环境均被覆盖。模型对视觉扰动的脆弱性与语言正确率需要分别评价。</a:t>
            </a:r>
          </a:p>
          <a:p>
            <a:r>
              <a:t>来源：4.3｜PDF p.26；3.2.1｜p.13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原表比较短，适合完整放大。先看四类指标，再解释它们测量的不同问题。特别强调本页AUC不是常见ROC曲线，而是作者讨论的选择性准确率和覆盖率曲线。</a:t>
            </a:r>
          </a:p>
          <a:p/>
          <a:p>
            <a:r>
              <a:t>准确与校准：EM、近似EM、F1、ROUGE衡量任务输出；ECE与选择性准确率—覆盖率AUC关注置信度是否可靠。</a:t>
            </a:r>
          </a:p>
          <a:p>
            <a:r>
              <a:t>公平与鲁棒：DPD、EOD关注群体预测差异；ASR、PDR衡量攻击成功或相对性能下降，两组不能与准确率互换。</a:t>
            </a:r>
          </a:p>
          <a:p>
            <a:r>
              <a:t>指标选择：每个指标都有对象与条件。本文把能够自动计算的标准归入自动评价，包括部分语言模型裁判方案。</a:t>
            </a:r>
          </a:p>
          <a:p>
            <a:r>
              <a:t>来源：表9｜PDF p.27；5.1｜pp.26–28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用例子说明：一句正确同义回答可能EM为零，文本很相似也可能事实不对。所以选择指标必须先定义任务的正确性，而不是为了方便统一算一个数。</a:t>
            </a:r>
          </a:p>
          <a:p/>
          <a:p>
            <a:r>
              <a:t>EM与近似匹配：Exact Match要求输出与参考答案完全相同；近似匹配放宽形式差异。开放回答可能存在同义正确答案，严格EM会过于苛刻。</a:t>
            </a:r>
          </a:p>
          <a:p>
            <a:r>
              <a:t>F1：F1=2×Precision×Recall/(Precision+Recall)。它平衡精确率和召回率；仍须说明是在分类、词项还是具体任务上计算。</a:t>
            </a:r>
          </a:p>
          <a:p>
            <a:r>
              <a:t>ROUGE：ROUGE评估与参考文本的重叠，常用于摘要。高重叠可以提供质量线索，但不能独立证明全部事实正确或安全。</a:t>
            </a:r>
          </a:p>
          <a:p>
            <a:r>
              <a:t>来源：5.1 Accuracy｜PDF p.27；本页含指标含义解释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用“有九成把握的判断能否大约九成正确”解释校准。模型任务准确率和置信度可信性需要分别看。答得少但更准，也可能是一种选择性策略，因此要同时看覆盖率。</a:t>
            </a:r>
          </a:p>
          <a:p/>
          <a:p>
            <a:r>
              <a:t>ECE的含义：按置信度分组，比较每组平均置信度与实际正确率；常用ECE把各组差异加权汇总。越小通常表示校准越好。</a:t>
            </a:r>
          </a:p>
          <a:p>
            <a:r>
              <a:t>选择性评价：允许只回答较有把握的样本，观察准确率与覆盖率的取舍。本文的AUC指该曲线面积，不是ROC-AUC。</a:t>
            </a:r>
          </a:p>
          <a:p>
            <a:r>
              <a:t>实际解读：若自信90%的回答仅约60%正确，则存在过度自信；这是讲解示例，不是本文实验结果。安全场景不能忽略这种误差。</a:t>
            </a:r>
          </a:p>
          <a:p>
            <a:r>
              <a:t>来源：5.1 Calibrations｜PDF p.27；示例为汇报辅助解释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公平有多种定义。一个系统让各群体得到同样比例的肯定回答，却可能对某一群体产生更多错误。作者列出两类指标，就是为了区分这些问题。</a:t>
            </a:r>
          </a:p>
          <a:p/>
          <a:p>
            <a:r>
              <a:t>DPD：人口统计均等差异比较不同群体获得正类预测的概率。它检查输出分配比例，但不直接控制真实标签。</a:t>
            </a:r>
          </a:p>
          <a:p>
            <a:r>
              <a:t>EOD：均等赔率差异（Equalized Odds Difference）比较不同群体的真阳性率与假阳性率差异；不同于仅要求真阳性率相等的均等机会。</a:t>
            </a:r>
          </a:p>
          <a:p>
            <a:r>
              <a:t>解释边界：公平标准可能不同，真实群体分布与任务也重要。没有说明群体和标签口径时，单独数值不能判断系统是否公平。</a:t>
            </a:r>
          </a:p>
          <a:p>
            <a:r>
              <a:t>来源：5.1 Fairness｜PDF pp.27–28；汇报概念性解释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这页是自动指标里最容易混口径的部分。ASR分母并非随意选全部样本，PDR也不是绝对百分点下降。汇报时先说明定义，再解释攻击使模型在什么条件下变差。</a:t>
            </a:r>
          </a:p>
          <a:p/>
          <a:p>
            <a:r>
              <a:t>ASR：原文公式在原先预测正确的样本上统计攻击后变错的比例。它是条件成功率，不能不说明分母就比较不同实验。</a:t>
            </a:r>
          </a:p>
          <a:p>
            <a:r>
              <a:t>PDR：PDR=1−攻击后任务表现/原始任务表现。它度量相对退化；若原始分数很低，相对量也可能不稳定。</a:t>
            </a:r>
          </a:p>
          <a:p>
            <a:r>
              <a:t>使用条件：同时报告原始性能、扰动策略和测试集。高普通准确率不保证低攻击成功率，风险比较应保留完整条件。</a:t>
            </a:r>
          </a:p>
          <a:p>
            <a:r>
              <a:t>来源：5.1 Robustness｜PDF p.28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人工评价也有一套质量控制。不能只说我们请人看了一下，而应说请了多少人、用什么标准、具有什么专业知识。表10就是一个最简的设计清单。</a:t>
            </a:r>
          </a:p>
          <a:p/>
          <a:p>
            <a:r>
              <a:t>评价人数：需兼顾样本代表性和统计意义。人数不足或来源偏窄，可能让结果只反映少数人的判断。</a:t>
            </a:r>
          </a:p>
          <a:p>
            <a:r>
              <a:t>评分规则：准确、相关、流畅、透明、安全、人类对齐形成评价量表；每个维度需要明确解释与评分标准。</a:t>
            </a:r>
          </a:p>
          <a:p>
            <a:r>
              <a:t>评价者能力：领域知识、任务熟悉度与方法训练决定质量。专业问题不宜只凭普通用户印象评价。</a:t>
            </a:r>
          </a:p>
          <a:p>
            <a:r>
              <a:t>来源：表10｜PDF p.29；5.2｜pp.28–29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流畅性往往最容易被观察，但安全和事实需要额外核验。尤其不要把模型给出的漂亮解释称为内部机制透明。作者的人工量表关注可观察回应和使用者判断。</a:t>
            </a:r>
          </a:p>
          <a:p/>
          <a:p>
            <a:r>
              <a:t>内容质量：准确性关注事实，相关性关注是否回答问题，流畅性关注表达是否顺畅；三个维度可能互相分离。</a:t>
            </a:r>
          </a:p>
          <a:p>
            <a:r>
              <a:t>透明与安全：透明性在文中指回应与决策说明清晰，不等于获得真实内部机制。安全性关注不当、冒犯或有害输出。</a:t>
            </a:r>
          </a:p>
          <a:p>
            <a:r>
              <a:t>人类对齐：考察人类价值、偏好与社会规范。文化和个体差异会引入评分变动，需要结合实际使用情境。</a:t>
            </a:r>
          </a:p>
          <a:p>
            <a:r>
              <a:t>来源：5.2六项评价标准｜PDF p.29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作者没有给自动和人工排一个优先级。标准答案任务适合自动化，开放回答需要人类补足，但人工也会有波动。真正的设计是针对任务匹配证据。</a:t>
            </a:r>
          </a:p>
          <a:p/>
          <a:p>
            <a:r>
              <a:t>自动评价：便于重复、大样本和统一计算；参考答案、指标与模型裁判仍可能遗漏开放生成的质量差异。</a:t>
            </a:r>
          </a:p>
          <a:p>
            <a:r>
              <a:t>人工评价：更贴近开放回答和真实场景，但成本、文化差异、个体波动和专业性会影响一致性。</a:t>
            </a:r>
          </a:p>
          <a:p>
            <a:r>
              <a:t>组合原则：按任务选择指标与人工核验，在相同条件下解释结果。本文并未证明某一种方法或基准普遍最好。</a:t>
            </a:r>
          </a:p>
          <a:p>
            <a:r>
              <a:t>来源：5.1–5.2｜PDF pp.26–29；第6节p.30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这页回到综述的证据性质。成功和失败并不矛盾，可能发生在不同任务上。模型更新也会改变结果，因此这是一张当时文献中的能力边界图，不是永久结论。</a:t>
            </a:r>
          </a:p>
          <a:p/>
          <a:p>
            <a:r>
              <a:t>相对优势：流畅生成、情感分类、部分算术逻辑、上下文回应、翻译与问答表现较好。这些成功都带有任务条件。</a:t>
            </a:r>
          </a:p>
          <a:p>
            <a:r>
              <a:t>主要失败：复杂抽象、事件语义、低资源语言、视觉扰动、毒性偏见、幻觉、实时知识与对抗提示仍显示不足。</a:t>
            </a:r>
          </a:p>
          <a:p>
            <a:r>
              <a:t>正确表达：应说“某研究在某测试下发现”，不要说“本文原创实验证明”。作者在免责声明中也强调版本变化和证据边界。</a:t>
            </a:r>
          </a:p>
          <a:p>
            <a:r>
              <a:t>来源：6.1｜PDF pp.30–31；免责声明p.33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表8虽然出现在第26页，但主要由第6.2节解释。它是三类协议的索引，不是有效性对比实验。动态测试、人工参与和挑战样本都有价值，也各有条件。</a:t>
            </a:r>
          </a:p>
          <a:p/>
          <a:p>
            <a:r>
              <a:t>人在回路：AdaVision、AdaTest允许人类标注、筛选和组织测试，帮助定位一致的失败模式。</a:t>
            </a:r>
          </a:p>
          <a:p>
            <a:r>
              <a:t>众包与动态：DynaBench、DynaBoard、DynaTask及DynamicTempLAMA引入难例和时间更新，使测试不完全固定。</a:t>
            </a:r>
          </a:p>
          <a:p>
            <a:r>
              <a:t>挑战测试：HELM、CheckList、DeepTest、BIG-bench等从多维、模板或变换构造挑战。更难不必然更公平，协议本身也须检验。</a:t>
            </a:r>
          </a:p>
          <a:p>
            <a:r>
              <a:t>来源：表8｜PDF p.26；6.2｜p.31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这里四项挑战互相连接：任务更复杂、环境更开放、输入更变化、模型持续更新，都会使固定题库不够。作者并未证明一个现成AGI基准，而是在提出未解决问题。</a:t>
            </a:r>
          </a:p>
          <a:p/>
          <a:p>
            <a:r>
              <a:t>AGI与开放行为：哪些任务能测通用智能仍未解决；需结合教育、心理、社会科学，使用开放环境中的LLM控制机器人和多模态行为测试补充标准考试。</a:t>
            </a:r>
          </a:p>
          <a:p>
            <a:r>
              <a:t>鲁棒性：同义但语法不同的提示可能改变结果，需要更丰富测试集、更有效难例生成和不断更新的伦理偏见要求。</a:t>
            </a:r>
          </a:p>
          <a:p>
            <a:r>
              <a:t>动态演进：静态公开基准可能被记忆，也难反映持续进步。动态测试应更新内容，但还要保证公平可比。</a:t>
            </a:r>
          </a:p>
          <a:p>
            <a:r>
              <a:t>来源：7.1–7.4｜PDF pp.31–32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第7.5是与我们关心的评测治理最接近的原文问题：评价系统自身是否可靠。这里仅介绍作者提出的挑战，不把后续研究计划说成本文已经完成的方法。</a:t>
            </a:r>
          </a:p>
          <a:p/>
          <a:p>
            <a:r>
              <a:t>可信评测：评测系统的完整性也要被检查；例如动态测试是否真正产生分布外样本，需要测量理论和概率支撑。</a:t>
            </a:r>
          </a:p>
          <a:p>
            <a:r>
              <a:t>统一支撑：评价体系应支持对齐、安全、验证、微调与跨学科任务。PandaLM被用作评价与优化的例子。</a:t>
            </a:r>
          </a:p>
          <a:p>
            <a:r>
              <a:t>超越打分：良好评价应提供失败分析、可视化与改进建议。PromptBench的注意力和词频分析帮助理解脆弱提示。</a:t>
            </a:r>
          </a:p>
          <a:p>
            <a:r>
              <a:t>来源：7.5–7.7｜PDF pp.32–33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最后把贡献和边界讲清楚。作者的目标是建立评测地图，让研究者理解可靠条件和失败模式。不是把模型宣布为全面智能，也不是给一个永久安全名单。</a:t>
            </a:r>
          </a:p>
          <a:p/>
          <a:p>
            <a:r>
              <a:t>本文已经完成：以what、where、how梳理任务、46个基准、自动和人工方法；综合已有文献的成功、失败和七项挑战。</a:t>
            </a:r>
          </a:p>
          <a:p>
            <a:r>
              <a:t>本文没有完成：没有统一复测所有模型；没有证明一个最优基准；没有把上述总结转化为通用、长期有效的安全排名。</a:t>
            </a:r>
          </a:p>
          <a:p>
            <a:r>
              <a:t>汇报讨论：读完本文应能回答：测量对象是什么、数据是否匹配、评分是否可信。进一步研究可从原文第7.3–7.5的开放问题展开。</a:t>
            </a:r>
          </a:p>
          <a:p>
            <a:r>
              <a:t>来源：第8节与免责声明｜PDF p.33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这一页作为图表清点与答疑索引。需要回看某个原表时可以按编号定位。所有图表均来自提供的PDF；正文中文说明为汇报翻译和解读，不改变原始表中的数据或勾号。</a:t>
            </a:r>
          </a:p>
          <a:p/>
          <a:p>
            <a:r>
              <a:t>三幅图：图1：论文结构（PDF p.3）；图2：评测论文趋势（p.5）；图3：任务—数据—过程（p.6）。全部保留原图并解释。</a:t>
            </a:r>
          </a:p>
          <a:p>
            <a:r>
              <a:t>表1—表6：模型背景比较（p.6）、NLP（p.8）、安全可信（p.13）、科学工程（p.16）、医疗（p.18）、其他应用（p.20）。</a:t>
            </a:r>
          </a:p>
          <a:p>
            <a:r>
              <a:t>表7—表10：46个基准（p.22）、新协议（p.26）、自动指标（p.27）、人工因素（p.29）。长表保留所有行，放大页便于讲解。</a:t>
            </a:r>
          </a:p>
          <a:p>
            <a:r>
              <a:t>来源：完整核验范围｜PDF pp.1–45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C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38912"/>
            <a:ext cx="2651760" cy="347472"/>
          </a:xfrm>
          <a:prstGeom prst="roundRect">
            <a:avLst>
              <a:gd name="adj" fmla="val 7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24231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论文精读 · 六部分完整讲解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92708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3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大语言模型评测：任务、基准与方法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31136"/>
            <a:ext cx="1092708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300" b="1">
                <a:solidFill>
                  <a:srgbClr val="D1E8E6"/>
                </a:solidFill>
                <a:latin typeface="Noto Sans CJK SC"/>
                <a:ea typeface="Noto Sans CJK SC"/>
                <a:cs typeface="Noto Sans CJK SC"/>
              </a:rPr>
              <a:t>A Survey on Evaluation of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889504"/>
            <a:ext cx="1092708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3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评什么 / 在哪里评 / 怎么评：从能力测量到可信评测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" y="3877056"/>
            <a:ext cx="3630168" cy="2084831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4050791"/>
            <a:ext cx="3200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论文信息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553712"/>
            <a:ext cx="3200400" cy="12070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Yupeng Chang、Xu Wang等16位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作者；正式期刊为ACM Transactio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ns on Intelligent Systems and Te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chnology（2024），DOI：10.11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45/3641289。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3877056"/>
            <a:ext cx="3630168" cy="2084831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1144" y="4050791"/>
            <a:ext cx="3200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讲解底本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4553712"/>
            <a:ext cx="3200400" cy="12070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内容以用户提供的arXiv:2307.031</a:t>
            </a:r>
            <a:br/>
            <a:r>
              <a:rPr sz="16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09v9（2023-12-29）为准；覆盖</a:t>
            </a:r>
            <a:br/>
            <a:r>
              <a:rPr sz="16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原文3幅图、10张表，密集图表附</a:t>
            </a:r>
            <a:br/>
            <a:r>
              <a:rPr sz="16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放大讲解。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02167" y="3877056"/>
            <a:ext cx="3630168" cy="2084831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4050791"/>
            <a:ext cx="3200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核心主张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4553712"/>
            <a:ext cx="3200400" cy="12070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评测应是一门支撑模型发展的独</a:t>
            </a:r>
            <a:br/>
            <a:r>
              <a:rPr sz="16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立学科。既要识别任务能力，也</a:t>
            </a:r>
            <a:br/>
            <a:r>
              <a:rPr sz="16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要揭示安全风险、失败条件和改</a:t>
            </a:r>
            <a:br/>
            <a:r>
              <a:rPr sz="16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进方向。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245352"/>
            <a:ext cx="107899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200" b="0">
                <a:solidFill>
                  <a:srgbClr val="D1E8E6"/>
                </a:solidFill>
                <a:latin typeface="Noto Sans CJK SC"/>
                <a:ea typeface="Noto Sans CJK SC"/>
                <a:cs typeface="Noto Sans CJK SC"/>
              </a:rPr>
              <a:t>底本：arXiv 2307.03109v9 · 45页 · 原文图1–3、表1–10全覆盖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37960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 / 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六部分结构：从评测问题走到研究挑战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以what / where / how贯穿全文，而不是把研究文献简单堆叠。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原文章节1–8；汇报重组为六部分｜图表为原文；中文为汇报解读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56816"/>
            <a:ext cx="960120" cy="1307592"/>
          </a:xfrm>
          <a:prstGeom prst="roundRect">
            <a:avLst>
              <a:gd name="adj" fmla="val 7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350008"/>
            <a:ext cx="685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72768" y="1956816"/>
            <a:ext cx="10149840" cy="130759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73936" y="2075688"/>
            <a:ext cx="97657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01—02｜背景与测量对象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2478024"/>
            <a:ext cx="9729215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第一部分：研究背景、贡献与三维框架。第二部分：自然语言处理、推理、生成、多语</a:t>
            </a:r>
            <a:br/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言、事实性与安全。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" y="3447288"/>
            <a:ext cx="960120" cy="1307592"/>
          </a:xfrm>
          <a:prstGeom prst="roundRect">
            <a:avLst>
              <a:gd name="adj" fmla="val 7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840480"/>
            <a:ext cx="685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72768" y="3447288"/>
            <a:ext cx="10149840" cy="130759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73936" y="3566160"/>
            <a:ext cx="97657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03—04｜应用与基准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3968496"/>
            <a:ext cx="9729215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第三部分：社会科学、自然科学、工程、医疗、Agent与其他应用。第四部分：通用、下</a:t>
            </a:r>
            <a:br/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游和多模态基准。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" y="4937760"/>
            <a:ext cx="960120" cy="1307592"/>
          </a:xfrm>
          <a:prstGeom prst="roundRect">
            <a:avLst>
              <a:gd name="adj" fmla="val 7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330952"/>
            <a:ext cx="685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72768" y="4937760"/>
            <a:ext cx="10149840" cy="130759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73936" y="5056632"/>
            <a:ext cx="97657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05—06｜方法与总结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5458968"/>
            <a:ext cx="9729215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第五部分：自动指标与人类评价。第六部分：成功失败、协议演进、七项挑战与作者结</a:t>
            </a:r>
            <a:br/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图2：评测研究增长，是本文的背景而非性能证据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作者观察到2023年评测文献快速增加，但测量体系仍缺少整体梳理。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图2｜PDF p.5；引言pp.2–4｜图表为原文；中文为汇报解读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56816"/>
            <a:ext cx="6931152" cy="43708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原文图表_fig2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45" y="2066543"/>
            <a:ext cx="5878285" cy="41148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552944" y="1956816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2075688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图怎么读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2478024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3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横轴含2020—2022年度与2023年月度节点；纵</a:t>
            </a:r>
            <a:br/>
            <a:r>
              <a:rPr sz="13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轴为论文数。上半年末端节点明显增加，末端标</a:t>
            </a:r>
            <a:br/>
            <a:r>
              <a:rPr sz="13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2023.06+、图注包含7月，并非全年趋势。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52944" y="3438144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54112" y="3557016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它支持什么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63256" y="3959352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LLM发展促使研究者从推理、鲁棒性、可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信性、医疗等不同角度评测；跨任务与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跨协议的综述因而有必要。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52944" y="4919472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54112" y="5038344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不能怎么解释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256" y="5440680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年度与月度时间粒度混排，不应计算等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间隔增长率；这不是模型准确率曲线，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也不能据此判断哪个模型领先。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论文贡献：给评测建立一个可检索的坐标系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本文的原创价值是组织和综合证据，而不是重新训练或统一复测模型。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引言｜PDF p.4；总结pp.30–33｜图表为原文；中文为汇报解读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/ 50</a:t>
            </a:r>
          </a:p>
        </p:txBody>
      </p:sp>
      <p:sp>
        <p:nvSpPr>
          <p:cNvPr id="21" name="Chevron 20"/>
          <p:cNvSpPr/>
          <p:nvPr/>
        </p:nvSpPr>
        <p:spPr>
          <a:xfrm>
            <a:off x="438912" y="1993392"/>
            <a:ext cx="3648456" cy="685800"/>
          </a:xfrm>
          <a:prstGeom prst="chevron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1854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三维结构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2843784"/>
            <a:ext cx="3648456" cy="2606040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0837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2962656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解释与证据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3364991"/>
            <a:ext cx="3227832" cy="1956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以what to evaluate、wher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e to evaluate、how to eva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luate整理LLM评测。任务决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定对象，基准提供载体，协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议决定测量过程。</a:t>
            </a:r>
          </a:p>
        </p:txBody>
      </p:sp>
      <p:sp>
        <p:nvSpPr>
          <p:cNvPr id="27" name="Chevron 26"/>
          <p:cNvSpPr/>
          <p:nvPr/>
        </p:nvSpPr>
        <p:spPr>
          <a:xfrm>
            <a:off x="4261104" y="1993392"/>
            <a:ext cx="3648456" cy="685800"/>
          </a:xfrm>
          <a:prstGeom prst="chevron">
            <a:avLst/>
          </a:prstGeom>
          <a:solidFill>
            <a:srgbClr val="13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21854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证据综合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61104" y="2843784"/>
            <a:ext cx="3648456" cy="2606040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2" y="300837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5192" y="2962656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解释与证据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1416" y="3364991"/>
            <a:ext cx="3227832" cy="1956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汇总多个领域的评测研究，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归纳任务依赖的成功与失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败；第4节整理46个基准，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第5节总结自动与人工评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价。</a:t>
            </a:r>
          </a:p>
        </p:txBody>
      </p:sp>
      <p:sp>
        <p:nvSpPr>
          <p:cNvPr id="33" name="Chevron 32"/>
          <p:cNvSpPr/>
          <p:nvPr/>
        </p:nvSpPr>
        <p:spPr>
          <a:xfrm>
            <a:off x="8083296" y="1993392"/>
            <a:ext cx="3648456" cy="685800"/>
          </a:xfrm>
          <a:prstGeom prst="chevron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4464" y="21854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面向未来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83296" y="2843784"/>
            <a:ext cx="3648456" cy="2606040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84464" y="300837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7384" y="2962656"/>
            <a:ext cx="276148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解释与证据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3608" y="3364991"/>
            <a:ext cx="3227832" cy="1956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讨论更完整的行为评测、鲁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棒性、动态测试与评测可信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性，并强调打分之后应进一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步诊断与增强模型。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8912" y="5577840"/>
            <a:ext cx="11292840" cy="749808"/>
          </a:xfrm>
          <a:prstGeom prst="roundRect">
            <a:avLst>
              <a:gd name="adj" fmla="val 7000"/>
            </a:avLst>
          </a:prstGeom>
          <a:solidFill>
            <a:srgbClr val="D1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705856"/>
            <a:ext cx="10890504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介绍贡献时要避免把综述当成全模型横向实验。作者没有把所有数据集统一跑一遍，而是梳理各原始论文的证据；因此后</a:t>
            </a:r>
            <a:br/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面的数值都需要带着任务、模型和数据集条件理解。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图1：全文结构总览，先看主干再看文献叶节点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这幅树状图把“任务—基准—方法—总结—挑战”连接为一个整体。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图1｜PDF p.3｜图表为原文；中文为汇报解读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56816"/>
            <a:ext cx="6931152" cy="43708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原文图表_fig1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690" y="2066543"/>
            <a:ext cx="3009595" cy="41148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552944" y="1956816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2075688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主干结构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2478024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what覆盖NLP、安全与可信性、社会科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学、科学工程、医疗、Agent和其他应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用；where与how分别整理基准和指标。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52944" y="3438144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54112" y="3557016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叶节点含义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63256" y="3959352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每个细分任务后面的姓名与引用编号是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该主题的代表研究索引。它们不是算法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步骤，也不是模型的性能排名。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52944" y="4919472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54112" y="5038344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后续阅读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256" y="5440680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原图完整保留在左侧；接下来分上下区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域放大，分别讲测量对象与测量载体、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方法和挑战。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图1放大①：what把能力与安全放在同一评测版图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自然语言任务是起点；可靠部署还要回答事实、偏见和鲁棒性问题。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图1上半区｜PDF p.3｜图表为原文；中文为汇报解读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56816"/>
            <a:ext cx="6931152" cy="43708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原文图表_fig1_upper" descr="fig1_up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66" y="2066543"/>
            <a:ext cx="6468443" cy="41148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552944" y="1956816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2075688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能力主线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2478024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理解、推理、生成、多语言、事实性形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成NLP板块。每一项又分为若干任务，避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免只用一个“语言能力”总分。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52944" y="3438144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54112" y="3557016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风险主线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63256" y="3959352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鲁棒性、伦理与偏见、可信性具有交叉关</a:t>
            </a:r>
            <a:br/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系。答对正常问题，不意味着对抗输入下</a:t>
            </a:r>
            <a:br/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仍正确；表达流畅也不保证事实准确。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52944" y="4919472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54112" y="5038344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跨域主线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256" y="5440680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社会科学、自然科学与工程继续展开。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它们说明模型能力必须放到具体任务、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领域知识和评测条件中判断。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图1放大②：where与how决定能力证据怎样产生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同样的模型，换任务、数据或评分程序，得到的结论可能不同。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图1下半区｜PDF p.3｜图表为原文；中文为汇报解读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07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56816"/>
            <a:ext cx="6931152" cy="43708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原文图表_fig1_lower" descr="fig1_l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911" y="2066543"/>
            <a:ext cx="5539153" cy="41148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552944" y="1956816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2075688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应用边界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2478024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医疗、Agent和其他应用把语言能力带入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行业使用；测试的对象从单句回答走向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工具调用与实际任务。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52944" y="3438144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54112" y="3557016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基准与方法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63256" y="3959352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通用、下游、多模态基准对应不同数据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载体；自动与人工评价对应不同判断方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式，两者均需要明确标准。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52944" y="4919472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54112" y="5038344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总结与挑战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256" y="5440680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图的末端是成功失败、协议演进和未来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挑战。作者希望评测能形成诊断与改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进，而非停留在排行榜。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LLM基础：预测下一个词元，不等于理解全部任务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Transformer、上下文学习与RLHF解释能力来源，但不能代替能力评测。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背景2.1｜PDF pp.4–5｜图表为原文；中文为汇报解读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08 / 50</a:t>
            </a:r>
          </a:p>
        </p:txBody>
      </p:sp>
      <p:sp>
        <p:nvSpPr>
          <p:cNvPr id="21" name="Chevron 20"/>
          <p:cNvSpPr/>
          <p:nvPr/>
        </p:nvSpPr>
        <p:spPr>
          <a:xfrm>
            <a:off x="438912" y="1993392"/>
            <a:ext cx="3648456" cy="685800"/>
          </a:xfrm>
          <a:prstGeom prst="chevron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1854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生成机制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2843784"/>
            <a:ext cx="3648456" cy="2606040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0837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2962656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解释与证据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3364991"/>
            <a:ext cx="3227832" cy="1956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自回归模型逐词元生成：P(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y|X) = ∏ P(y_t | X, y_1, …, 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y_(t−1))。序列概率由逐步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条件概率组成，不是一个安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全分数。</a:t>
            </a:r>
          </a:p>
        </p:txBody>
      </p:sp>
      <p:sp>
        <p:nvSpPr>
          <p:cNvPr id="27" name="Chevron 26"/>
          <p:cNvSpPr/>
          <p:nvPr/>
        </p:nvSpPr>
        <p:spPr>
          <a:xfrm>
            <a:off x="4261104" y="1993392"/>
            <a:ext cx="3648456" cy="685800"/>
          </a:xfrm>
          <a:prstGeom prst="chevron">
            <a:avLst/>
          </a:prstGeom>
          <a:solidFill>
            <a:srgbClr val="13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21854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使用机制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61104" y="2843784"/>
            <a:ext cx="3648456" cy="2606040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2" y="300837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5192" y="2962656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解释与证据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1416" y="3364991"/>
            <a:ext cx="3227832" cy="1956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提示工程决定输入任务；上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下文学习使模型利用示例与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语境；RLHF以人类反馈优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化输出，改变交互行为。</a:t>
            </a:r>
          </a:p>
        </p:txBody>
      </p:sp>
      <p:sp>
        <p:nvSpPr>
          <p:cNvPr id="33" name="Chevron 32"/>
          <p:cNvSpPr/>
          <p:nvPr/>
        </p:nvSpPr>
        <p:spPr>
          <a:xfrm>
            <a:off x="8083296" y="1993392"/>
            <a:ext cx="3648456" cy="685800"/>
          </a:xfrm>
          <a:prstGeom prst="chevron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4464" y="21854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评测含义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83296" y="2843784"/>
            <a:ext cx="3648456" cy="2606040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84464" y="300837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7384" y="2962656"/>
            <a:ext cx="276148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解释与证据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3608" y="3364991"/>
            <a:ext cx="3227832" cy="1956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提示、任务形式和生成条件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会影响输出。即使架构或参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数规模增加，也必须用具体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任务验证能力、风险与可靠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性。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8912" y="5577840"/>
            <a:ext cx="11292840" cy="749808"/>
          </a:xfrm>
          <a:prstGeom prst="roundRect">
            <a:avLst>
              <a:gd name="adj" fmla="val 7000"/>
            </a:avLst>
          </a:prstGeom>
          <a:solidFill>
            <a:srgbClr val="D1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705856"/>
            <a:ext cx="10890504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这里只补够理解评测所需的技术背景。公式强调模型按条件概率生成，不意味着它的置信度自动等于事实正确率。提示和</a:t>
            </a:r>
            <a:br/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反馈会改变表现，因此评测时必须注意交互方式。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表1：传统ML、深度学习与LLM的概括比较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规模和自动化能力提高，同时带来资源需求与可解释性的压力。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表1｜PDF p.6｜图表为原文；中文为汇报解读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09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47672"/>
            <a:ext cx="11292840" cy="25420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原文图表_table1" descr="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641" y="2039112"/>
            <a:ext cx="6251380" cy="2359151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38912" y="4645152"/>
            <a:ext cx="3648456" cy="1682495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64024"/>
            <a:ext cx="326440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行列怎么读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" y="5166360"/>
            <a:ext cx="3227832" cy="1033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列对应三类模型，行对应数据规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模、特征工程、复杂度、可解释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性、表现和硬件需求。逐行对比，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不要把行当成实验结果。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61104" y="4645152"/>
            <a:ext cx="3648456" cy="1682495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4764024"/>
            <a:ext cx="326440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主要变化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5166360"/>
            <a:ext cx="3227832" cy="1033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传统ML较依赖手工特征，深度学习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和LLM自动提取特征；LLM使用更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大数据、模型和硬件，解释模型行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为更加困难。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83296" y="4645152"/>
            <a:ext cx="3648456" cy="1682495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4" y="4764024"/>
            <a:ext cx="326440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证据边界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5166360"/>
            <a:ext cx="3227832" cy="1033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表中Highest等措辞是作者的概括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性描述，不是统一数据集上的严格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优胜证明；后面的跨任务评测正是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为了细化这种概括。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图3：模型→任务→数据→过程，三个问题缺一不可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what规定测量对象，where规定样本，how规定评价程序。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图3｜背景2.2｜PDF p.6｜图表为原文；中文为汇报解读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10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47672"/>
            <a:ext cx="11292840" cy="220768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原文图表_fig3" descr="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86" y="2039112"/>
            <a:ext cx="10919891" cy="2024803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38912" y="4310803"/>
            <a:ext cx="3648456" cy="2016844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429675"/>
            <a:ext cx="326440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任务｜What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" y="4832011"/>
            <a:ext cx="3227832" cy="13676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先明确要测什么，例如分类、生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成、推理或鲁棒性。能力标签过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宽，会导致结果难以解释。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61104" y="4310803"/>
            <a:ext cx="3648456" cy="2016844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4429675"/>
            <a:ext cx="326440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数据｜Where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4832011"/>
            <a:ext cx="3227832" cy="13676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用数据集和基准把任务转成可检验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样本。数据覆盖面、分布和时效会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影响结论能否外推。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83296" y="4310803"/>
            <a:ext cx="3648456" cy="2016844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4" y="4429675"/>
            <a:ext cx="326440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过程｜How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4832011"/>
            <a:ext cx="3227832" cy="13676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选择自动指标、人类评价和测试协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议。传统交叉验证、留出法等提供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背景，但LLM还需要新的评价设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计。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166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表2：NLP评测覆盖矩阵，不是能力排行榜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勾号表示引用研究覆盖某类任务；空白不等于模型失败。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表2｜PDF p.8；3.1｜pp.7–12｜图表为原文；中文为汇报解读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11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56816"/>
            <a:ext cx="6931152" cy="43708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原文图表_table2" descr="tabl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547" y="2066543"/>
            <a:ext cx="2773881" cy="41148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552944" y="1956816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2075688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列的含义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2478024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NLU分情感分析SA、分类TC、推断NLI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及其他；RNG是推理；NLG分摘要、对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话、翻译、问答及其他；Mul为多语言。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52944" y="3438144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54112" y="3557016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行的含义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63256" y="3959352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每行是一项文献，按第一作者排列。一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个研究可覆盖多个任务；多处勾号显示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任务的交叉性。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52944" y="4919472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54112" y="5038344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阅读方法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256" y="5440680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先看哪些研究覆盖目标任务，再回到原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文条件理解结果。事实性虽在3.1.5讨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论，但没有独立列出在表2。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166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表2放大①：理解、推理和生成的任务交叉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同一篇研究往往同时检查几个维度，而不是只测一种能力。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表2前段放大｜PDF p.8｜图表为原文；中文为汇报解读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12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56816"/>
            <a:ext cx="6931152" cy="43708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原文图表_table2_a" descr="table2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2559120"/>
            <a:ext cx="6693408" cy="3129647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552944" y="1956816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2075688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观察左侧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2478024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Abdelali与Ahuja侧重多语言，Bang覆盖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多类任务；这些行说明评测可能同时涉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及推理、摘要、翻译与问答。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52944" y="3438144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54112" y="3557016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观察中间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63256" y="3959352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NLU子列细分“理解”；RNG单列提示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推理不是情感判断；NLG下不同任务也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不能用一种质量标准。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52944" y="4919472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54112" y="5038344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应当记住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256" y="5440680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选择评测数据前先说清任务范围。一个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通用模型的优势可能集中于生成，而非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所有理解和推理任务。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166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表2放大②：不同生成任务使用不同评价证据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对话流畅、摘要忠实和问答正确，是三个不同问题。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表2中段放大｜PDF p.8｜图表为原文；中文为汇报解读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13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56816"/>
            <a:ext cx="6931152" cy="43708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原文图表_table2_b" descr="table2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2609598"/>
            <a:ext cx="6693408" cy="3028691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552944" y="1956816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2075688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生成维度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2478024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Summ、Dlg、Tran、QA分别对应摘要、</a:t>
            </a:r>
            <a:br/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对话、翻译和问答。一个模型在其中表现</a:t>
            </a:r>
            <a:br/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好，不保证在其余任务上同样可靠。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52944" y="3438144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54112" y="3557016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代表索引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63256" y="3959352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Liang覆盖多个任务，Honovich等研究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与摘要、对话及事实相关；各行可作为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继续查找原始评测的入口。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52944" y="4919472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54112" y="5038344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解释边界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256" y="5440680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表里没有模型版本、样本量或分数。这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些信息必须从正文和被引用的原始研究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中取得，不能从勾号推断。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166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表2放大③：语言与推理覆盖并不均衡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综述中的研究重点分布，不能代表所有语言和应用均已被充分测试。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表2后段放大｜PDF p.8｜图表为原文；中文为汇报解读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14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56816"/>
            <a:ext cx="6931152" cy="43708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原文图表_table2_c" descr="table2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2483402"/>
            <a:ext cx="6693408" cy="328108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552944" y="1956816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2075688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推理研究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2478024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多个Wu、Xu、Zhuang、Zhang等引用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集中于RNG列，说明推理是重要评测主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题，但任务复杂度仍各不相同。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52944" y="3438144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54112" y="3557016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多语言研究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63256" y="3959352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Mul列由部分研究覆盖。总体表现必须结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合语言脚本、训练资源和任务适配解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释。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52944" y="4919472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54112" y="5038344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避免误读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256" y="5440680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这是一张文献地图而不是总体统计抽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样。研究数量多的领域不必然更成熟，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也不代表该领域风险更高。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166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自然语言理解：情感与分类较强，语义边界仍有限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“能给文本贴标签”与“能理解复杂意义”不能画等号。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3.1.1｜PDF pp.7、9；引用[114][105][184][166][23]｜图表为原文；中文为汇报解读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15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75104"/>
            <a:ext cx="5541264" cy="258775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13969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093976"/>
            <a:ext cx="465429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情感与分类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496312"/>
            <a:ext cx="5120640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引用研究常报告较好的情感分析和分类表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现；Liang的特定分类评测中GLM-130B准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确率85.8%，不是全任务平均成绩。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975104"/>
            <a:ext cx="5541264" cy="258775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5" y="213969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5" y="2093976"/>
            <a:ext cx="465429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推断与语义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96312"/>
            <a:ext cx="5120640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NLI要求判断前提与假设关系；模型难以表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达人的意见分歧。事件语义相似性、无意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义短语识别等仍显示不足。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" y="4736592"/>
            <a:ext cx="11292840" cy="15910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01183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855464"/>
            <a:ext cx="1040587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任务适配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5257800"/>
            <a:ext cx="10872215" cy="941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Choi引用研究中微调BERT可超过更大零样本模型的社会知识表现。模型规模不能替代专门任务验</a:t>
            </a:r>
            <a:br/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证。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166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推理：算术与逻辑进步，不代表抽象推理全面可靠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必须区分数学、常识、符号、空间、多步和分布外推理。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3.1.2｜PDF pp.9–10；引用[159][124][227][56][47]｜图表为原文；中文为汇报解读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16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93392"/>
            <a:ext cx="3648456" cy="3483864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157984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112264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已有优势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514600"/>
            <a:ext cx="3227832" cy="2834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引用研究中ChatGPT的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算术相对GPT-3.5进步；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ChatGPT和GPT-4在部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分逻辑测试优于传统微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调方法。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61104" y="1993392"/>
            <a:ext cx="3648456" cy="3483864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2157984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5192" y="2112264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主要失败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2514600"/>
            <a:ext cx="3227832" cy="2834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符号、空间、多跳和复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杂抽象任务仍有困难；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反事实变化可能使模型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失去原有表现，说明泛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化与熟悉题目不同。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83296" y="1993392"/>
            <a:ext cx="3648456" cy="3483864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4" y="2157984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87384" y="2112264"/>
            <a:ext cx="276148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评价原则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2514600"/>
            <a:ext cx="3227832" cy="2834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逐步推理输出只是可观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察行为。应检查最终正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确性、题目变化和任务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条件，不能仅凭解释完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整认定推理可靠。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" y="5623560"/>
            <a:ext cx="11292840" cy="685800"/>
          </a:xfrm>
          <a:prstGeom prst="roundRect">
            <a:avLst>
              <a:gd name="adj" fmla="val 7000"/>
            </a:avLst>
          </a:prstGeom>
          <a:solidFill>
            <a:srgbClr val="D1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742432"/>
            <a:ext cx="10890504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讲推理时避免只看模型能否写出很长的步骤。作者列出了多种推理，说明每种都有不同难度。局部成功与抽象、多跳、分布外失败</a:t>
            </a:r>
            <a:br/>
            <a:r>
              <a:rPr sz="14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可以并存，这也是综合评测必要的原因。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166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自然语言生成：质量取决于任务，而非“写得像人”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摘要、对话、翻译、问答和风格迁移，需要分别定义成功。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3.1.3｜PDF pp.10–11；引用[114][6][130][159][158][20]｜图表为原文；中文为汇报解读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17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75104"/>
            <a:ext cx="5541264" cy="258775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13969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093976"/>
            <a:ext cx="465429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摘要与对话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496312"/>
            <a:ext cx="5120640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TNLG v2在某摘要评测领先，ChatGPT表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现一般；Claude和ChatGPT在部分对话中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强于GPT-3.5，但专门微调模型仍可领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先。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975104"/>
            <a:ext cx="5541264" cy="258775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5" y="213969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5" y="2093976"/>
            <a:ext cx="465429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翻译与问答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96312"/>
            <a:ext cx="5120640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人工评价中翻译可较强，但英译其他语言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和对比测试有不足；一般知识问答进步，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常识问答仍有缺口。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" y="4736592"/>
            <a:ext cx="11292840" cy="15910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01183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855464"/>
            <a:ext cx="1040587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写作与风格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5257800"/>
            <a:ext cx="10872215" cy="941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生成通常流畅，但正式程度控制、特殊写作和文本质量判断各有边界；读起来顺畅不等于忠实、正</a:t>
            </a:r>
            <a:br/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确或无偏。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166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多语言：英语优势不能直接外推到低资源语言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语言脚本、训练数据和文化背景都会改变评测结论。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3.1.4｜PDF pp.11–12；引用[1][2][6][100][250]｜图表为原文；中文为汇报解读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18 / 50</a:t>
            </a:r>
          </a:p>
        </p:txBody>
      </p:sp>
      <p:sp>
        <p:nvSpPr>
          <p:cNvPr id="21" name="Chevron 20"/>
          <p:cNvSpPr/>
          <p:nvPr/>
        </p:nvSpPr>
        <p:spPr>
          <a:xfrm>
            <a:off x="438912" y="1993392"/>
            <a:ext cx="3648456" cy="685800"/>
          </a:xfrm>
          <a:prstGeom prst="chevron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1854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主要观察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2843784"/>
            <a:ext cx="3648456" cy="2606040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0837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2962656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解释与证据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3364991"/>
            <a:ext cx="3227832" cy="1956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阿拉伯语零样本、非拉丁文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字和低资源语言任务表现不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足；模型对英语的适配通常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更充分。</a:t>
            </a:r>
          </a:p>
        </p:txBody>
      </p:sp>
      <p:sp>
        <p:nvSpPr>
          <p:cNvPr id="27" name="Chevron 26"/>
          <p:cNvSpPr/>
          <p:nvPr/>
        </p:nvSpPr>
        <p:spPr>
          <a:xfrm>
            <a:off x="4261104" y="1993392"/>
            <a:ext cx="3648456" cy="685800"/>
          </a:xfrm>
          <a:prstGeom prst="chevron">
            <a:avLst/>
          </a:prstGeom>
          <a:solidFill>
            <a:srgbClr val="13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21854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简单补救的限制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61104" y="2843784"/>
            <a:ext cx="3648456" cy="2606040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2" y="300837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5192" y="2962656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解释与证据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1416" y="3364991"/>
            <a:ext cx="3227832" cy="1956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先译成英语、使用英语提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示，也不能稳定追平专用S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OTA。翻译可能改变任务信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息，无法消除全部语言差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异。</a:t>
            </a:r>
          </a:p>
        </p:txBody>
      </p:sp>
      <p:sp>
        <p:nvSpPr>
          <p:cNvPr id="33" name="Chevron 32"/>
          <p:cNvSpPr/>
          <p:nvPr/>
        </p:nvSpPr>
        <p:spPr>
          <a:xfrm>
            <a:off x="8083296" y="1993392"/>
            <a:ext cx="3648456" cy="685800"/>
          </a:xfrm>
          <a:prstGeom prst="chevron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4464" y="21854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研究含义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83296" y="2843784"/>
            <a:ext cx="3648456" cy="2606040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84464" y="300837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7384" y="2962656"/>
            <a:ext cx="276148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解释与证据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3608" y="3364991"/>
            <a:ext cx="3227832" cy="1956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多语言评测应分别报告各语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言与任务，关注语言公平和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文化偏向；不能用英文榜单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代表中文或所有语言能力。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8912" y="5577840"/>
            <a:ext cx="11292840" cy="749808"/>
          </a:xfrm>
          <a:prstGeom prst="roundRect">
            <a:avLst>
              <a:gd name="adj" fmla="val 7000"/>
            </a:avLst>
          </a:prstGeom>
          <a:solidFill>
            <a:srgbClr val="D1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705856"/>
            <a:ext cx="10890504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用英语提问可能提高部分结果，但它不是普适解决方案。作者认为低资源和非拉丁语言需要单独评测，因此语言是测量条</a:t>
            </a:r>
            <a:br/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件，而不是一个可忽略的外观变化。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166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事实性：回答流畅与事实成立，是不同测量对象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真实性、摘要一致性和原子事实正确性，需要不同证据。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3.1.5｜PDF p.12；引用[204][74][138][156]｜图表为原文；中文为汇报解读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19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93392"/>
            <a:ext cx="3648456" cy="3483864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157984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112264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测什么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514600"/>
            <a:ext cx="3227832" cy="2834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问答检查与现实事实是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否一致，摘要检查是否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忠于原文；FactScore等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将回答拆成原子事实逐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项评价。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61104" y="1993392"/>
            <a:ext cx="3648456" cy="3483864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2157984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5192" y="2112264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引用发现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2514600"/>
            <a:ext cx="3227832" cy="2834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Wang等引用研究中GPT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-4和BingChat答对超过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80%的问题，但仍未达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到完全准确；该比例只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适用于其特定问答集。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83296" y="1993392"/>
            <a:ext cx="3648456" cy="3483864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4" y="2157984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87384" y="2112264"/>
            <a:ext cx="276148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尚存缺口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2514600"/>
            <a:ext cx="3227832" cy="2834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NLI、问答式评估、似然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与熵可互补，但缺少统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一比较框架；扩大模型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不一定提高真实性，估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计器本身也须检验。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" y="5623560"/>
            <a:ext cx="11292840" cy="685800"/>
          </a:xfrm>
          <a:prstGeom prst="roundRect">
            <a:avLst>
              <a:gd name="adj" fmla="val 7000"/>
            </a:avLst>
          </a:prstGeom>
          <a:solidFill>
            <a:srgbClr val="D1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742432"/>
            <a:ext cx="10890504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事实性可用“账单逐项核对”类比：一段回答里有多条可验证陈述，不能因为整体读起来合理就算正确。作者列出不同估计方法，</a:t>
            </a:r>
            <a:br/>
            <a:r>
              <a:rPr sz="14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但没有证明一种方法解决所有事实问题。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166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表3：把鲁棒性、伦理偏见与可信性分开读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这些风险彼此交叉，但正常准确率无法覆盖它们。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表3｜PDF p.13；3.2｜pp.13–15｜图表为原文；中文为汇报解读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20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56816"/>
            <a:ext cx="6931152" cy="43708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原文图表_table3" descr="tabl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295" y="2066543"/>
            <a:ext cx="4994385" cy="41148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552944" y="1956816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2075688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表怎么读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2478024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三列分别是Robustness、Ethics and bi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ases、Trustworthiness；每行仍是一项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引用研究，勾号不是安全分。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52944" y="3438144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54112" y="3557016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三种问题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63256" y="3959352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鲁棒性问扰动下是否稳定；伦理偏见问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是否产生不当差异或伤害；可信性还包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含隐私、公平、判断一致性与幻觉。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52944" y="4919472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54112" y="5038344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读表提醒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256" y="5440680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部分文献跨列；表中Liu[123]重复列示，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不能简单按行计独立研究数。更不应把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空白解释成“没有风险”。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166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鲁棒性：正常样本成功，遇到扰动仍可能失守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对抗输入、分布变化和视觉扰动，需要独立压力测试。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3.2.1｜PDF pp.13–14；引用[206][234][258][264]｜图表为原文；中文为汇报解读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21 / 50</a:t>
            </a:r>
          </a:p>
        </p:txBody>
      </p:sp>
      <p:sp>
        <p:nvSpPr>
          <p:cNvPr id="21" name="Chevron 20"/>
          <p:cNvSpPr/>
          <p:nvPr/>
        </p:nvSpPr>
        <p:spPr>
          <a:xfrm>
            <a:off x="438912" y="1993392"/>
            <a:ext cx="3648456" cy="685800"/>
          </a:xfrm>
          <a:prstGeom prst="chevron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1854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测试载体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2843784"/>
            <a:ext cx="3648456" cy="2606040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0837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2962656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解释与证据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3364991"/>
            <a:ext cx="3227832" cy="1956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AdvGLUE、ANLI、DDXPlu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s及扩展GLUE检查分布外或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对抗表现；不能只重复常规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测试。</a:t>
            </a:r>
          </a:p>
        </p:txBody>
      </p:sp>
      <p:sp>
        <p:nvSpPr>
          <p:cNvPr id="27" name="Chevron 26"/>
          <p:cNvSpPr/>
          <p:nvPr/>
        </p:nvSpPr>
        <p:spPr>
          <a:xfrm>
            <a:off x="4261104" y="1993392"/>
            <a:ext cx="3648456" cy="685800"/>
          </a:xfrm>
          <a:prstGeom prst="chevron">
            <a:avLst/>
          </a:prstGeom>
          <a:solidFill>
            <a:srgbClr val="13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21854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提示攻击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61104" y="2843784"/>
            <a:ext cx="3648456" cy="2606040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2" y="300837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5192" y="2962656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解释与证据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1416" y="3364991"/>
            <a:ext cx="3227832" cy="1956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PromptBench从字符、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词、句和语义层攻击提示，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说明改变任务表达就可能影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响结果；视觉攻击也可能迁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移。</a:t>
            </a:r>
          </a:p>
        </p:txBody>
      </p:sp>
      <p:sp>
        <p:nvSpPr>
          <p:cNvPr id="33" name="Chevron 32"/>
          <p:cNvSpPr/>
          <p:nvPr/>
        </p:nvSpPr>
        <p:spPr>
          <a:xfrm>
            <a:off x="8083296" y="1993392"/>
            <a:ext cx="3648456" cy="685800"/>
          </a:xfrm>
          <a:prstGeom prst="chevron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4464" y="21854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总结边界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83296" y="2843784"/>
            <a:ext cx="3648456" cy="2606040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84464" y="300837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7384" y="2962656"/>
            <a:ext cx="276148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解释与证据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3608" y="3364991"/>
            <a:ext cx="3227832" cy="1956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论文引用的证据指向脆弱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性，但攻击难度、预算和样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本条件各异。没有统一条件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时，ASR之间不可随意比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较。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8912" y="5577840"/>
            <a:ext cx="11292840" cy="749808"/>
          </a:xfrm>
          <a:prstGeom prst="roundRect">
            <a:avLst>
              <a:gd name="adj" fmla="val 7000"/>
            </a:avLst>
          </a:prstGeom>
          <a:solidFill>
            <a:srgbClr val="D1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705856"/>
            <a:ext cx="10890504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用“晴天行车与雨天测试”解释正常性能和鲁棒性：一个模型平时答得对，不代表遇到异常文本、陌生分布或视觉干扰仍</a:t>
            </a:r>
            <a:br/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可靠。评测需要覆盖这些压力条件。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166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伦理与可信性：对齐改善与攻击脆弱可能同时存在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更少毒性或更好标准分数，不意味着风险已被全部消除。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3.2.2–3.2.3｜PDF pp.14–15；引用[35][201][62][163][113]｜图表为原文；中文为汇报解读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22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75104"/>
            <a:ext cx="5541264" cy="258775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13969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093976"/>
            <a:ext cx="465429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伦理与偏见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496312"/>
            <a:ext cx="5120640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训练数据中的偏见可被继承和放大；角色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扮演研究中毒性最高增至六倍。政治、人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格和道德问卷仅反映特定测试。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975104"/>
            <a:ext cx="5541264" cy="258775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5" y="213969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5" y="2093976"/>
            <a:ext cx="465429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可信性多维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96312"/>
            <a:ext cx="5120640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DecodingTrust同时检查毒性、刻板印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象、鲁棒性、隐私、机器伦理和公平；各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维度不能被一个概念替代。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" y="4736592"/>
            <a:ext cx="11292840" cy="15910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01183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855464"/>
            <a:ext cx="1040587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条件性判断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5257800"/>
            <a:ext cx="10872215" cy="941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GPT-4在标准评测更可信，但在引用研究中也可能更易受攻击；初始正确判断会被质疑或误导，视</a:t>
            </a:r>
            <a:br/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觉幻觉同样存在。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527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跨领域应用：能力评测必须接到具体用途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社会科学的解释、工程执行和医疗判断，承担不同后果。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3.3–3.7｜PDF pp.15–22｜图表为原文；中文为汇报解读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23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56816"/>
            <a:ext cx="960120" cy="1307592"/>
          </a:xfrm>
          <a:prstGeom prst="roundRect">
            <a:avLst>
              <a:gd name="adj" fmla="val 7000"/>
            </a:avLst>
          </a:prstGeom>
          <a:solidFill>
            <a:srgbClr val="527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350008"/>
            <a:ext cx="685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72768" y="1956816"/>
            <a:ext cx="10149840" cy="130759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73936" y="2075688"/>
            <a:ext cx="97657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社会科学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2478024"/>
            <a:ext cx="9729215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立场、情感和错误信息分类较强；隐性仇恨等任务部分准确率低于40%。法律判决摘要仍</a:t>
            </a:r>
            <a:br/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有不连贯和幻觉，税法表现尚未达专家水平。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" y="3447288"/>
            <a:ext cx="960120" cy="1307592"/>
          </a:xfrm>
          <a:prstGeom prst="roundRect">
            <a:avLst>
              <a:gd name="adj" fmla="val 7000"/>
            </a:avLst>
          </a:prstGeom>
          <a:solidFill>
            <a:srgbClr val="527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840480"/>
            <a:ext cx="685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72768" y="3447288"/>
            <a:ext cx="10149840" cy="130759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73936" y="3566160"/>
            <a:ext cx="97657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自然与工程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3968496"/>
            <a:ext cx="9729215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数学、化学、代码和规划对知识与步骤有不同要求。能解释概念，不等于能完成高难证明</a:t>
            </a:r>
            <a:br/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或可靠工程执行。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" y="4937760"/>
            <a:ext cx="960120" cy="1307592"/>
          </a:xfrm>
          <a:prstGeom prst="roundRect">
            <a:avLst>
              <a:gd name="adj" fmla="val 7000"/>
            </a:avLst>
          </a:prstGeom>
          <a:solidFill>
            <a:srgbClr val="527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330952"/>
            <a:ext cx="685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72768" y="4937760"/>
            <a:ext cx="10149840" cy="130759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73936" y="5056632"/>
            <a:ext cx="97657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医疗与Agent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5458968"/>
            <a:ext cx="9729215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查询、考试、助手及工具调用分别具有不同成功标准；不能用一个问答表现推断临床或外</a:t>
            </a:r>
            <a:br/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部行动安全。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527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表4：自然科学与工程的三类研究覆盖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数学、一般科学和工程形成不同任务簇，勾号不代表成熟度。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表4｜PDF p.16；3.4｜pp.16–17｜图表为原文；中文为汇报解读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24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56816"/>
            <a:ext cx="6931152" cy="43708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原文图表_table4" descr="tabl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2370908"/>
            <a:ext cx="6693408" cy="350607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552944" y="1956816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2075688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表怎么读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2478024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三列对应Mathematics、General scienc</a:t>
            </a:r>
            <a:br/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e、Engineering。按引用研究定位领域，</a:t>
            </a:r>
            <a:br/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不能比较各领域模型“平均能力”。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52944" y="3438144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54112" y="3557016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数学证据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63256" y="3959352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基础加减较强，除法、幂、三角函数和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长表达式更难；引用研究中高认知层级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任务准确率明显下降。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52944" y="4919472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54112" y="5038344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不能外推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256" y="5440680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单套竞赛题或一类科学问答的成功，无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法证明科研能力。第3.4节明确区分数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学、一般科学和代码规划。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527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科学与工程：专门任务进步，但复杂执行仍不稳定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研究工具的可用性，应以任务检验，而不是以语言流畅性判断。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3.4.2–3.4.3｜PDF p.17；引用[18][61][125][181][150][194][195]｜图表为原文；中文为汇报解读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25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75104"/>
            <a:ext cx="5541264" cy="258775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13969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093976"/>
            <a:ext cx="465429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科学知识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496312"/>
            <a:ext cx="5120640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五项化学任务准确率介于25%—100%，范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围本身显示任务差异。物理与化学比较仅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来自有限研究。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975104"/>
            <a:ext cx="5541264" cy="258775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5" y="213969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5" y="2093976"/>
            <a:ext cx="465429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代码与软件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96312"/>
            <a:ext cx="5120640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代码生成和解释有竞争力，但数据结构、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树、图论较难；漏洞检测、测试优先级等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软件工程任务仍不可靠。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" y="4736592"/>
            <a:ext cx="11292840" cy="15910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01183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855464"/>
            <a:ext cx="1040587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规划与执行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5257800"/>
            <a:ext cx="10872215" cy="941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常识规划即使在简单任务上也可能失败，泛化能力有限；微调CodeT5在引用研究的规划领域表现最</a:t>
            </a:r>
            <a:br/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佳，不能只按模型代际推断。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527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表5：医疗查询、考试与助手，必须分开评价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会回答医学知识题，不代表能安全替代临床专家。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表5｜PDF p.18；3.5｜pp.18–19｜图表为原文；中文为汇报解读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26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56816"/>
            <a:ext cx="6931152" cy="43708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原文图表_table5" descr="tabl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2357207"/>
            <a:ext cx="6693408" cy="3533473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552944" y="1956816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2075688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行列含义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2478024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列序为Medical queries、Medical exam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ination、Medical assistants；标题列举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顺序不同，应以实际表头为准。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52944" y="3438144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54112" y="3557016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证据类型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63256" y="3959352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查询评测关注知识信息；考试评测关注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标准题正确性；助手评测还需面对患者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沟通、临床流程和引用可靠性。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52944" y="4919472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54112" y="5038344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关键边界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256" y="5440680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这些研究是在不同数据和使用方式下验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证潜力。不能把“接近USMLE及格线”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写成“具备自主临床能力”。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527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医疗应用：信息可用，但不确定性和误诊仍是边界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查询、解释与辅助的价值，需要和错误风险一起评价。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3.5.1–3.5.3｜PDF pp.18–19；引用[186][57][97][143][131]｜图表为原文；中文为汇报解读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27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93392"/>
            <a:ext cx="3648456" cy="3483864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157984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112264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查询与考试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514600"/>
            <a:ext cx="3227832" cy="2834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遗传学、放疗物理和生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物医学回答相对准确；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初级保健评测也有未及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格结果。USMLE表现支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持教育潜力，不等于临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床替代。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61104" y="1993392"/>
            <a:ext cx="3648456" cy="3483864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2157984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5192" y="2112264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医疗助手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2514600"/>
            <a:ext cx="3227832" cy="2834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报告通俗化和教育辅助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显示可行性；手术信息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引用研究中GPT-3.5/4准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确率46.8%/76.4%，仅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限该具体评测。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83296" y="1993392"/>
            <a:ext cx="3648456" cy="3483864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4" y="2157984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87384" y="2112264"/>
            <a:ext cx="276148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风险限制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2514600"/>
            <a:ext cx="3227832" cy="2834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引用不足、编造、回答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不确定性、误诊和患者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隐私仍限制使用。本文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没有开展新临床试验。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" y="5623560"/>
            <a:ext cx="11292840" cy="685800"/>
          </a:xfrm>
          <a:prstGeom prst="roundRect">
            <a:avLst>
              <a:gd name="adj" fmla="val 7000"/>
            </a:avLst>
          </a:prstGeom>
          <a:solidFill>
            <a:srgbClr val="D1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742432"/>
            <a:ext cx="10890504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讲这页时把潜力和边界放在同一条论证中。原文并不否认医疗辅助价值，而是提醒知识正确率不能覆盖误诊、隐私和临床后果。数</a:t>
            </a:r>
            <a:br/>
            <a:r>
              <a:rPr sz="14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值必须带上原始任务条件。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527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Agent应用：模型开始调用工具，评价对象也随之改变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外部API、模型协作与交互流程扩展能力，但也增加评价难度。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3.6｜PDF p.19；引用[160][161][90][172][152][174]｜图表为原文；中文为汇报解读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28 / 50</a:t>
            </a:r>
          </a:p>
        </p:txBody>
      </p:sp>
      <p:sp>
        <p:nvSpPr>
          <p:cNvPr id="21" name="Chevron 20"/>
          <p:cNvSpPr/>
          <p:nvPr/>
        </p:nvSpPr>
        <p:spPr>
          <a:xfrm>
            <a:off x="438912" y="1993392"/>
            <a:ext cx="3648456" cy="685800"/>
          </a:xfrm>
          <a:prstGeom prst="chevron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1854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代表路线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2843784"/>
            <a:ext cx="3648456" cy="2606040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0837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2962656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解释与证据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3364991"/>
            <a:ext cx="3227832" cy="1956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Toolformer学习API调用，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TALM通过迭代改进，MRKL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连接模块，HuggingGPT协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调其他模型；ToolLLM等服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务工具应用。</a:t>
            </a:r>
          </a:p>
        </p:txBody>
      </p:sp>
      <p:sp>
        <p:nvSpPr>
          <p:cNvPr id="27" name="Chevron 26"/>
          <p:cNvSpPr/>
          <p:nvPr/>
        </p:nvSpPr>
        <p:spPr>
          <a:xfrm>
            <a:off x="4261104" y="1993392"/>
            <a:ext cx="3648456" cy="685800"/>
          </a:xfrm>
          <a:prstGeom prst="chevron">
            <a:avLst/>
          </a:prstGeom>
          <a:solidFill>
            <a:srgbClr val="13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21854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从回答到行动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61104" y="2843784"/>
            <a:ext cx="3648456" cy="2606040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2" y="300837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5192" y="2962656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解释与证据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1416" y="3364991"/>
            <a:ext cx="3227832" cy="1956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评价不再只看最终文字，还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需要理解工具选择、调用时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机、交互及任务结果；这是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对原文系统路线的讲解。</a:t>
            </a:r>
          </a:p>
        </p:txBody>
      </p:sp>
      <p:sp>
        <p:nvSpPr>
          <p:cNvPr id="33" name="Chevron 32"/>
          <p:cNvSpPr/>
          <p:nvPr/>
        </p:nvSpPr>
        <p:spPr>
          <a:xfrm>
            <a:off x="8083296" y="1993392"/>
            <a:ext cx="3648456" cy="685800"/>
          </a:xfrm>
          <a:prstGeom prst="chevron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4464" y="21854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本文范围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83296" y="2843784"/>
            <a:ext cx="3648456" cy="2606040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84464" y="300837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7384" y="2962656"/>
            <a:ext cx="276148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解释与证据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3608" y="3364991"/>
            <a:ext cx="3227832" cy="1956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该节主要介绍代表框架与能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力扩展，没有统一Agent排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行榜，也没有证明各系统能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完成所有复杂任务。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8912" y="5577840"/>
            <a:ext cx="11292840" cy="749808"/>
          </a:xfrm>
          <a:prstGeom prst="roundRect">
            <a:avLst>
              <a:gd name="adj" fmla="val 7000"/>
            </a:avLst>
          </a:prstGeom>
          <a:solidFill>
            <a:srgbClr val="D1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705856"/>
            <a:ext cx="10890504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可以把Agent类比为“从答题学生变成要操作设备的助理”。调用工具以后，仅看最终回答就可能漏掉过程错误。不过本</a:t>
            </a:r>
            <a:br/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文这一节主要是路线介绍，不是统一Agent评测实验。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527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表6：其他应用包括教育、推荐、人格与特定任务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应用覆盖越广，越需要明确评价目标和失败后果。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表6｜PDF p.20；3.7｜pp.19–22｜图表为原文；中文为汇报解读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29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56816"/>
            <a:ext cx="6931152" cy="43708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原文图表_table6" descr="tabl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48" y="2066543"/>
            <a:ext cx="6638878" cy="41148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552944" y="1956816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2075688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表怎么读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2478024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四列分别为Education、Search and reco</a:t>
            </a:r>
            <a:br/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mmendation、Personality testing、Spe</a:t>
            </a:r>
            <a:br/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cific applications；勾号仅标文献归属。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52944" y="3438144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54112" y="3557016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典型用途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63256" y="3959352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教育关注反馈与考试；搜索推荐关注检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索与个性化；人格测试关注回答一致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性、情绪与心理测量。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52944" y="4919472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54112" y="5038344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其他应用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256" y="5440680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游戏设计、日志解析、模型性能评估等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也被纳入。表只是整理研究，未提供跨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应用统一比较分数。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527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其他应用的启示：看见效果，也要审查测量过程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教育反馈、推荐效率和心理测量都存在可信边界。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3.7｜PDF pp.20–22；引用[248][232][246][180][212][101][103]｜图表为原文；中文为汇报解读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30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75104"/>
            <a:ext cx="5541264" cy="258775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13969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093976"/>
            <a:ext cx="465429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教育测量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496312"/>
            <a:ext cx="5120640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模型可辅助反馈与问题解释。本文指出某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MIT考试引用研究把正确答案放入提示，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导致结果不公平，说明要审查协议。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975104"/>
            <a:ext cx="5541264" cy="258775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5" y="213969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5" y="2093976"/>
            <a:ext cx="465429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检索与推荐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96312"/>
            <a:ext cx="5120640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部分实验中ChatGPT组用时更少，推荐可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辅助冷启动与解释；不公平推荐仍要求单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独检验。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" y="4736592"/>
            <a:ext cx="11292840" cy="15910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01183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855464"/>
            <a:ext cx="1040587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人格与特定任务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5257800"/>
            <a:ext cx="10872215" cy="941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人格回答存在偏差和一致性问题；模型得分像人类，不代表具有相同心理机制。游戏与日志任务也</a:t>
            </a:r>
            <a:br/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需专门标准。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775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表7：46个基准构成测量载体，而非单一总榜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先确定任务焦点和标准，再选择合适基准。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表7｜PDF p.22；第4节pp.23–26｜图表为原文；中文为汇报解读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31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56816"/>
            <a:ext cx="6931152" cy="43708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原文图表_table7" descr="tabl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770" y="2066543"/>
            <a:ext cx="3953435" cy="41148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552944" y="1956816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2075688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四列读法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2478024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Benchmark是名称，Focus是测量焦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点，Domain是领域类型，Evaluation Cr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iteria是评价标准；表中没有模型得分。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52944" y="3438144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54112" y="3557016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三类组织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63256" y="3959352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第4节按通用语言任务、特定下游任务和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多模态任务归纳。不同基准可以重叠，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也可能测同一能力的不同侧面。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52944" y="4919472"/>
            <a:ext cx="4178808" cy="13624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54112" y="5038344"/>
            <a:ext cx="3794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读表目的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256" y="5440680"/>
            <a:ext cx="3758184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完整原表先展示，随后分三段放大。重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点比较“同一模型在何种测量对象和标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准下被观察”，不是记住所有名称。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775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表7放大①：知识、交互、伦理和代码各有基准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通用能力不是一项单独任务，评价标准也不统一。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表7前段放大｜PDF p.22｜图表为原文；中文为汇报解读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32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47672"/>
            <a:ext cx="11292840" cy="25420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原文图表_table7_a" descr="table7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951" y="2039112"/>
            <a:ext cx="6640761" cy="2359151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38912" y="4645152"/>
            <a:ext cx="3648456" cy="1682495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64024"/>
            <a:ext cx="326440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知识与推理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" y="5166360"/>
            <a:ext cx="3227832" cy="1033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MMLU测多任务知识，MATH测数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学，APPS测代码；CUAD关注合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同，SOCKET关注社会知识。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61104" y="4645152"/>
            <a:ext cx="3648456" cy="1682495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4764024"/>
            <a:ext cx="326440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交互与榜单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5166360"/>
            <a:ext cx="3227832" cy="1033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Chatbot Arena强调用户投票，Op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enLLM提供公开比较，DynaBench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关注动态评价；这些载体产生不同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证据。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83296" y="4645152"/>
            <a:ext cx="3648456" cy="1682495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4" y="4764024"/>
            <a:ext cx="326440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安全与中文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5166360"/>
            <a:ext cx="3227832" cy="1033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TRUSTGPT覆盖毒性、偏见与对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齐，C-Eval关注中文考试。它们各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有对象，不是同一个安全维度。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775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表7放大②：工具、幻觉与领域知识进入基准体系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真实应用开始要求检索、调用、规划与责任方面的验证。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表7中段放大｜PDF p.22｜图表为原文；中文为汇报解读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33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47672"/>
            <a:ext cx="11292840" cy="25420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原文图表_table7_b" descr="table7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514" y="2039112"/>
            <a:ext cx="7029635" cy="2359151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38912" y="4645152"/>
            <a:ext cx="3648456" cy="1682495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64024"/>
            <a:ext cx="326440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综合与多模态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" y="5166360"/>
            <a:ext cx="3227832" cy="1033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HELM多维评测，MMBench和SEE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D-Bench面向多模态；不同综合体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系仍保留各自标准。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61104" y="4645152"/>
            <a:ext cx="3648456" cy="1682495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4764024"/>
            <a:ext cx="326440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工具与动态知识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5166360"/>
            <a:ext cx="3227832" cy="1033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API-Bank评价API调用、检索、规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划，ToolBench关注工具执行，Fr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eshQA关注动态知识；最终答案之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外还要看过程。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83296" y="4645152"/>
            <a:ext cx="3648456" cy="1682495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4" y="4764024"/>
            <a:ext cx="326440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风险与领域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5166360"/>
            <a:ext cx="3227832" cy="1033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UHGEval关注中文幻觉，CVALUES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关注安全责任，MultiMedQA与CM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B关注医疗。任务适配是选择基准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的前提。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775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表7放大③：OOD、提示鲁棒性与自动裁判并列存在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基准既评价模型，也可能作为评价其他模型的工具。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表7后段放大｜PDF p.22｜图表为原文；中文为汇报解读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34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47672"/>
            <a:ext cx="11292840" cy="25420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原文图表_table7_c" descr="table7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498" y="2039112"/>
            <a:ext cx="6829667" cy="2359151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38912" y="4645152"/>
            <a:ext cx="3648456" cy="1682495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64024"/>
            <a:ext cx="326440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鲁棒性载体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" y="5166360"/>
            <a:ext cx="3227832" cy="1033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BOSS、GLUE-X关注分布外表现，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PromptBench关注提示攻击；测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试条件不同于普通知识题。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61104" y="4645152"/>
            <a:ext cx="3648456" cy="1682495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4764024"/>
            <a:ext cx="326440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语言与对话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5166360"/>
            <a:ext cx="3227832" cy="1033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KoLA关注知识，AGIEval以人类考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试为中心，MT-Bench关注多轮对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话，GAOKAO-Bench与M3KE提供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中文场景。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83296" y="4645152"/>
            <a:ext cx="3648456" cy="1682495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4" y="4764024"/>
            <a:ext cx="326440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裁判类基准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5166360"/>
            <a:ext cx="3227832" cy="1033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PandaLM和LLMEval等使用模型评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价输出。自动裁判是评价程序的一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部分，需要区分模型能力与裁判能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力。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775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通用与下游基准：先匹配问题，再谈横向比较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综合测试、标准考试与实际交互提供互补证据。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4.1–4.2｜PDF pp.23–26｜图表为原文；中文为汇报解读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35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75104"/>
            <a:ext cx="5541264" cy="258775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13969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093976"/>
            <a:ext cx="465429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通用任务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496312"/>
            <a:ext cx="5120640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HELM覆盖多维，BIG-bench含204项挑战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任务；Chatbot Arena与MT-Bench强调交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互，MMLU与AGIEval强调知识考试。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975104"/>
            <a:ext cx="5541264" cy="258775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5" y="213969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5" y="2093976"/>
            <a:ext cx="465429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下游任务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96312"/>
            <a:ext cx="5120640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医疗、合同、数学、代码、安全、社会知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识、复杂指令分别使用专门基准；不能用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考试总分代表全部部署能力。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" y="4736592"/>
            <a:ext cx="11292840" cy="15910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01183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855464"/>
            <a:ext cx="1040587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工具测试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5257800"/>
            <a:ext cx="10872215" cy="941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API-Bank含53种API、264段标注对话、568次调用；它提供检索和规划测试，但并不覆盖全部外部</a:t>
            </a:r>
            <a:br/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环境。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775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多模态基准：感知、认知与跨模态交互需要专测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视觉问答、图像视频和点云等任务不能只用文本评价替代。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4.3｜PDF p.26；3.2.1｜p.13｜图表为原文；中文为汇报解读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36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93392"/>
            <a:ext cx="3648456" cy="3483864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157984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112264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感知与认知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514600"/>
            <a:ext cx="3227832" cy="2834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MME兼顾感知、认知；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MMBench采用Circular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Eval，试图更系统测试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多模态能力；具体协议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各有特点。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61104" y="1993392"/>
            <a:ext cx="3648456" cy="3483864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2157984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5192" y="2112264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覆盖规模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2514600"/>
            <a:ext cx="3227832" cy="2834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SEED-Bench含约19,00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0道人工标注选择题，覆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盖12类评价方面；LAM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M进一步扩展至点云等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形式。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83296" y="1993392"/>
            <a:ext cx="3648456" cy="3483864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4" y="2157984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87384" y="2112264"/>
            <a:ext cx="276148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解释限制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2514600"/>
            <a:ext cx="3227832" cy="2834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数据量大不代表所有部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署环境均被覆盖。模型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对视觉扰动的脆弱性与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语言正确率需要分别评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价。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" y="5623560"/>
            <a:ext cx="11292840" cy="685800"/>
          </a:xfrm>
          <a:prstGeom prst="roundRect">
            <a:avLst>
              <a:gd name="adj" fmla="val 7000"/>
            </a:avLst>
          </a:prstGeom>
          <a:solidFill>
            <a:srgbClr val="D1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742432"/>
            <a:ext cx="10890504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多模态基准让模型从文本题走向视觉与其他输入。讲到题目数量时要避免把规模当作充分性，覆盖方面和真实任务匹配仍是关键。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946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表9：自动评价不只是准确率，还包括可信与稳定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四组指标回答“答得对、知道不确定、对群体公平、受扰动稳定”。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表9｜PDF p.27；5.1｜pp.26–28｜图表为原文；中文为汇报解读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37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47672"/>
            <a:ext cx="11292840" cy="25420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原文图表_table9" descr="tabl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27" y="2039112"/>
            <a:ext cx="10638609" cy="2359151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38912" y="4645152"/>
            <a:ext cx="3648456" cy="1682495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64024"/>
            <a:ext cx="326440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准确与校准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" y="5166360"/>
            <a:ext cx="3227832" cy="1033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EM、近似EM、F1、ROUGE衡量任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务输出；ECE与选择性准确率—覆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盖率AUC关注置信度是否可靠。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61104" y="4645152"/>
            <a:ext cx="3648456" cy="1682495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4764024"/>
            <a:ext cx="326440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公平与鲁棒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5166360"/>
            <a:ext cx="3227832" cy="1033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DPD、EOD关注群体预测差异；AS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R、PDR衡量攻击成功或相对性能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下降，两组不能与准确率互换。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83296" y="4645152"/>
            <a:ext cx="3648456" cy="1682495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4" y="4764024"/>
            <a:ext cx="326440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指标选择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5166360"/>
            <a:ext cx="3227832" cy="1033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每个指标都有对象与条件。本文把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能够自动计算的标准归入自动评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价，包括部分语言模型裁判方案。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946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准确性指标：严格匹配、分类平衡与文本重叠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不同任务的“正确”，不能全部交给同一种指标。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5.1 Accuracy｜PDF p.27；本页含指标含义解释｜图表为原文；中文为汇报解读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38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75104"/>
            <a:ext cx="5541264" cy="258775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13969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093976"/>
            <a:ext cx="465429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EM与近似匹配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496312"/>
            <a:ext cx="5120640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Exact Match要求输出与参考答案完全相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同；近似匹配放宽形式差异。开放回答可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能存在同义正确答案，严格EM会过于苛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刻。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975104"/>
            <a:ext cx="5541264" cy="258775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5" y="213969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5" y="2093976"/>
            <a:ext cx="465429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F1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96312"/>
            <a:ext cx="5120640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F1=2×Precision×Recall/(Precision+Re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call)。它平衡精确率和召回率；仍须说明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是在分类、词项还是具体任务上计算。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" y="4736592"/>
            <a:ext cx="11292840" cy="15910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01183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855464"/>
            <a:ext cx="1040587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ROUGE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5257800"/>
            <a:ext cx="10872215" cy="941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ROUGE评估与参考文本的重叠，常用于摘要。高重叠可以提供质量线索，但不能独立证明全部事实</a:t>
            </a:r>
            <a:br/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正确或安全。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946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校准性：自信程度应该与真实正确率相匹配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模型知道自己可能出错，与模型通常答得对是不同能力。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5.1 Calibrations｜PDF p.27；示例为汇报辅助解释｜图表为原文；中文为汇报解读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39 / 50</a:t>
            </a:r>
          </a:p>
        </p:txBody>
      </p:sp>
      <p:sp>
        <p:nvSpPr>
          <p:cNvPr id="21" name="Chevron 20"/>
          <p:cNvSpPr/>
          <p:nvPr/>
        </p:nvSpPr>
        <p:spPr>
          <a:xfrm>
            <a:off x="438912" y="1993392"/>
            <a:ext cx="3648456" cy="685800"/>
          </a:xfrm>
          <a:prstGeom prst="chevron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1854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ECE的含义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2843784"/>
            <a:ext cx="3648456" cy="2606040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0837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2962656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解释与证据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3364991"/>
            <a:ext cx="3227832" cy="1956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按置信度分组，比较每组平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均置信度与实际正确率；常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用ECE把各组差异加权汇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总。越小通常表示校准越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好。</a:t>
            </a:r>
          </a:p>
        </p:txBody>
      </p:sp>
      <p:sp>
        <p:nvSpPr>
          <p:cNvPr id="27" name="Chevron 26"/>
          <p:cNvSpPr/>
          <p:nvPr/>
        </p:nvSpPr>
        <p:spPr>
          <a:xfrm>
            <a:off x="4261104" y="1993392"/>
            <a:ext cx="3648456" cy="685800"/>
          </a:xfrm>
          <a:prstGeom prst="chevron">
            <a:avLst/>
          </a:prstGeom>
          <a:solidFill>
            <a:srgbClr val="13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21854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选择性评价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61104" y="2843784"/>
            <a:ext cx="3648456" cy="2606040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2" y="300837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5192" y="2962656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解释与证据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1416" y="3364991"/>
            <a:ext cx="3227832" cy="1956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允许只回答较有把握的样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本，观察准确率与覆盖率的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取舍。本文的AUC指该曲线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面积，不是ROC-AUC。</a:t>
            </a:r>
          </a:p>
        </p:txBody>
      </p:sp>
      <p:sp>
        <p:nvSpPr>
          <p:cNvPr id="33" name="Chevron 32"/>
          <p:cNvSpPr/>
          <p:nvPr/>
        </p:nvSpPr>
        <p:spPr>
          <a:xfrm>
            <a:off x="8083296" y="1993392"/>
            <a:ext cx="3648456" cy="685800"/>
          </a:xfrm>
          <a:prstGeom prst="chevron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4464" y="21854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实际解读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83296" y="2843784"/>
            <a:ext cx="3648456" cy="2606040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84464" y="300837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7384" y="2962656"/>
            <a:ext cx="276148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解释与证据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3608" y="3364991"/>
            <a:ext cx="3227832" cy="1956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若自信90%的回答仅约60%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正确，则存在过度自信；这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是讲解示例，不是本文实验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结果。安全场景不能忽略这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种误差。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8912" y="5577840"/>
            <a:ext cx="11292840" cy="749808"/>
          </a:xfrm>
          <a:prstGeom prst="roundRect">
            <a:avLst>
              <a:gd name="adj" fmla="val 7000"/>
            </a:avLst>
          </a:prstGeom>
          <a:solidFill>
            <a:srgbClr val="D1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705856"/>
            <a:ext cx="10890504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用“有九成把握的判断能否大约九成正确”解释校准。模型任务准确率和置信度可信性需要分别看。答得少但更准，也可</a:t>
            </a:r>
            <a:br/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能是一种选择性策略，因此要同时看覆盖率。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946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公平性：群体预测比例相同，不等于错误率相同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DPD与EOD对应不同公平定义，不能混成一个公平分数。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5.1 Fairness｜PDF pp.27–28；汇报概念性解释｜图表为原文；中文为汇报解读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40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75104"/>
            <a:ext cx="5541264" cy="258775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13969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093976"/>
            <a:ext cx="465429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DPD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496312"/>
            <a:ext cx="5120640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人口统计均等差异比较不同群体获得正类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预测的概率。它检查输出分配比例，但不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直接控制真实标签。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975104"/>
            <a:ext cx="5541264" cy="258775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5" y="213969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5" y="2093976"/>
            <a:ext cx="465429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EOD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96312"/>
            <a:ext cx="5120640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均等赔率差异（Equalized Odds Differen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ce）比较不同群体的真阳性率与假阳性率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差异；不同于仅要求真阳性率相等的均等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机会。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" y="4736592"/>
            <a:ext cx="11292840" cy="15910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01183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855464"/>
            <a:ext cx="1040587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解释边界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5257800"/>
            <a:ext cx="10872215" cy="941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公平标准可能不同，真实群体分布与任务也重要。没有说明群体和标签口径时，单独数值不能判断</a:t>
            </a:r>
            <a:br/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系统是否公平。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946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鲁棒性指标：ASR看攻击转错，PDR看性能降幅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攻击成功率与相对下降需要明确分母、攻击条件和原始表现。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5.1 Robustness｜PDF p.28｜图表为原文；中文为汇报解读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41 / 50</a:t>
            </a:r>
          </a:p>
        </p:txBody>
      </p:sp>
      <p:sp>
        <p:nvSpPr>
          <p:cNvPr id="21" name="Chevron 20"/>
          <p:cNvSpPr/>
          <p:nvPr/>
        </p:nvSpPr>
        <p:spPr>
          <a:xfrm>
            <a:off x="438912" y="1993392"/>
            <a:ext cx="3648456" cy="685800"/>
          </a:xfrm>
          <a:prstGeom prst="chevron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1854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ASR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2843784"/>
            <a:ext cx="3648456" cy="2606040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0837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2962656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解释与证据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3364991"/>
            <a:ext cx="3227832" cy="1956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原文公式在原先预测正确的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样本上统计攻击后变错的比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例。它是条件成功率，不能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不说明分母就比较不同实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验。</a:t>
            </a:r>
          </a:p>
        </p:txBody>
      </p:sp>
      <p:sp>
        <p:nvSpPr>
          <p:cNvPr id="27" name="Chevron 26"/>
          <p:cNvSpPr/>
          <p:nvPr/>
        </p:nvSpPr>
        <p:spPr>
          <a:xfrm>
            <a:off x="4261104" y="1993392"/>
            <a:ext cx="3648456" cy="685800"/>
          </a:xfrm>
          <a:prstGeom prst="chevron">
            <a:avLst/>
          </a:prstGeom>
          <a:solidFill>
            <a:srgbClr val="13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21854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PDR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61104" y="2843784"/>
            <a:ext cx="3648456" cy="2606040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2" y="300837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5192" y="2962656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解释与证据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1416" y="3364991"/>
            <a:ext cx="3227832" cy="1956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PDR=1−攻击后任务表现/原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始任务表现。它度量相对退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化；若原始分数很低，相对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量也可能不稳定。</a:t>
            </a:r>
          </a:p>
        </p:txBody>
      </p:sp>
      <p:sp>
        <p:nvSpPr>
          <p:cNvPr id="33" name="Chevron 32"/>
          <p:cNvSpPr/>
          <p:nvPr/>
        </p:nvSpPr>
        <p:spPr>
          <a:xfrm>
            <a:off x="8083296" y="1993392"/>
            <a:ext cx="3648456" cy="685800"/>
          </a:xfrm>
          <a:prstGeom prst="chevron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4464" y="21854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使用条件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83296" y="2843784"/>
            <a:ext cx="3648456" cy="2606040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84464" y="300837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7384" y="2962656"/>
            <a:ext cx="276148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解释与证据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3608" y="3364991"/>
            <a:ext cx="3227832" cy="1956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同时报告原始性能、扰动策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略和测试集。高普通准确率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不保证低攻击成功率，风险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比较应保留完整条件。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8912" y="5577840"/>
            <a:ext cx="11292840" cy="749808"/>
          </a:xfrm>
          <a:prstGeom prst="roundRect">
            <a:avLst>
              <a:gd name="adj" fmla="val 7000"/>
            </a:avLst>
          </a:prstGeom>
          <a:solidFill>
            <a:srgbClr val="D1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705856"/>
            <a:ext cx="10890504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这页是自动指标里最容易混口径的部分。ASR分母并非随意选全部样本，PDR也不是绝对百分点下降。汇报时先说明定</a:t>
            </a:r>
            <a:br/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义，再解释攻击使模型在什么条件下变差。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946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表10：人工评价的可信度取决于评审设计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有人评分，并不自动意味着评价更准确或更公平。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表10｜PDF p.29；5.2｜pp.28–29｜图表为原文；中文为汇报解读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42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47672"/>
            <a:ext cx="11292840" cy="240818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原文图表_table10" descr="tabl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979" y="2039112"/>
            <a:ext cx="10928705" cy="222530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38912" y="4511302"/>
            <a:ext cx="3648456" cy="1816345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630174"/>
            <a:ext cx="326440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评价人数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" y="5032510"/>
            <a:ext cx="3227832" cy="116712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需兼顾样本代表性和统计意义。人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数不足或来源偏窄，可能让结果只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反映少数人的判断。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61104" y="4511302"/>
            <a:ext cx="3648456" cy="1816345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4630174"/>
            <a:ext cx="326440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评分规则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5032510"/>
            <a:ext cx="3227832" cy="116712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准确、相关、流畅、透明、安全、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人类对齐形成评价量表；每个维度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需要明确解释与评分标准。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83296" y="4511302"/>
            <a:ext cx="3648456" cy="1816345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4" y="4630174"/>
            <a:ext cx="326440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评价者能力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5032510"/>
            <a:ext cx="3227832" cy="116712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领域知识、任务熟悉度与方法训练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决定质量。专业问题不宜只凭普通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用户印象评价。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946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人类评价的六个维度：好看、正确与安全并不相同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量表应把内容质量、交互质量和风险判断分别表达。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5.2六项评价标准｜PDF p.29｜图表为原文；中文为汇报解读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43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93392"/>
            <a:ext cx="3648456" cy="3483864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157984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112264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内容质量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514600"/>
            <a:ext cx="3227832" cy="2834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准确性关注事实，相关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性关注是否回答问题，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流畅性关注表达是否顺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畅；三个维度可能互相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分离。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61104" y="1993392"/>
            <a:ext cx="3648456" cy="3483864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2157984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5192" y="2112264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透明与安全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2514600"/>
            <a:ext cx="3227832" cy="2834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透明性在文中指回应与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决策说明清晰，不等于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获得真实内部机制。安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全性关注不当、冒犯或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有害输出。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83296" y="1993392"/>
            <a:ext cx="3648456" cy="3483864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4" y="2157984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87384" y="2112264"/>
            <a:ext cx="276148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人类对齐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2514600"/>
            <a:ext cx="3227832" cy="2834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考察人类价值、偏好与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社会规范。文化和个体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差异会引入评分变动，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需要结合实际使用情</a:t>
            </a:r>
            <a:br/>
            <a:r>
              <a:rPr sz="23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境。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" y="5623560"/>
            <a:ext cx="11292840" cy="685800"/>
          </a:xfrm>
          <a:prstGeom prst="roundRect">
            <a:avLst>
              <a:gd name="adj" fmla="val 7000"/>
            </a:avLst>
          </a:prstGeom>
          <a:solidFill>
            <a:srgbClr val="D1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742432"/>
            <a:ext cx="10890504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流畅性往往最容易被观察，但安全和事实需要额外核验。尤其不要把模型给出的漂亮解释称为内部机制透明。作者的人工量表关注</a:t>
            </a:r>
            <a:br/>
            <a:r>
              <a:rPr sz="14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可观察回应和使用者判断。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946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自动与人工结合：按任务互补，不设唯一赢家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规模化测试与开放性判断有不同成本、优势和误差。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5.1–5.2｜PDF pp.26–29；第6节p.30｜图表为原文；中文为汇报解读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44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75104"/>
            <a:ext cx="5541264" cy="258775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13969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093976"/>
            <a:ext cx="465429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自动评价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496312"/>
            <a:ext cx="5120640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便于重复、大样本和统一计算；参考答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案、指标与模型裁判仍可能遗漏开放生成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的质量差异。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975104"/>
            <a:ext cx="5541264" cy="258775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5" y="213969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5" y="2093976"/>
            <a:ext cx="465429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人工评价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96312"/>
            <a:ext cx="5120640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更贴近开放回答和真实场景，但成本、文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化差异、个体波动和专业性会影响一致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性。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" y="4736592"/>
            <a:ext cx="11292840" cy="15910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01183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855464"/>
            <a:ext cx="1040587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组合原则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5257800"/>
            <a:ext cx="10872215" cy="941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按任务选择指标与人工核验，在相同条件下解释结果。本文并未证明某一种方法或基准普遍最好。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AA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成功与失败：结论依赖数据集，不是永久能力判决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本文的总结来自已有研究；模型和服务版本更新后需要重新验证。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6.1｜PDF pp.30–31；免责声明p.33｜图表为原文；中文为汇报解读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45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75104"/>
            <a:ext cx="5541264" cy="258775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13969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093976"/>
            <a:ext cx="465429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相对优势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496312"/>
            <a:ext cx="5120640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流畅生成、情感分类、部分算术逻辑、上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下文回应、翻译与问答表现较好。这些成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功都带有任务条件。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975104"/>
            <a:ext cx="5541264" cy="258775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5" y="213969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5" y="2093976"/>
            <a:ext cx="465429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主要失败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96312"/>
            <a:ext cx="5120640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复杂抽象、事件语义、低资源语言、视觉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扰动、毒性偏见、幻觉、实时知识与对抗</a:t>
            </a:r>
            <a:br/>
            <a:r>
              <a:rPr sz="21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提示仍显示不足。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" y="4736592"/>
            <a:ext cx="11292840" cy="159105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01183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855464"/>
            <a:ext cx="1040587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正确表达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5257800"/>
            <a:ext cx="10872215" cy="9418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应说“某研究在某测试下发现”，不要说“本文原创实验证明”。作者在免责声明中也强调版本变</a:t>
            </a:r>
            <a:br/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化和证据边界。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AA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表8：协议演进走向人在回路、众包与挑战测试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测试应该帮助发现失败模式，而不仅计算固定题库分数。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表8｜PDF p.26；6.2｜p.31｜图表为原文；中文为汇报解读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46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47672"/>
            <a:ext cx="11292840" cy="231944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原文图表_table8" descr="tabl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28" y="2039112"/>
            <a:ext cx="10925006" cy="2136561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38912" y="4422561"/>
            <a:ext cx="3648456" cy="190508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541433"/>
            <a:ext cx="326440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人在回路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" y="4943769"/>
            <a:ext cx="3227832" cy="1255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AdaVision、AdaTest允许人类标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注、筛选和组织测试，帮助定位一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致的失败模式。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61104" y="4422561"/>
            <a:ext cx="3648456" cy="190508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4541433"/>
            <a:ext cx="326440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众包与动态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4943769"/>
            <a:ext cx="3227832" cy="1255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DynaBench、DynaBoard、Dyna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Task及DynamicTempLAMA引入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难例和时间更新，使测试不完全固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定。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83296" y="4422561"/>
            <a:ext cx="3648456" cy="1905086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4" y="4541433"/>
            <a:ext cx="326440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挑战测试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4943769"/>
            <a:ext cx="3227832" cy="1255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HELM、CheckList、DeepTest、B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IG-bench等从多维、模板或变换构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造挑战。更难不必然更公平，协议</a:t>
            </a:r>
            <a:br/>
            <a:r>
              <a:rPr sz="16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本身也须检验。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AA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未来挑战①：AGI、完整行为、鲁棒与动态评测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作者要求评测跟随模型能力和应用环境共同演进。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7.1–7.4｜PDF pp.31–32｜图表为原文；中文为汇报解读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47 / 50</a:t>
            </a:r>
          </a:p>
        </p:txBody>
      </p:sp>
      <p:sp>
        <p:nvSpPr>
          <p:cNvPr id="21" name="Chevron 20"/>
          <p:cNvSpPr/>
          <p:nvPr/>
        </p:nvSpPr>
        <p:spPr>
          <a:xfrm>
            <a:off x="438912" y="1993392"/>
            <a:ext cx="3648456" cy="685800"/>
          </a:xfrm>
          <a:prstGeom prst="chevron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1854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AGI与开放行为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2843784"/>
            <a:ext cx="3648456" cy="2606040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0837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2962656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解释与证据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3364991"/>
            <a:ext cx="3227832" cy="1956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哪些任务能测通用智能仍未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解决；需结合教育、心理、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社会科学，使用开放环境中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的LLM控制机器人和多模态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行为测试补充标准考试。</a:t>
            </a:r>
          </a:p>
        </p:txBody>
      </p:sp>
      <p:sp>
        <p:nvSpPr>
          <p:cNvPr id="27" name="Chevron 26"/>
          <p:cNvSpPr/>
          <p:nvPr/>
        </p:nvSpPr>
        <p:spPr>
          <a:xfrm>
            <a:off x="4261104" y="1993392"/>
            <a:ext cx="3648456" cy="685800"/>
          </a:xfrm>
          <a:prstGeom prst="chevron">
            <a:avLst/>
          </a:prstGeom>
          <a:solidFill>
            <a:srgbClr val="13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21854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鲁棒性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61104" y="2843784"/>
            <a:ext cx="3648456" cy="2606040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2" y="300837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5192" y="2962656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解释与证据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1416" y="3364991"/>
            <a:ext cx="3227832" cy="1956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同义但语法不同的提示可能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改变结果，需要更丰富测试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集、更有效难例生成和不断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更新的伦理偏见要求。</a:t>
            </a:r>
          </a:p>
        </p:txBody>
      </p:sp>
      <p:sp>
        <p:nvSpPr>
          <p:cNvPr id="33" name="Chevron 32"/>
          <p:cNvSpPr/>
          <p:nvPr/>
        </p:nvSpPr>
        <p:spPr>
          <a:xfrm>
            <a:off x="8083296" y="1993392"/>
            <a:ext cx="3648456" cy="685800"/>
          </a:xfrm>
          <a:prstGeom prst="chevron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4464" y="21854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动态演进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83296" y="2843784"/>
            <a:ext cx="3648456" cy="2606040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84464" y="300837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7384" y="2962656"/>
            <a:ext cx="276148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解释与证据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3608" y="3364991"/>
            <a:ext cx="3227832" cy="1956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静态公开基准可能被记忆，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也难反映持续进步。动态测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试应更新内容，但还要保证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公平可比。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8912" y="5577840"/>
            <a:ext cx="11292840" cy="749808"/>
          </a:xfrm>
          <a:prstGeom prst="roundRect">
            <a:avLst>
              <a:gd name="adj" fmla="val 7000"/>
            </a:avLst>
          </a:prstGeom>
          <a:solidFill>
            <a:srgbClr val="D1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705856"/>
            <a:ext cx="10890504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这里四项挑战互相连接：任务更复杂、环境更开放、输入更变化、模型持续更新，都会使固定题库不够。作者并未证明一</a:t>
            </a:r>
            <a:br/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个现成AGI基准，而是在提出未解决问题。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AA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未来挑战②：评价系统本身也必须可信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从“测模型”进一步走向“测量工具的检验与改进闭环”。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7.5–7.7｜PDF pp.32–33｜图表为原文；中文为汇报解读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48 / 50</a:t>
            </a:r>
          </a:p>
        </p:txBody>
      </p:sp>
      <p:sp>
        <p:nvSpPr>
          <p:cNvPr id="21" name="Chevron 20"/>
          <p:cNvSpPr/>
          <p:nvPr/>
        </p:nvSpPr>
        <p:spPr>
          <a:xfrm>
            <a:off x="438912" y="1993392"/>
            <a:ext cx="3648456" cy="685800"/>
          </a:xfrm>
          <a:prstGeom prst="chevron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1854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可信评测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2843784"/>
            <a:ext cx="3648456" cy="2606040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0837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2962656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解释与证据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3364991"/>
            <a:ext cx="3227832" cy="1956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评测系统的完整性也要被检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查；例如动态测试是否真正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产生分布外样本，需要测量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理论和概率支撑。</a:t>
            </a:r>
          </a:p>
        </p:txBody>
      </p:sp>
      <p:sp>
        <p:nvSpPr>
          <p:cNvPr id="27" name="Chevron 26"/>
          <p:cNvSpPr/>
          <p:nvPr/>
        </p:nvSpPr>
        <p:spPr>
          <a:xfrm>
            <a:off x="4261104" y="1993392"/>
            <a:ext cx="3648456" cy="685800"/>
          </a:xfrm>
          <a:prstGeom prst="chevron">
            <a:avLst/>
          </a:prstGeom>
          <a:solidFill>
            <a:srgbClr val="13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21854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统一支撑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61104" y="2843784"/>
            <a:ext cx="3648456" cy="2606040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2" y="300837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5192" y="2962656"/>
            <a:ext cx="276148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解释与证据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1416" y="3364991"/>
            <a:ext cx="3227832" cy="1956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评价体系应支持对齐、安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全、验证、微调与跨学科任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务。PandaLM被用作评价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与优化的例子。</a:t>
            </a:r>
          </a:p>
        </p:txBody>
      </p:sp>
      <p:sp>
        <p:nvSpPr>
          <p:cNvPr id="33" name="Chevron 32"/>
          <p:cNvSpPr/>
          <p:nvPr/>
        </p:nvSpPr>
        <p:spPr>
          <a:xfrm>
            <a:off x="8083296" y="1993392"/>
            <a:ext cx="3648456" cy="685800"/>
          </a:xfrm>
          <a:prstGeom prst="chevron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4464" y="21854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超越打分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83296" y="2843784"/>
            <a:ext cx="3648456" cy="2606040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84464" y="3008376"/>
            <a:ext cx="4297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7384" y="2962656"/>
            <a:ext cx="276148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解释与证据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3608" y="3364991"/>
            <a:ext cx="3227832" cy="1956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良好评价应提供失败分析、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可视化与改进建议。Promp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tBench的注意力和词频分析</a:t>
            </a:r>
            <a:br/>
            <a:r>
              <a:rPr sz="20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帮助理解脆弱提示。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8912" y="5577840"/>
            <a:ext cx="11292840" cy="749808"/>
          </a:xfrm>
          <a:prstGeom prst="roundRect">
            <a:avLst>
              <a:gd name="adj" fmla="val 7000"/>
            </a:avLst>
          </a:prstGeom>
          <a:solidFill>
            <a:srgbClr val="D1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705856"/>
            <a:ext cx="10890504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第7.5是与我们关心的评测治理最接近的原文问题：评价系统自身是否可靠。这里仅介绍作者提出的挑战，不把后续研究计</a:t>
            </a:r>
            <a:br/>
            <a:r>
              <a:rPr sz="155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划说成本文已经完成的方法。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AA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全文结论：评价是认识能力边界与推动改进的起点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任务、基准、方法共同决定评测证据，不能用一张总榜代替全部判断。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第8节与免责声明｜PDF p.33｜图表为原文；中文为汇报解读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49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56816"/>
            <a:ext cx="960120" cy="1307592"/>
          </a:xfrm>
          <a:prstGeom prst="roundRect">
            <a:avLst>
              <a:gd name="adj" fmla="val 7000"/>
            </a:avLst>
          </a:prstGeom>
          <a:solidFill>
            <a:srgbClr val="AA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350008"/>
            <a:ext cx="685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72768" y="1956816"/>
            <a:ext cx="10149840" cy="130759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73936" y="2075688"/>
            <a:ext cx="97657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本文已经完成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2478024"/>
            <a:ext cx="9729215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以what、where、how梳理任务、46个基准、自动和人工方法；综合已有文献的成功、</a:t>
            </a:r>
            <a:br/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失败和七项挑战。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" y="3447288"/>
            <a:ext cx="960120" cy="1307592"/>
          </a:xfrm>
          <a:prstGeom prst="roundRect">
            <a:avLst>
              <a:gd name="adj" fmla="val 7000"/>
            </a:avLst>
          </a:prstGeom>
          <a:solidFill>
            <a:srgbClr val="AA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840480"/>
            <a:ext cx="685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72768" y="3447288"/>
            <a:ext cx="10149840" cy="130759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73936" y="3566160"/>
            <a:ext cx="97657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本文没有完成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3968496"/>
            <a:ext cx="9729215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没有统一复测所有模型；没有证明一个最优基准；没有把上述总结转化为通用、长期有效</a:t>
            </a:r>
            <a:br/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的安全排名。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" y="4937760"/>
            <a:ext cx="960120" cy="1307592"/>
          </a:xfrm>
          <a:prstGeom prst="roundRect">
            <a:avLst>
              <a:gd name="adj" fmla="val 7000"/>
            </a:avLst>
          </a:prstGeom>
          <a:solidFill>
            <a:srgbClr val="AA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330952"/>
            <a:ext cx="685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72768" y="4937760"/>
            <a:ext cx="10149840" cy="130759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73936" y="5056632"/>
            <a:ext cx="97657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汇报讨论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5458968"/>
            <a:ext cx="9729215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读完本文应能回答：测量对象是什么、数据是否匹配、评分是否可信。进一步研究可从原</a:t>
            </a:r>
            <a:br/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文第7.3–7.5的开放问题展开。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13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01 研究背景与三维框架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4288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02 评什么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3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03 评什么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04 在哪里评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05 怎么评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338328"/>
            <a:ext cx="1828800" cy="283464"/>
          </a:xfrm>
          <a:prstGeom prst="roundRect">
            <a:avLst>
              <a:gd name="adj" fmla="val 7000"/>
            </a:avLst>
          </a:prstGeom>
          <a:solidFill>
            <a:srgbClr val="AA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36118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06 综合结论与未来挑战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786384"/>
            <a:ext cx="112928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7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图表完整性索引：3幅图、10张表全部进入汇报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1399032"/>
            <a:ext cx="11292840" cy="429768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499616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45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原始编号保留；图1、表2、表7同时提供完整原图和局部放大。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92240"/>
            <a:ext cx="11292840" cy="9144"/>
          </a:xfrm>
          <a:prstGeom prst="rect">
            <a:avLst/>
          </a:prstGeom>
          <a:solidFill>
            <a:srgbClr val="D4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6583680"/>
            <a:ext cx="1051560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85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完整核验范围｜PDF pp.1–45｜图表为原文；中文为汇报解读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  <a:spcAft>
                <a:spcPts val="0"/>
              </a:spcAft>
            </a:pPr>
            <a:r>
              <a:rPr sz="1000" b="0">
                <a:solidFill>
                  <a:srgbClr val="536674"/>
                </a:solidFill>
                <a:latin typeface="Noto Sans CJK SC"/>
                <a:ea typeface="Noto Sans CJK SC"/>
                <a:cs typeface="Noto Sans CJK SC"/>
              </a:rPr>
              <a:t>50 / 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1956816"/>
            <a:ext cx="960120" cy="1307592"/>
          </a:xfrm>
          <a:prstGeom prst="roundRect">
            <a:avLst>
              <a:gd name="adj" fmla="val 7000"/>
            </a:avLst>
          </a:prstGeom>
          <a:solidFill>
            <a:srgbClr val="AA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350008"/>
            <a:ext cx="685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72768" y="1956816"/>
            <a:ext cx="10149840" cy="130759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73936" y="2075688"/>
            <a:ext cx="97657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三幅图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2478024"/>
            <a:ext cx="9729215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图1：论文结构（PDF p.3）；图2：评测论文趋势（p.5）；图3：任务—数据—过程（p.</a:t>
            </a:r>
            <a:br/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6）。全部保留原图并解释。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" y="3447288"/>
            <a:ext cx="960120" cy="1307592"/>
          </a:xfrm>
          <a:prstGeom prst="roundRect">
            <a:avLst>
              <a:gd name="adj" fmla="val 7000"/>
            </a:avLst>
          </a:prstGeom>
          <a:solidFill>
            <a:srgbClr val="AA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840480"/>
            <a:ext cx="685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72768" y="3447288"/>
            <a:ext cx="10149840" cy="130759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73936" y="3566160"/>
            <a:ext cx="97657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表1—表6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3968496"/>
            <a:ext cx="9729215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模型背景比较（p.6）、NLP（p.8）、安全可信（p.13）、科学工程（p.16）、医疗（p.</a:t>
            </a:r>
            <a:br/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18）、其他应用（p.20）。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" y="4937760"/>
            <a:ext cx="960120" cy="1307592"/>
          </a:xfrm>
          <a:prstGeom prst="roundRect">
            <a:avLst>
              <a:gd name="adj" fmla="val 7000"/>
            </a:avLst>
          </a:prstGeom>
          <a:solidFill>
            <a:srgbClr val="AA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330952"/>
            <a:ext cx="685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72768" y="4937760"/>
            <a:ext cx="10149840" cy="1307592"/>
          </a:xfrm>
          <a:prstGeom prst="roundRect">
            <a:avLst>
              <a:gd name="adj" fmla="val 7000"/>
            </a:avLst>
          </a:prstGeom>
          <a:solidFill>
            <a:srgbClr val="EAF3F4"/>
          </a:solidFill>
          <a:ln w="8890">
            <a:solidFill>
              <a:srgbClr val="D4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73936" y="5056632"/>
            <a:ext cx="97657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800" b="1">
                <a:solidFill>
                  <a:srgbClr val="132C3C"/>
                </a:solidFill>
                <a:latin typeface="Noto Sans CJK SC"/>
                <a:ea typeface="Noto Sans CJK SC"/>
                <a:cs typeface="Noto Sans CJK SC"/>
              </a:rPr>
              <a:t>表7—表10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5458968"/>
            <a:ext cx="9729215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46个基准（p.22）、新协议（p.26）、自动指标（p.27）、人工因素（p.29）。长表保留</a:t>
            </a:r>
            <a:br/>
            <a:r>
              <a:rPr sz="1900" b="0">
                <a:solidFill>
                  <a:srgbClr val="203747"/>
                </a:solidFill>
                <a:latin typeface="Noto Sans CJK SC"/>
                <a:ea typeface="Noto Sans CJK SC"/>
                <a:cs typeface="Noto Sans CJK SC"/>
              </a:rPr>
              <a:t>所有行，放大页便于讲解。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