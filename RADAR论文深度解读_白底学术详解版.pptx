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2331720" cy="34747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2148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MIS QUARTERLY · 学术详解版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52120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667512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用深度强化学习构建</a:t>
            </a:r>
          </a:p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对抗鲁棒的网络防御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86384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逐章解读：研究缺口 → r-VAC → RL-RO → 三组实验 → 治理边界</a:t>
            </a:r>
          </a:p>
        </p:txBody>
      </p:sp>
      <p:sp>
        <p:nvSpPr>
          <p:cNvPr id="8" name="Oval 7"/>
          <p:cNvSpPr/>
          <p:nvPr/>
        </p:nvSpPr>
        <p:spPr>
          <a:xfrm>
            <a:off x="7936992" y="1417320"/>
            <a:ext cx="3474720" cy="347472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39912" y="1920239"/>
            <a:ext cx="2468880" cy="2468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42832" y="2423160"/>
            <a:ext cx="1463040" cy="146304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61904" y="2011680"/>
            <a:ext cx="164592" cy="164592"/>
          </a:xfrm>
          <a:prstGeom prst="ellipse">
            <a:avLst/>
          </a:prstGeom>
          <a:solidFill>
            <a:srgbClr val="C95324"/>
          </a:solidFill>
          <a:ln w="762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80576" y="2743200"/>
            <a:ext cx="164592" cy="164592"/>
          </a:xfrm>
          <a:prstGeom prst="ellipse">
            <a:avLst/>
          </a:prstGeom>
          <a:solidFill>
            <a:srgbClr val="2457A6"/>
          </a:solidFill>
          <a:ln w="762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3977639"/>
            <a:ext cx="164592" cy="164592"/>
          </a:xfrm>
          <a:prstGeom prst="ellipse">
            <a:avLst/>
          </a:prstGeom>
          <a:solidFill>
            <a:srgbClr val="087F73"/>
          </a:solidFill>
          <a:ln w="762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9674352" y="2093976"/>
            <a:ext cx="1069848" cy="105156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262872" y="2825496"/>
            <a:ext cx="411480" cy="32004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74352" y="3145536"/>
            <a:ext cx="649224" cy="914400"/>
          </a:xfrm>
          <a:prstGeom prst="line">
            <a:avLst/>
          </a:prstGeom>
          <a:ln w="1270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157216"/>
            <a:ext cx="60350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Ebrahimi · Chai · Li · Pacheco · 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6035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MIS Quarterly 49(4), 1385–1416 · 2025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DOI: 10.25300/MISQ/2024/17339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01 / 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导读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摘要：RADAR 把强攻击模型转化为防御训练器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来源：Ebrahimi et al. (2025), Abstract, pp. 1–2, 18–22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02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84448" cy="199339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81912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819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54480"/>
            <a:ext cx="2715768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39696"/>
            <a:ext cx="3218688" cy="11155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防御 AI 在固定测试集上准确，并不代表能抵御攻击者连续、功能保持且顺序敏感的输入修改。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417320"/>
            <a:ext cx="3584448" cy="199339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9704" y="1581912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5819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554480"/>
            <a:ext cx="2715767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核心设计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139696"/>
            <a:ext cx="3218688" cy="11155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1 用 r-VAC 生成攻击序列；Phase 2 用 RL-RO 将近似最坏情形写入防御模型再训练。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1417320"/>
            <a:ext cx="3584448" cy="199339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581912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5819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1554480"/>
            <a:ext cx="2715768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主要结果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139696"/>
            <a:ext cx="3218688" cy="11155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鲁棒化后三个检测器 ER 降至 4.17%、4.19%、2.57%；误报率约 3.9%–5.0%。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75887"/>
            <a:ext cx="1118311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58768"/>
            <a:ext cx="2304288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28,038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3042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恶意样本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3858768"/>
            <a:ext cx="2304288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425696"/>
            <a:ext cx="23042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功能保持动作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58768"/>
            <a:ext cx="2304288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≈7.18×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425696"/>
            <a:ext cx="23042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三组改善倍数算术平均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3858768"/>
            <a:ext cx="2304288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h³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4425696"/>
            <a:ext cx="23042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建议停止轮次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强攻击与低误报必须同时成立。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论文用两阶段近似极小极大优化。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“约7倍”是 3.99/6.70/10.85 的算术平均，不是汇总比值6.64。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导读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阅读路线：68页对应论文六个逻辑层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来源：本页为汇报结构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03 / 68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61488"/>
            <a:ext cx="457199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02920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导读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79" y="2761488"/>
            <a:ext cx="457200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103120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4–9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79" y="2761488"/>
            <a:ext cx="777241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703320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10–24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2761488"/>
            <a:ext cx="667512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623560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25–35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85632" y="2761488"/>
            <a:ext cx="612648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34072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36–43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0" y="2761488"/>
            <a:ext cx="246888" cy="0"/>
          </a:xfrm>
          <a:prstGeom prst="line">
            <a:avLst/>
          </a:prstGeom>
          <a:ln w="1778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189720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44–62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33" name="Oval 32"/>
          <p:cNvSpPr/>
          <p:nvPr/>
        </p:nvSpPr>
        <p:spPr>
          <a:xfrm>
            <a:off x="10579608" y="2304288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9608" y="24688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63–68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3401568"/>
            <a:ext cx="1371600" cy="694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54880"/>
            <a:ext cx="10561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所有 Figure 1–9、Table 1–10、Table A1/B1/B3/E1、Algorithm 1、Appendix C 均逐项覆盖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按论文原章推进，不跳过背景与实例化。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先建立理论和威胁模型，再读实验数字。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本稿只生成PPTX，不含演讲稿。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产业依赖：AI 已成为网络防御的运营基础设施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规模与速度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AI 检测器把恶意软件、入侵与垃圾信息过滤自动化，承担人力无法覆盖的高频判断。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组织依赖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国际调查中 69% 的 IT 企业认为，没有 AI Agent 难以完成网络防御。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失效后果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一旦攻击者能系统性操纵输入，自动化优势会反转为规模化错误决策。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AI防御已嵌入企业运营。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依赖越深，模型失效的系统性外溢越强。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69%来自论文引用的行业调查，不代表所有企业。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序列攻击例：单步合法修改，组合后实现逃逸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恶意可执行文件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先修改 signature section，再重置 checksum；恶意功能不变，但检测特征发生偏移。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恶意网络包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先编码 payload，再分片；每一步均可解释，组合顺序却改变检测器观察到的模式。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研究含义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攻击不是一个静态扰动向量，而是与防御反馈交互的多步决策过程。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顺序和重复会改变逃逸效果。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序列决策天然适合用 RL 表达。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论文以黑盒、功能保持攻击为主，不覆盖破坏功能的任意变换。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为什么同时需要 RO 与 RL：一个定义目标，一个实现对手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RO：定义鲁棒目标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把防御写成“攻击者最大化损失—防御者最小化损失”的两参与者极小极大问题。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RL：学习序列攻击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从二值反馈中学习下一步动作，显式捕捉先后顺序、重复动作与累计回报。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RADAR：连接两者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 r-VAC 近似 RO 的内层最坏攻击，再用 RL-RO 更新外层防御模型。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RO给出正确问题，RL给出可操作的攻击生成器。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两者结合把“发现漏洞”闭环到“修复并复验”。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内层是近似而非全局最优，论文依赖实证有效性。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研究缺口：高准确率评测没有模拟主动对手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77256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常规范式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5111496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固定训练/测试分布，报告准确率、召回率与 FPR；默认输入不会主动适应模型。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444752"/>
            <a:ext cx="5477256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8191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对抗范式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67128"/>
            <a:ext cx="5111496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攻击者根据模型反馈反复修改输入，制造部署后才出现的分布漂移。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静态测试集无法覆盖适应性攻击。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鲁棒性必须在攻击生成过程中被验证。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RADAR验证的是特定动作集与三个检测器，不等于普遍安全。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三项贡献：框架、攻击方法与鲁棒化方法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2–3, 21–22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贡献1｜RADAR框架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首次在该研究语境中，把攻击者与网络防御 AI 的对抗博弈建模为可规模化鲁棒化框架。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贡献2｜r-VAC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提出适用于离散动作与超大状态空间的攻击序列学习方法，并输出可解释的动作模式。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贡献3｜RL-RO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把学得攻击嵌入鲁棒优化外层训练，实证显著降低未见样本的攻击成功率。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贡献覆盖理论建模、算法与设计知识。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强攻击模型被重新定位为防御设计工具。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“首次”是论文作者在其文献边界内的主张。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Introduction 小结：从产业依赖推导出研究任务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09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企业依赖 AI 防御，但攻击者可用细微、多步修改系统性绕过模型。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需要同时模拟强攻击、修复模型，并持续验证新旧攻击下的性能。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 用 RO + RL 建立攻击生成—鲁棒化—再攻击验证闭环。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论文不是单纯提出更强攻击算法。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核心研究对象是对抗环境中的防御 AI 设计。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后续背景章要验证：现有四条研究线为何无法单独完成闭环。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四条研究线：RADAR 的理论与方法来源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3–8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① IS防御研究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AI-enabled、行为与经济安全研究解释组织如何防御 IT 基础设施。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② 鲁棒优化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用内层攻击与外层防御统一描述对抗鲁棒学习。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③ AAE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研究如何自动生成能绕过检测器的对抗输入。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④ 深度RL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提供序列决策、样本效率与大状态空间的算法工具。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四条线各自成熟，但接口断裂。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RADAR的创新在跨线连接。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背景综述截至论文收录文献，不能替代最新系统综述。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1（上）｜IS防御研究：AI-enabled 不等于 adversarial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21" y="1453896"/>
            <a:ext cx="6840309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1 上半：近期 IS 防御研究分类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AI用于威胁识别、检测与自动化。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多数研究把AI当作防御工具，而非待攻击对象。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表中样本是代表性文献，不是穷尽性计量综述。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1（下）｜行为与经济研究承认对手，却少触及模型鲁棒性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1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21" y="1453896"/>
            <a:ext cx="6840309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1 下半：行为/经济安全研究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部分研究显式考虑内部人或竞争者。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“有对手”不等于“验证AI输入鲁棒性”。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组织行为结论不能直接替代技术攻击实验。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式(1)：RO 把攻击与防御写入同一个极小极大目标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1081735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10451592" cy="6126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minφ  E(x,y)~D [ maxδ∈Δ  ℓ(hφ(x+δ), y)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139696"/>
            <a:ext cx="3108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64008" cy="384048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内层最大化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攻击者从允许集合 Δ 中寻找使防御损失最大的修改 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7616" y="2999232"/>
            <a:ext cx="64008" cy="384048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1352" y="2926079"/>
            <a:ext cx="293827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外层最小化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616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防御者更新参数 φ，使最坏情形下的期望损失下降。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6551" y="2999232"/>
            <a:ext cx="64008" cy="38404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288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关键前提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要训练鲁棒模型，必须先获得足够有效的攻击近似。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鲁棒学习的瓶颈在内层攻击质量。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弱攻击会高估模型安全性。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允许扰动集 Δ 必须由领域功能约束定义。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AAE 分类：威胁知识 × 反馈粒度 × 动作类型 × 是否序列化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5–7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白盒 / 黑盒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白盒知道结构与梯度；黑盒只能查询输出，更接近商业检测器部署。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分数 / 二值反馈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Score-based 得到置信度；binary black-box 仅知道恶意/良性，难度更高。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加性 / 编辑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加性只附加内容；编辑可改头部、区段、时间戳或压缩，覆盖面更广。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单步 / 序列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序列方法显式学习动作顺序与重复，是论文关注的现实攻击过程。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最现实组合是二值黑盒、功能保持、可编辑、序列化。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这一威胁模型缩小了可用算法集合。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更强知识假设下的攻击效果不能直接外推。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2（上）｜大量黑盒AAE仍依赖分数反馈或加性动作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365" y="1453896"/>
            <a:ext cx="7428221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2 上半：黑盒/二值黑盒 AAE 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研究数量多，但假设差异显著。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反馈越少、动作越受约束，越接近真实部署。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不同论文的数据、检测器与动作集不可只按ER横比。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2（下）｜显式建模动作顺序的方法仍是少数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2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91" y="1453896"/>
            <a:ext cx="7834368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2 下半：AAE 方法与序列能力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深度RL开始覆盖序列攻击。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既有工作目标多止于攻击成功，缺少防御鲁棒化。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“序列”本身不保证样本效率或大状态空间适配。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1｜攻击者与防御AI形成RL交互环境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851735"/>
            <a:ext cx="11018520" cy="2679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1：RL Agent—Environment 交互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攻击者观察状态、选择动作并接收二值反馈。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防御模型既是判定器，也是RL环境的一部分。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黑盒交互不访问防御梯度或内部结构。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式(2)：攻击生成被表达为最大化期望累计回报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6–7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1081735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10451592" cy="6126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maxθ  J(θ) = Eπθ [ Σt γᵗ r(st, at)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139696"/>
            <a:ext cx="3108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(2)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64008" cy="38404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当前功能保持的恶意输入表示。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7616" y="2999232"/>
            <a:ext cx="64008" cy="384048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1352" y="2926079"/>
            <a:ext cx="293827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616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有限离散的攻击向量，可按顺序重复。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6551" y="2999232"/>
            <a:ext cx="64008" cy="384048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288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奖励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成功逃逸获得正奖励，策略最大化未来累计回报。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式(2)把“怎么连续改”转为策略学习。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γ连接当前动作与未来逃逸机会。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本页按论文MDP定义重排符号，具体实现仍由奖励与终止条件决定。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A1（上）｜为何排除 model-based RL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A, p.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A1_modelba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2192768"/>
            <a:ext cx="11018520" cy="19969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A1 上半：Model-based 深度RL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模型式方法需要学习或已知环境转移。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真实二值黑盒AAE难满足这一前提。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混合模型式/无模型方法仍是未来方向。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A1（下）｜VAC兼顾样本效率、大状态空间与离散动作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A, p.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A1_model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28" y="1453896"/>
            <a:ext cx="10351494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A1 下半：Model-free 深度RL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VAC在三项筛选标准上最匹配AAE。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变分推断适合超大状态空间，但离散梯度仍需改造。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表中“高/中”是论文基于文献的定性比较。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式(3)：VAC 用策略梯度连接 Actor 与 Critic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7; Appendix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1081735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10451592" cy="6126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∇θ J(θ) = Eπθ[ ∇θ log πθ(at|st) · Qπθ(st,at)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139696"/>
            <a:ext cx="3108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(3)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64008" cy="38404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πθ(at|st) 输出动作分布，负责策略改进。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7616" y="2999232"/>
            <a:ext cx="64008" cy="384048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1352" y="2926079"/>
            <a:ext cx="293827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Critic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616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Qπθ(st,at) 估计状态—动作的未来价值。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6551" y="2999232"/>
            <a:ext cx="64008" cy="384048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288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离散动作采样阻断直接梯度，需要重参数化降低估计方差。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Actor决定怎么改，Critic判断改法是否值得。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策略梯度用采样估计期望回报。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估计无偏不代表低方差，r-VAC针对后者改进。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研究缺口汇总：四个断点共同指向RADAR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7–8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缺攻击—防御框架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现有研究少把攻击者与防御者纳入同一可迭代设计。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现实威胁覆盖不足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二值黑盒、功能保持与编辑动作往往不能同时满足。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序列能力不足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多数方法难表达顺序、重复和长期回报。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离散梯度困难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连续控制算法不能直接迁移到离散攻击向量。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缺口不是单一算法精度不足。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需要框架、威胁模型和优化方法协同设计。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研究问题将这些缺口收敛为三项可检验任务。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研究问题（RQ）：从理论到算法再到防御效果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7–8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RQ1｜RO如何用于网络防御AI？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构造攻击者—防御者极小极大框架，并让两阶段可迭代。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RQ2｜如何生成有效序列攻击？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在二值黑盒、离散动作和大状态空间下学习功能保持策略。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RQ3｜如何用攻击强化防御？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用学得攻击近似内层最大化，并检验鲁棒收益与误报代价。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三个RQ对应框架、r-VAC与RL-RO。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实验分别验证攻击能力、修复能力和持续能力。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RQ回答依赖恶意软件领域实例化。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Research Background 小结：方法选择由威胁模型倒推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3–8, Appendix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先定现实约束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二值黑盒、功能保持、离散序列、尽量少查询。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再选算法族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VAC满足样本效率与大状态空间要求。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最后补关键缺口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用Concrete重参数化离散动作，再与RO外层相连。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r-VAC并非任意选型。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算法选择来自领域约束与Table A1比较。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下一章将逐步展开两阶段设计与数学接口。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威胁假设：现实性来自知识受限与功能约束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8–9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攻击者知识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不知道模型结构、参数与梯度，只能提交样本并获得恶意/良性反馈。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攻击者能力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可从预定义动作空间选择、组合和重复修改，但不得破坏恶意功能。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防御者目标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同时降低当前/历史攻击ER，并把FPR维持在业务可接受区间。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这是 binary black-box AAE。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威胁假设约束了攻击生成器可利用的信息。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若攻击者可读梯度或执行任意代码修改，结论需重新验证。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2｜RADAR 两阶段总体框架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577" y="1453896"/>
            <a:ext cx="5455797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2：RADAR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1输出攻击策略，Phase 2输出鲁棒防御模型。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攻击生成器成为RO内层的可复用近似。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两阶段可重复，但每轮都要监控FPR。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1 的 MDP：把攻击过程拆成五个对象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9–10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状态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当前恶意输入及其特征表示。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动作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有限、离散、功能保持的修改。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策略 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给定状态选择下一攻击动作。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奖励 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成功逃逸且功能保持时给予正奖励。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MDP保留动作顺序与未来影响。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策略学习比静态搜索更适合重复交互。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状态表示和动作清单决定可发现的攻击边界。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3｜Concrete 分布把离散动作变成可微近似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72" y="1453896"/>
            <a:ext cx="1012060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3：Concrete 采样图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Gumbel噪声与温度λ生成近似one-hot动作。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重参数化让梯度可穿过采样步骤回到Actor。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λ过高会过软、过低会使梯度不稳定。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式(4)：Concrete 重参数化离散动作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1081735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10451592" cy="6126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ãᵢ = exp((log αᵢ + Gᵢ)/λ) / Σⱼ exp((log αⱼ + Gⱼ)/λ)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139696"/>
            <a:ext cx="3108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(4)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64008" cy="38404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Actor输出的类别参数，决定动作相对概率。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7616" y="2999232"/>
            <a:ext cx="64008" cy="384048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1352" y="2926079"/>
            <a:ext cx="293827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616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独立Gumbel噪声，把随机性移到可采样变量。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6551" y="2999232"/>
            <a:ext cx="64008" cy="384048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288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温度控制连续近似与离散one-hot之间的权衡。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式(4)不改变动作集合，只改变采样求导方式。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这是r-VAC相对VAC的核心算法改造。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最终执行仍需映射为离散动作。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4｜r-VAC：Actor重参数化，Critic评估价值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758" y="1453896"/>
            <a:ext cx="8911434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4：Proposed r-VAC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Actor输出动作参数，经Concrete模块得到近似动作。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Critic提供价值信号，环境返回二值逃逸奖励。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性能收益来自整体训练机制，不能只归因于单一模块。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Appendix C｜策略梯度与动作重参数化的推导依据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C, p.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endix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96" y="1453895"/>
            <a:ext cx="6043158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Appendix C：Policy Gradient &amp; Reparameterization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log-derivative trick导出式(3)。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重参数化把对动作的期望改写为对Gumbel噪声的期望。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推导说明可求梯度，不提供全局最优保证。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Danskin 定理与式(5)：用r-VAC近似内层最大化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1081735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10451592" cy="6126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minφ  E(x,y)~D [ ℓ(hφ(Πθ,hφ(x)), y)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139696"/>
            <a:ext cx="31089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(5)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64008" cy="38404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Danskin接口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外层梯度应在内层最大点δ*(x)处评估。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7616" y="2999232"/>
            <a:ext cx="64008" cy="384048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1352" y="2926079"/>
            <a:ext cx="2938272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实际近似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616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用r-VAC策略Πθ,hφ(x)替代难求的全局最坏样本。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788920"/>
            <a:ext cx="3459480" cy="2286000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6551" y="2999232"/>
            <a:ext cx="64008" cy="384048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0288" y="2926079"/>
            <a:ext cx="293827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外层更新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511296"/>
            <a:ext cx="3093720" cy="14081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对近似最坏样本的损失做随机梯度下降。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强而非完美的攻击也能提供有效鲁棒化信号。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式(5)把Phase 1输出正式接入Phase 2。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近似质量决定鲁棒化上限，非凸损失下不承诺全局解。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Algorithm 1｜RL-RO 外层最小化的完整流程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D, p.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lgorith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02" y="1453896"/>
            <a:ext cx="826234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Algorithm 1：Outer Minimization in RL-RO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每轮用策略生成对抗样本并累计损失。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Adam更新φ，直到损失变化ΔL≤ε=0.001。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损失收敛不等于业务最优，仍需ER/FPR验证。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从单轮到重复博弈：攻击策略与防御模型交替升级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11,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攻击更新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针对当前防御hᵏ重新学习Πᵏ，寻找新暴露面。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防御更新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用Πᵏ生成样本，训练得到hᵏ⁺¹。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历史回放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后续模型同时接受当前与历史攻击，检查遗忘与泛化。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RADAR是可重复流程，不是一次性对抗训练。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交替升级近似现实军备竞赛。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轮次上限应由FPR、算力和风险预算共同决定。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Proposed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Proposed Design 小结：两阶段接口清晰，证据要求也清晰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8–12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Phase 1证据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要证明r-VAC比强基线生成更高ER、且动作序列可解释。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Phase 2证据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要证明未见样本ER下降，同时FPR不明显恶化。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持续性证据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要证明多轮后仍能抵御当前与历史攻击。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设计主张对应三组可检验实验。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数学近似必须由基准、消融式敏感性和重复博弈支撑。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下一章先说明恶意软件实例化如何满足功能保持。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恶意软件实例化：从通用框架到可执行测试床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11–12,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产业损失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论文引用：单个IT企业恶意软件年均成本约260万美元，同比增加11%。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设计科学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实例化既是概念验证，也是价值验证；目标不是宣称解决所有恶意软件生成。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测试对象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Windows PE样本、三类静态检测器、十种无需源码的功能保持动作。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场景具备高经济损失与可量化反馈。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恶意软件域适合检验RADAR端到端闭环。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成本数字来自论文引用的行业报告，需按年份与地区谨慎解释。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B1｜攻击向量来自四类可追溯知识源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B1, p.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725167"/>
            <a:ext cx="11018520" cy="29321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B1：Recommended Sources for Attack 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文献、行业报告、专家与设计资料共同定义动作。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多源三角验证减少动作清单的任意性。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知识源仍可能漏掉零日与组织特有攻击。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功能保持验证：逃逸样本必须仍然是“有效恶意软件”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B2; pp. 11–12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结构有效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修改后PE文件应保持可解析、可加载，动作不能破坏必要头部与区段关系。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行为有效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通过VirusTotal等外部检查确认恶意功能未因修改而消失。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实验有效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只有功能保持的变体才计入ER，避免把“破坏文件”误当成成功攻击。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功能保持是攻击有效性的前置条件。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它把语义约束带入对抗样本评价。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静态/第三方扫描是代理验证，不能穷尽所有运行时行为。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5｜十种功能保持型攻击动作及作用位置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39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73" y="1453896"/>
            <a:ext cx="5957205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5：Attack Vectors on PE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动作同时覆盖编辑型与加性型，可重复、可组合。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压缩、区段改名、追加导入等改变不同特征来源。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预定义操作数限制了可搜索空间。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1 参数：让三种检测器处于可比攻击条件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12–15,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40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输入状态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LGBM使用2,350维EMBER元数据；MalConv/NonNeg直接读取原始字节表示。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动作与步长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十种离散动作；主实验限制最大动作序列长度，附录再扩展到10步。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奖励与策略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成功逃逸获得固定正奖励；Figure 6检验奖励1–1000的敏感性。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不同特征范式共享同一攻击动作集合。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统一条件使跨检测器比较更有解释力。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超参数是经验设定，不应被解读为理论最优。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3｜三类检测器覆盖人工特征与端到端字节模型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41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2" y="1453896"/>
            <a:ext cx="1084638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3：Evaluated Malware Detectors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LGBM、MalConv、NonNeg代表不同特征和鲁棒约束。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对三者同时有效，说明攻击不依赖单一模型结构。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三种静态检测器不足以代表全部商业安全栈。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2 实例化：把攻击生成器嵌入检测器再训练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13–16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42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样本生成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固定Phase 1策略，对可检测恶意样本生成近似最坏变体。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联合优化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以原始/对抗样本计算损失，用Adam更新检测器参数。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验收指标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在未见恶意样本上测ER，在13,554个良性Windows文件上测FPR。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2的目标不是记住训练攻击。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未见样本与FPR共同检验泛化和可用性。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训练数据时段与真实部署漂移仍可能影响外部效度。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C95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Instantiation 小结：每个抽象对象都有领域对应物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11–15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43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PE元数据或原始字节。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十种功能保持修改。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三种静态恶意软件检测器。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降低逃逸率且控制良性误报。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通用框架被完整映射到恶意软件测试床。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这使理论主张可以通过基准实验逐层验证。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接下来所有结果都应回到ER、FPR与功能保持三条证据。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评价证据链：攻击能力 → 修复能力 → 持续能力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14–20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实验1｜攻击能力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r-VAC能否超过非RL与RL强基线，并输出可解释序列？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实验2｜修复能力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RL-RO能否在未见样本上降低ER，同时保持FPR？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实验3｜持续能力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多轮交替后，防御能否抵御当前与历史攻击？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三组实验逐层排除“只会攻击”与“只会记忆”。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证据链把算法性能连接到防御设计价值。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仍是单一应用域内的实验性证据。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4｜数据集：六类恶意软件与两阶段样本分工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95" y="1453896"/>
            <a:ext cx="908996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4：Malware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VirusTotal共28,038个恶意样本，覆盖2017–2019。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Phase 1用8,103个学习攻击；Phase 2用19,935个鲁棒化与评价。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时间窗口可能引入概念漂移与家族分布偏差。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5｜实验设计：问题、阶段与指标一一对应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62" y="1453896"/>
            <a:ext cx="988182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5：Experiment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实验1检验攻击，实验2检验鲁棒化，实验3检验重复博弈。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评价设计与RQ/两阶段结构保持可追溯。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实验编号不等于独立数据生成机制，需结合表4理解。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6｜基线：非RL与RL方法同时纳入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83" y="1453896"/>
            <a:ext cx="8739785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6：Selected Benchmark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基线涵盖随机/BFA、代理模型、DDQN、Rainbow、ACER、A3C等。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广泛比较降低“只赢弱基线”的风险。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实现质量与调参预算仍会影响横向结果。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指标：安全收益必须与业务误报同时报告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77256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ER｜Evasion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5111496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ER=|E|/N。攻击评价中越高越强；鲁棒化评价中越低越好。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444752"/>
            <a:ext cx="5477256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8191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FPR｜False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67128"/>
            <a:ext cx="5111496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良性样本被误判为恶意的比例；论文以5%作为重复博弈停止参考线。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ER与FPR方向不同，必须成对阅读。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只压低ER可能通过牺牲业务可用性实现。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5%是论文场景阈值，不是所有组织的通用SLA。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7（1/3）｜LGBM：r-VAC 综合ER达到28.13%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7_l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64" y="1453896"/>
            <a:ext cx="10254023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7：LGBM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 28.13%，最强基线A3C 20.67%。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元数据特征容易受压缩和区段编辑系统性影响。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ER更高表示攻击更强，不代表防御更好。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7（2/3）｜MalConv：直接读字节仍可被序列动作绕过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7_mal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749777"/>
            <a:ext cx="11018520" cy="2882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7：MalConv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 22.99%；Spyware 65.31%、Rootkit 50.48%、Virus 48.41%。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端到端表示并不自动获得对抗鲁棒性。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Virus口径必须是48.41%，不得与其他检测器列混用。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7（3/3）｜NonNeg：正梯度约束未消除脆弱性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7_nonn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654851"/>
            <a:ext cx="11018520" cy="30728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7：NonNeg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 18.98%，最强基线ACER 14.43%。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结构性约束提高基线鲁棒性，但不能替代对抗训练。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跨模型ER不可脱离其原始检测能力与训练条件比较。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8（1/2）｜主导动作揭示三类检测器的特征依赖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8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964" y="1453896"/>
            <a:ext cx="3079022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8：Dominant action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LGBM偏编辑；MalConv/NonNeg同时受加性动作影响。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动作频率把攻击结果转化为特征工程诊断。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频率关联不等于单动作因果效应。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8（2/2）｜顺序与重复本身就是攻击能力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8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685" y="1453896"/>
            <a:ext cx="668358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8：Most evasive action 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同一动作集合因顺序不同得到不同逃逸结果。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高频序列可直接转化为红队用例和增强数据。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这些序列来自特定动作库，不代表所有攻击路径。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B3｜把最大动作长度扩展到10步，r-VAC优势仍在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B3, p.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556408"/>
            <a:ext cx="11018520" cy="32696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B3：Extended action sequence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r-VAC在三个检测器上仍超过ACER/A3C。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长序列进一步检验策略在组合空间中的能力。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更长序列也增加查询、时间和被检测风险。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6｜奖励尺度1–1000变化，结果没有单调漂移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552892"/>
            <a:ext cx="11018520" cy="32767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6：Reward magnitude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三条性能曲线对奖励绝对尺度相对稳定。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论文选择奖励10是经验可用点，不是理论最优。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敏感性只覆盖奖励幅度，未覆盖全部超参数交互。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9｜RL-RO 将三个检测器ER降至约2.6%–4.2%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2" y="1453896"/>
            <a:ext cx="1084638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9：Robustification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LGBM 16.63→4.17；MalConv 28.06→4.19；NonNeg 27.89→2.57。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近似最坏攻击提供了高价值鲁棒化训练信号。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FPR分别3.9%、5.0%、4.8%，收益不能脱离误报看。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“约7倍”正确口径：三组改善倍数的算术平均≈7.18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18; calculation from Table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LGBM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16.63 / 4.17 = 3.99×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MalConv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28.06 / 4.19 = 6.70×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NonNeg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27.89 / 2.57 = 10.85×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(3.99+6.70+10.85)/3 = 7.18×。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论文“seven times on average”对应按模型平均。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汇总比值(16.63+28.06+27.89)/(4.17+4.19+2.57)=6.64，不可混用。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7｜重复博弈：每轮攻击都针对当前防御重新学习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721651"/>
            <a:ext cx="11018520" cy="29392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7：Repeated Game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Πᵏ攻击hᵏ，再训练得到hᵏ⁺¹。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交替更新模拟攻击者适应防御后的持续军备竞赛。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每轮成本增加，不能无限迭代。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8｜h⁴起FPR持续&gt;5%，建议在h³停止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59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91" y="1453896"/>
            <a:ext cx="7438369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8：Adversarial Robustness by 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后期ER继续下降，但h⁴起FPR持续超过5%。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继续鲁棒化开始以误伤良性样本换取安全收益。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论文场景的推荐停止点是h³；其他组织应按自身阈值重算。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10｜高频成功序列呈现可复现结构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60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543" y="1453896"/>
            <a:ext cx="9485864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10：Frequent successful 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近50%高频序列以Compression结束；75%含SR或OA。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先改变结构、再混淆内容形成稳定攻击模式。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高频不等于对每个样本都最优。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Figure 9｜热力图把攻击证据转为检测器改进清单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61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72" y="1453896"/>
            <a:ext cx="5880006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Figure 9：Action frequency heatmap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EMBER/LGBM最敏感于Compression与Section Rename。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可据此加入压缩样本、对区段名注入噪声并降低脆弱特征依赖。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热力图反映频率，不直接衡量单动作边际效应。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Table E1｜时间成本补齐证据链：平均126.19秒/攻击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来源：Appendix E, p.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62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11183112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2277147"/>
            <a:ext cx="11018520" cy="1828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4956048"/>
            <a:ext cx="1096365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120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Table E1：Mean elapsed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平均126.19秒；Ransomware 56.50秒最快，Adware 211秒最慢。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攻击生成可离线并行，用于周期性红队与鲁棒化训练。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在线大规模实时生成仍受墙钟时间与查询预算限制。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理论贡献：把对抗序列纳入信息系统设计科学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20–22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63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对IS安全研究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从“AI帮助防御”推进到“AI自身在主动对手下是否稳健”。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对RO理论应用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用RL攻击策略近似内层最大化，连接离散领域动作与外层优化。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对序列决策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证明动作顺序、重复和长期回报是可解释的安全设计知识。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理论价值来自跨越组织安全、RO与RL三条边界。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RADAR提供可迭代的设计理论实例。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理论普适性仍需在入侵检测、垃圾邮件等任务复验。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实践与经济价值：把鲁棒性转成可运营资产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来源：pp. 21–22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64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管理者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持续监控攻击暴露面、ER/FPR与停止阈值，把模型安全纳入风险仪表盘。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防御厂商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部署前循环生成攻击、增强训练并回归历史攻击，降低大规模上线风险。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SOC分析师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利用高频动作和序列快速构造红队用例、检测规则与样本增强清单。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价值不只来自一次ER下降。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可解释攻击序列降低诊断与修复成本。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260万美元成本是风险背景，论文未直接测算RADAR的ROI。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治理：双重用途能力必须置于受控服务边界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65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访问控制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限制源码、模型权重与攻击策略访问，仅授权可信研究或安全团队。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在隔离沙箱或安全API中运行，限制样本、动作、查询频率与导出能力。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审计监控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记录调用者、目标、生成序列与用途；对异常模式触发复核与暂停。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攻击生成器同时具备防御和滥用价值。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治理应覆盖数据、模型、接口和操作流程。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技术控制不能替代法律、伦理与组织问责。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局限与未来研究：扩动作、强理论、跨场景、解稀疏奖励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来源：p.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66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动作/状态扩展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用模仿学习、生成模型和表示学习自动发现更多攻击动作与有效状态。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理论质量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用regret等分析量化近似攻击质量及其对鲁棒化的影响。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外部效度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迁移到NIDS、垃圾邮件与其他网络防御任务，验证不同反馈和约束。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奖励稀疏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探索model-based + model-free混合方法，改善其他场景下的学习信号。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论文清楚承认近似解与单域实证边界。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未来工作围绕搜索空间、理论保证与迁移展开。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新增生成式能力会同时放大攻击面与治理负担。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闭环总结：从发现脆弱性到可持续鲁棒治理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来源：synthesis of pp. 8–22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67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① 识别攻击向量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基于情报、专家与设计资料定义功能保持动作。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99032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156362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5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636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36192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95324"/>
                </a:solidFill>
                <a:latin typeface="Noto Sans CJK SC"/>
                <a:ea typeface="Noto Sans CJK SC"/>
                <a:cs typeface="Noto Sans CJK SC"/>
              </a:rPr>
              <a:t>② 学习序列攻击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21408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r-VAC在黑盒反馈中生成近似最坏变体。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③ 鲁棒化防御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RL-RO更新检测器并在未见样本上复验。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10128"/>
            <a:ext cx="5477256" cy="1682496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3474720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447288"/>
            <a:ext cx="4608576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④ 设治理停止线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32504"/>
            <a:ext cx="511149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ER改善与FPR&lt;5%共同决定是否继续；本实验建议h³停止。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闭环的核心不是追求无限鲁棒化。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每轮都要同时比较安全收益、误报与成本。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h⁴起FPR持续&gt;5%是本实验事实，不是所有系统的固定轮次。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64008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274320"/>
            <a:ext cx="2834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09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Conclusion：强攻击模型的最终用途，是设计更稳健的防御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25296"/>
            <a:ext cx="11183112" cy="0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47104"/>
            <a:ext cx="1010412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96579"/>
                </a:solidFill>
                <a:latin typeface="Noto Sans CJK SC"/>
                <a:ea typeface="Noto Sans CJK SC"/>
                <a:cs typeface="Noto Sans CJK SC"/>
              </a:rPr>
              <a:t>来源：Ebrahimi et al. (2025),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1904" y="6510528"/>
            <a:ext cx="10058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68 /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457A6"/>
                </a:solidFill>
                <a:latin typeface="Noto Sans CJK SC"/>
                <a:ea typeface="Noto Sans CJK SC"/>
                <a:cs typeface="Noto Sans CJK SC"/>
              </a:rPr>
              <a:t>问题回答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RADAR用RO定义攻防目标，用RL学习序列攻击，并用RL-RO把攻击知识写回防御。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6656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864" y="1581912"/>
            <a:ext cx="2712719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87F73"/>
                </a:solidFill>
                <a:latin typeface="Noto Sans CJK SC"/>
                <a:ea typeface="Noto Sans CJK SC"/>
                <a:cs typeface="Noto Sans CJK SC"/>
              </a:rPr>
              <a:t>证据回答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r-VAC超过强基线；RL-RO显著降低ER；重复博弈揭示FPR约束下的停止点。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444752"/>
            <a:ext cx="3581400" cy="368503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7511" y="1609344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1" y="16093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1581912"/>
            <a:ext cx="2712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管理回答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1" y="2167128"/>
            <a:ext cx="3215640" cy="28072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把攻击序列、鲁棒指标、误报阈值和访问治理纳入同一持续运营闭环。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11183112" cy="1024128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5559552"/>
            <a:ext cx="548640" cy="256032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论文的核心产物是一个可持续攻防学习机制。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70831" y="5559552"/>
            <a:ext cx="548640" cy="256032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≈7.18×平均改善与h³停止共同说明“收益—代价”权衡。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82127" y="5568696"/>
            <a:ext cx="0" cy="694944"/>
          </a:xfrm>
          <a:prstGeom prst="line">
            <a:avLst/>
          </a:prstGeom>
          <a:ln w="1016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19" y="5559552"/>
            <a:ext cx="548640" cy="256032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5559552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852160"/>
            <a:ext cx="3538728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2033"/>
                </a:solidFill>
                <a:latin typeface="Noto Sans CJK SC"/>
                <a:ea typeface="Noto Sans CJK SC"/>
                <a:cs typeface="Noto Sans CJK SC"/>
              </a:rPr>
              <a:t>结论成立于论文动作集、数据与检测器边界内。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