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2"/>
  </p:normalViewPr>
  <p:slideViewPr>
    <p:cSldViewPr snapToGrid="0" snapToObjects="1">
      <p:cViewPr varScale="1">
        <p:scale>
          <a:sx n="114" d="100"/>
          <a:sy n="114" d="100"/>
        </p:scale>
        <p:origin x="49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jpg"/><Relationship Id="rId4" Type="http://schemas.openxmlformats.org/officeDocument/2006/relationships/image" Target="../media/image14.jp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4320"/>
            <a:ext cx="12191695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092440" y="274320"/>
            <a:ext cx="4099255" cy="6583680"/>
          </a:xfrm>
          <a:prstGeom prst="rect">
            <a:avLst/>
          </a:prstGeom>
          <a:solidFill>
            <a:srgbClr val="2C3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092440" y="274320"/>
            <a:ext cx="64008" cy="658368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5394960"/>
            <a:ext cx="6766560" cy="18288"/>
          </a:xfrm>
          <a:prstGeom prst="rect">
            <a:avLst/>
          </a:prstGeom>
          <a:solidFill>
            <a:srgbClr val="2C3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5623560"/>
            <a:ext cx="5760720" cy="18288"/>
          </a:xfrm>
          <a:prstGeom prst="rect">
            <a:avLst/>
          </a:prstGeom>
          <a:solidFill>
            <a:srgbClr val="2C3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5852160"/>
            <a:ext cx="4754880" cy="18288"/>
          </a:xfrm>
          <a:prstGeom prst="rect">
            <a:avLst/>
          </a:prstGeom>
          <a:solidFill>
            <a:srgbClr val="2C3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70408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D9E0F2"/>
                </a:solidFill>
                <a:latin typeface="PingFang SC"/>
                <a:ea typeface="PingFang SC"/>
                <a:cs typeface="PingFang SC"/>
              </a:rPr>
              <a:t>面向中文场景的大模型语音伪造检测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20240"/>
            <a:ext cx="7223760" cy="1371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未知攻击与跨数据集泛化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401568"/>
            <a:ext cx="1920240" cy="7315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3675887"/>
            <a:ext cx="69494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子课题三 · 研究答辩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315968"/>
            <a:ext cx="704088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D9E0F2"/>
                </a:solidFill>
                <a:latin typeface="PingFang SC"/>
                <a:ea typeface="PingFang SC"/>
                <a:cs typeface="PingFang SC"/>
              </a:rPr>
              <a:t>SSL 前端 + AASIST 图注意力后端 + LoRA 高效微调 · 多策略域泛化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074920"/>
            <a:ext cx="6309360" cy="786384"/>
          </a:xfrm>
          <a:prstGeom prst="roundRect">
            <a:avLst>
              <a:gd name="adj" fmla="val 6000"/>
            </a:avLst>
          </a:prstGeom>
          <a:solidFill>
            <a:srgbClr val="2C3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5074920"/>
            <a:ext cx="91440" cy="78638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2415" y="5074920"/>
            <a:ext cx="5943600" cy="7863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ASVspoof 2019 LA 全量 71,237 条实测：EER 2.03% · AUC 0.9890 · Acc 98.08%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1417320"/>
            <a:ext cx="329184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答辩人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728216"/>
            <a:ext cx="3429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张艺怀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9640" y="2258568"/>
            <a:ext cx="3017520" cy="13716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49640" y="2441448"/>
            <a:ext cx="329184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指导教师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752344"/>
            <a:ext cx="3429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课题组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49640" y="3282696"/>
            <a:ext cx="3017520" cy="13716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49640" y="3465576"/>
            <a:ext cx="329184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汇报日期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776472"/>
            <a:ext cx="3429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2026 年 9 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49640" y="4306824"/>
            <a:ext cx="3017520" cy="13716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49640" y="4489704"/>
            <a:ext cx="329184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文档性质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4800600"/>
            <a:ext cx="3429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系统验证 + 真实实测 + 完整实验设计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49640" y="5330952"/>
            <a:ext cx="3017520" cy="13716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6199632"/>
            <a:ext cx="70408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D9E0F2"/>
                </a:solidFill>
                <a:latin typeface="PingFang SC"/>
                <a:ea typeface="PingFang SC"/>
                <a:cs typeface="PingFang SC"/>
              </a:rPr>
              <a:t>本报告数值区分「系统验证（合成数据 · 第 04 节）」与「ASVspoof 2019 LA · A10 实测真实结果（第 05 节）」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目录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700784"/>
            <a:ext cx="5504688" cy="1481328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700784"/>
            <a:ext cx="100584" cy="1481328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700784"/>
            <a:ext cx="1051560" cy="148132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D9E0F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1938528"/>
            <a:ext cx="4041648" cy="7863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课题背景与研究目标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65376" y="2633472"/>
            <a:ext cx="4041648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语音深伪威胁 · 中文场景挑战 · 验收指标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700784"/>
            <a:ext cx="5504688" cy="1481328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27648" y="1700784"/>
            <a:ext cx="100584" cy="1481328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47104" y="1700784"/>
            <a:ext cx="1051560" cy="148132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D9E0F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6096" y="1938528"/>
            <a:ext cx="4041648" cy="7863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系统架构与核心方法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6096" y="2633472"/>
            <a:ext cx="4041648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SSL 前端 · AASIST 后端 · LoRA · 五种泛化策略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310128"/>
            <a:ext cx="5504688" cy="1481328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66928" y="3310128"/>
            <a:ext cx="100584" cy="1481328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6384" y="3310128"/>
            <a:ext cx="1051560" cy="148132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D9E0F2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65376" y="3547872"/>
            <a:ext cx="4041648" cy="7863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数据与评估体系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65376" y="4242816"/>
            <a:ext cx="4041648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四数据集 · 音频时频解析 · 跨数据集矩阵 · 偏差检测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27648" y="3310128"/>
            <a:ext cx="5504688" cy="1481328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27648" y="3310128"/>
            <a:ext cx="100584" cy="1481328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47104" y="3310128"/>
            <a:ext cx="1051560" cy="148132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D9E0F2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6096" y="3547872"/>
            <a:ext cx="4041648" cy="7863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系统端到端验证（真实）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6096" y="4242816"/>
            <a:ext cx="4041648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合成双域冒烟测试 · 训练收敛 · 跨域退化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919472"/>
            <a:ext cx="5504688" cy="1481328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66928" y="4919472"/>
            <a:ext cx="100584" cy="1481328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6384" y="4919472"/>
            <a:ext cx="1051560" cy="148132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D9E0F2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65376" y="5157216"/>
            <a:ext cx="4041648" cy="7863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ASVspoof 2019 LA 全量 71k 实测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65376" y="5852160"/>
            <a:ext cx="4041648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EER 2.03% · 逐攻击 EER · 校准 · DET · 混淆矩阵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27648" y="4919472"/>
            <a:ext cx="5504688" cy="1481328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327648" y="4919472"/>
            <a:ext cx="100584" cy="1481328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47104" y="4919472"/>
            <a:ext cx="1051560" cy="148132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D9E0F2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6096" y="5157216"/>
            <a:ext cx="4041648" cy="7863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工程实现 · 结论 · 后续工作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6096" y="5852160"/>
            <a:ext cx="4041648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云平台 · 流水线 · 时间表 · 致谢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2 / 47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BACKGROUND ·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研究背景：语音深度伪造威胁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851096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1737360"/>
            <a:ext cx="10652759" cy="35091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5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TTS（文本转语音）、VC（语音转换）与 AI 编解码技术快速演进，合成语音自然度已逼近人耳难以区分的水平。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21468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2307732"/>
            <a:ext cx="10652759" cy="35091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5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深伪语音被用于电信诈骗、身份冒用、舆论伪造等场景，对社会安全与身份认证系统构成现实威胁。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991840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87552" y="2878104"/>
            <a:ext cx="10652759" cy="35091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5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传统针对已知攻击训练的检测器，一旦面对训练时未见过的新生成器，性能往往急剧下降。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562212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87552" y="3448476"/>
            <a:ext cx="10652759" cy="35091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5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语音反欺骗（Anti-Spoofing）需在逻辑接入 LA、物理接入 PA、深度伪造 DF 三类场景下分别给出可靠结论。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132585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7552" y="4018848"/>
            <a:ext cx="10652759" cy="35091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5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检测目标：从原始波形中判别 bonafide（真人）与 spoof（伪造），并输出可用于阈值决策的置信分数。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705856"/>
            <a:ext cx="10972800" cy="621792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85800" y="5705856"/>
            <a:ext cx="91440" cy="6217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2688" y="5705856"/>
            <a:ext cx="10515600" cy="62179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核心矛盾：生成技术迭代速度 &gt; 检测器泛化能力，「未知攻击」成为落地的关键瓶颈。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3 / 47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BACKGROUND ·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中文场景挑战与课题定位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640080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中文语音伪造检测的独特挑战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39696"/>
            <a:ext cx="777240" cy="457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2398334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2304288"/>
            <a:ext cx="6126480" cy="577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声调系统复杂：四声与变调使中文韵律区别于英文，通用模型迁移到中文易失配。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158566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87552" y="3064520"/>
            <a:ext cx="6126480" cy="3115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方言多样：多方言口音进一步扩大真实语音分布，增加 bonafide 建模难度。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652982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87552" y="3558936"/>
            <a:ext cx="6126480" cy="3115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中文特化伪造数据集稀缺，标注与攻击类型覆盖不及英文基准充分。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147398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7552" y="4053352"/>
            <a:ext cx="6126480" cy="3115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多数公开检测器在英文集上训练，跨语言到中文时出现显著域偏移。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1737360"/>
            <a:ext cx="4251960" cy="3968496"/>
          </a:xfrm>
          <a:prstGeom prst="roundRect">
            <a:avLst>
              <a:gd name="adj" fmla="val 6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360920" y="1737360"/>
            <a:ext cx="4251960" cy="566928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60920" y="2011680"/>
            <a:ext cx="4251960" cy="292608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0376" y="1737360"/>
            <a:ext cx="3886200" cy="56692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子课题三 · 两大核心问题</a:t>
            </a:r>
          </a:p>
        </p:txBody>
      </p:sp>
      <p:sp>
        <p:nvSpPr>
          <p:cNvPr id="22" name="Diamond 21"/>
          <p:cNvSpPr/>
          <p:nvPr/>
        </p:nvSpPr>
        <p:spPr>
          <a:xfrm>
            <a:off x="7612380" y="2578227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872984" y="2505456"/>
            <a:ext cx="3520440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未知攻击检测：应对训练阶段未见过的伪造算法（生成器未知）。</a:t>
            </a:r>
          </a:p>
        </p:txBody>
      </p:sp>
      <p:sp>
        <p:nvSpPr>
          <p:cNvPr id="24" name="Diamond 23"/>
          <p:cNvSpPr/>
          <p:nvPr/>
        </p:nvSpPr>
        <p:spPr>
          <a:xfrm>
            <a:off x="7612380" y="3299079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72984" y="3226308"/>
            <a:ext cx="3520440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跨数据集泛化：在不同录音条件、不同语言的数据集间保持鲁棒检测能力。</a:t>
            </a:r>
          </a:p>
        </p:txBody>
      </p:sp>
      <p:sp>
        <p:nvSpPr>
          <p:cNvPr id="26" name="Diamond 25"/>
          <p:cNvSpPr/>
          <p:nvPr/>
        </p:nvSpPr>
        <p:spPr>
          <a:xfrm>
            <a:off x="7612380" y="4019931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872984" y="3947160"/>
            <a:ext cx="3520440" cy="291845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中文场景适配：中文主测、兼顾多语言泛化。</a:t>
            </a:r>
          </a:p>
        </p:txBody>
      </p:sp>
      <p:sp>
        <p:nvSpPr>
          <p:cNvPr id="28" name="Diamond 27"/>
          <p:cNvSpPr/>
          <p:nvPr/>
        </p:nvSpPr>
        <p:spPr>
          <a:xfrm>
            <a:off x="7612380" y="4494657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872984" y="4421886"/>
            <a:ext cx="3520440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定位：不做单一刷分，而是构建可泛化、可诊断、可复现的检测框架。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705856"/>
            <a:ext cx="10972800" cy="621792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85800" y="5705856"/>
            <a:ext cx="91440" cy="6217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32688" y="5705856"/>
            <a:ext cx="10515600" cy="62179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两大核心问题相互耦合：未知攻击考验对新生成器的泛化，跨数据集考验对跨语言/跨信道的泛化，二者共同决定落地可靠性。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4 / 47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OBJECTIVE ·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研究目标与验收指标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700784"/>
            <a:ext cx="11109960" cy="51206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" y="1700784"/>
            <a:ext cx="2907791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验收指标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8183" y="1700784"/>
            <a:ext cx="318211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50024" y="1700784"/>
            <a:ext cx="469087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说明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212848"/>
            <a:ext cx="11109960" cy="749808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" y="2212848"/>
            <a:ext cx="2852927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中文主测集准确率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5615" y="2212848"/>
            <a:ext cx="312724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≥ 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77456" y="2212848"/>
            <a:ext cx="463600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CFAD 数据集域内评估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962656"/>
            <a:ext cx="1110996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8096" y="2962656"/>
            <a:ext cx="2852927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报告指标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5615" y="2962656"/>
            <a:ext cx="312724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Macro-F1 / AUC / EER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2962656"/>
            <a:ext cx="463600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三项全报，不得仅报 Accuracy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712463"/>
            <a:ext cx="11109960" cy="749808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8096" y="3712463"/>
            <a:ext cx="2852927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LA / PA / DF 分组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5615" y="3712463"/>
            <a:ext cx="312724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分别出结果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77456" y="3712463"/>
            <a:ext cx="463600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不得只给合并平均值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462272"/>
            <a:ext cx="1110996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68096" y="4462272"/>
            <a:ext cx="2852927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未知攻击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85615" y="4462272"/>
            <a:ext cx="312724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单独报告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7456" y="4462272"/>
            <a:ext cx="463600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与已知攻击分开评估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212080"/>
            <a:ext cx="11109960" cy="749808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8096" y="5212080"/>
            <a:ext cx="2852927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跨数据集评估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85615" y="5212080"/>
            <a:ext cx="312724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4 × 4 矩阵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77456" y="5212080"/>
            <a:ext cx="463600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CFAD / ADD2023 / ASVspoof2019LA / VoiceWukong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669280"/>
            <a:ext cx="11109960" cy="658367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85800" y="5669280"/>
            <a:ext cx="91440" cy="658367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41832" y="5669280"/>
            <a:ext cx="10652760" cy="658367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目标：以「域内高性能 + 跨域可诊断退化」为验收主线，全部指标计算已在系统中实现，并已在 ASVspoof 2019 LA 全量 71k 上产出真实实测结果（见第 05 节）。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5 / 47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PROBLEM ·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四类未知攻击场景定义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700784"/>
            <a:ext cx="11109959" cy="51206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" y="1700784"/>
            <a:ext cx="1627631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未知类型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78024" y="1700784"/>
            <a:ext cx="309067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定义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78424" y="1700784"/>
            <a:ext cx="203911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训练集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7264" y="1700784"/>
            <a:ext cx="203911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测试集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6104" y="1700784"/>
            <a:ext cx="1764791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核心挑战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212848"/>
            <a:ext cx="11109959" cy="868680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8096" y="2212848"/>
            <a:ext cx="157276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生成器未知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5456" y="2212848"/>
            <a:ext cx="303580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使用训练时未见过的 TTS/VC 算法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05856" y="2212848"/>
            <a:ext cx="198424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A01–A06（6 已知）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54696" y="2212848"/>
            <a:ext cx="198424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A07–A19（13 未知）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03536" y="2212848"/>
            <a:ext cx="170992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是否学到通用伪影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081528"/>
            <a:ext cx="11109959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8096" y="3081528"/>
            <a:ext cx="157276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设备/信道未知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05456" y="3081528"/>
            <a:ext cx="303580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不同麦克风、编码器、信道条件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05856" y="3081528"/>
            <a:ext cx="198424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特定录音条件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4696" y="3081528"/>
            <a:ext cx="198424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不同录音条件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03536" y="3081528"/>
            <a:ext cx="170992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对信道变化的鲁棒性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950208"/>
            <a:ext cx="11109959" cy="868680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8096" y="3950208"/>
            <a:ext cx="157276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环境未知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05456" y="3950208"/>
            <a:ext cx="303580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不同噪声环境、混响条件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05856" y="3950208"/>
            <a:ext cx="198424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清洁/轻度噪声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54696" y="3950208"/>
            <a:ext cx="198424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强噪声/混响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03536" y="3950208"/>
            <a:ext cx="170992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噪声掩蔽下的检测力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818888"/>
            <a:ext cx="11109959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68096" y="4818888"/>
            <a:ext cx="157276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数据集/语言未知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05456" y="4818888"/>
            <a:ext cx="303580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完全不同的数据集或语言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05856" y="4818888"/>
            <a:ext cx="198424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中文 CFAD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54696" y="4818888"/>
            <a:ext cx="198424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英文 ASVspoof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03536" y="4818888"/>
            <a:ext cx="170992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跨语言/跨域泛化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669280"/>
            <a:ext cx="11109959" cy="658367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85800" y="5669280"/>
            <a:ext cx="91440" cy="658367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41832" y="5669280"/>
            <a:ext cx="10652759" cy="658367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评估须按「已知 vs 未知」分组，避免随机切分导致的数据泄漏与性能虚高。本次 ASVspoof 2019 LA eval 全为未知攻击（A07–A19），是最严格的生成器未知设定。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6 / 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研究现状：技术发展脉络（2015 → 2024）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8368" y="1700784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58368" y="1700784"/>
            <a:ext cx="2011680" cy="896112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157984"/>
            <a:ext cx="2011680" cy="438912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737360"/>
            <a:ext cx="548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121408"/>
            <a:ext cx="182880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手工特征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7" y="2688336"/>
            <a:ext cx="1645920" cy="310896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7" y="2688336"/>
            <a:ext cx="16459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~2015–2019</a:t>
            </a:r>
          </a:p>
        </p:txBody>
      </p:sp>
      <p:sp>
        <p:nvSpPr>
          <p:cNvPr id="15" name="Diamond 14"/>
          <p:cNvSpPr/>
          <p:nvPr/>
        </p:nvSpPr>
        <p:spPr>
          <a:xfrm>
            <a:off x="836675" y="3195096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3127248"/>
            <a:ext cx="1426464" cy="51828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LFCC / CQCC 声学特征</a:t>
            </a:r>
          </a:p>
        </p:txBody>
      </p:sp>
      <p:sp>
        <p:nvSpPr>
          <p:cNvPr id="17" name="Diamond 16"/>
          <p:cNvSpPr/>
          <p:nvPr/>
        </p:nvSpPr>
        <p:spPr>
          <a:xfrm>
            <a:off x="836675" y="3841394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7280" y="3773545"/>
            <a:ext cx="1426464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+ GMM 统计后端</a:t>
            </a:r>
          </a:p>
        </p:txBody>
      </p:sp>
      <p:sp>
        <p:nvSpPr>
          <p:cNvPr id="19" name="Diamond 18"/>
          <p:cNvSpPr/>
          <p:nvPr/>
        </p:nvSpPr>
        <p:spPr>
          <a:xfrm>
            <a:off x="836675" y="4251411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" y="4183562"/>
            <a:ext cx="1426464" cy="51828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LA eval 8.09%（LFCC-GMM）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688336" y="2935224"/>
            <a:ext cx="237744" cy="457200"/>
          </a:xfrm>
          <a:prstGeom prst="rightArrow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944368" y="1700784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944368" y="1700784"/>
            <a:ext cx="2011680" cy="896112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944368" y="2157984"/>
            <a:ext cx="2011680" cy="438912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99232" y="1737360"/>
            <a:ext cx="548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35808" y="2121408"/>
            <a:ext cx="182880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浅层网络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7248" y="2688336"/>
            <a:ext cx="1645920" cy="310896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127248" y="2688336"/>
            <a:ext cx="16459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~2019–2020</a:t>
            </a:r>
          </a:p>
        </p:txBody>
      </p:sp>
      <p:sp>
        <p:nvSpPr>
          <p:cNvPr id="29" name="Diamond 28"/>
          <p:cNvSpPr/>
          <p:nvPr/>
        </p:nvSpPr>
        <p:spPr>
          <a:xfrm>
            <a:off x="3122675" y="3195096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83279" y="3127248"/>
            <a:ext cx="1426464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LCNN 轻量卷积</a:t>
            </a:r>
          </a:p>
        </p:txBody>
      </p:sp>
      <p:sp>
        <p:nvSpPr>
          <p:cNvPr id="31" name="Diamond 30"/>
          <p:cNvSpPr/>
          <p:nvPr/>
        </p:nvSpPr>
        <p:spPr>
          <a:xfrm>
            <a:off x="3122675" y="3605113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83279" y="3537264"/>
            <a:ext cx="1426464" cy="51828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特征真伪化 genuinization</a:t>
            </a:r>
          </a:p>
        </p:txBody>
      </p:sp>
      <p:sp>
        <p:nvSpPr>
          <p:cNvPr id="33" name="Diamond 32"/>
          <p:cNvSpPr/>
          <p:nvPr/>
        </p:nvSpPr>
        <p:spPr>
          <a:xfrm>
            <a:off x="3122675" y="4251411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383279" y="4183562"/>
            <a:ext cx="1426464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超越同期手工特征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4974336" y="2935224"/>
            <a:ext cx="237744" cy="457200"/>
          </a:xfrm>
          <a:prstGeom prst="rightArrow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5230368" y="1700784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230368" y="1700784"/>
            <a:ext cx="2011680" cy="896112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230368" y="2157984"/>
            <a:ext cx="2011680" cy="438912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285231" y="1737360"/>
            <a:ext cx="548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21807" y="2121408"/>
            <a:ext cx="182880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自监督前端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13248" y="2688336"/>
            <a:ext cx="1645920" cy="310896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413248" y="2688336"/>
            <a:ext cx="16459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2020–2022</a:t>
            </a:r>
          </a:p>
        </p:txBody>
      </p:sp>
      <p:sp>
        <p:nvSpPr>
          <p:cNvPr id="43" name="Diamond 42"/>
          <p:cNvSpPr/>
          <p:nvPr/>
        </p:nvSpPr>
        <p:spPr>
          <a:xfrm>
            <a:off x="5408676" y="3195096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79" y="3127248"/>
            <a:ext cx="1426464" cy="51828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wav2vec 2.0 / HuBERT / WavLM</a:t>
            </a:r>
          </a:p>
        </p:txBody>
      </p:sp>
      <p:sp>
        <p:nvSpPr>
          <p:cNvPr id="45" name="Diamond 44"/>
          <p:cNvSpPr/>
          <p:nvPr/>
        </p:nvSpPr>
        <p:spPr>
          <a:xfrm>
            <a:off x="5408676" y="3841394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669279" y="3773545"/>
            <a:ext cx="1426464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大规模无标注预训练</a:t>
            </a:r>
          </a:p>
        </p:txBody>
      </p:sp>
      <p:sp>
        <p:nvSpPr>
          <p:cNvPr id="47" name="Diamond 46"/>
          <p:cNvSpPr/>
          <p:nvPr/>
        </p:nvSpPr>
        <p:spPr>
          <a:xfrm>
            <a:off x="5408676" y="4251411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669279" y="4183562"/>
            <a:ext cx="1426464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SSL 强表征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260336" y="2935224"/>
            <a:ext cx="237744" cy="457200"/>
          </a:xfrm>
          <a:prstGeom prst="rightArrow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7516368" y="1700784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7516368" y="1700784"/>
            <a:ext cx="2011680" cy="896112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516368" y="2157984"/>
            <a:ext cx="2011680" cy="438912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571232" y="1737360"/>
            <a:ext cx="548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07808" y="2121408"/>
            <a:ext cx="182880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图注意力后端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99248" y="2688336"/>
            <a:ext cx="1645920" cy="310896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699248" y="2688336"/>
            <a:ext cx="16459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2022–2024</a:t>
            </a:r>
          </a:p>
        </p:txBody>
      </p:sp>
      <p:sp>
        <p:nvSpPr>
          <p:cNvPr id="57" name="Diamond 56"/>
          <p:cNvSpPr/>
          <p:nvPr/>
        </p:nvSpPr>
        <p:spPr>
          <a:xfrm>
            <a:off x="7694676" y="3195096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955280" y="3127248"/>
            <a:ext cx="1426464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AASIST / AASIST2</a:t>
            </a:r>
          </a:p>
        </p:txBody>
      </p:sp>
      <p:sp>
        <p:nvSpPr>
          <p:cNvPr id="59" name="Diamond 58"/>
          <p:cNvSpPr/>
          <p:nvPr/>
        </p:nvSpPr>
        <p:spPr>
          <a:xfrm>
            <a:off x="7694676" y="3605113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955280" y="3537264"/>
            <a:ext cx="1426464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异构堆叠图注意力</a:t>
            </a:r>
          </a:p>
        </p:txBody>
      </p:sp>
      <p:sp>
        <p:nvSpPr>
          <p:cNvPr id="61" name="Diamond 60"/>
          <p:cNvSpPr/>
          <p:nvPr/>
        </p:nvSpPr>
        <p:spPr>
          <a:xfrm>
            <a:off x="7694676" y="4015130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955280" y="3947281"/>
            <a:ext cx="1426464" cy="51828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单系统 LA eval 0.83%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9546336" y="2935224"/>
            <a:ext cx="237744" cy="457200"/>
          </a:xfrm>
          <a:prstGeom prst="rightArrow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9802368" y="1700784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802368" y="1700784"/>
            <a:ext cx="2011680" cy="896112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9802368" y="2157984"/>
            <a:ext cx="2011680" cy="438912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857232" y="1737360"/>
            <a:ext cx="548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93808" y="2121408"/>
            <a:ext cx="182880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参数高效微调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985248" y="2688336"/>
            <a:ext cx="1645920" cy="310896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985248" y="2688336"/>
            <a:ext cx="16459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2022–</a:t>
            </a:r>
          </a:p>
        </p:txBody>
      </p:sp>
      <p:sp>
        <p:nvSpPr>
          <p:cNvPr id="71" name="Diamond 70"/>
          <p:cNvSpPr/>
          <p:nvPr/>
        </p:nvSpPr>
        <p:spPr>
          <a:xfrm>
            <a:off x="9980676" y="3195096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241280" y="3127248"/>
            <a:ext cx="1426464" cy="51828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LoRA 低秩旁路 dW = B·A</a:t>
            </a:r>
          </a:p>
        </p:txBody>
      </p:sp>
      <p:sp>
        <p:nvSpPr>
          <p:cNvPr id="73" name="Diamond 72"/>
          <p:cNvSpPr/>
          <p:nvPr/>
        </p:nvSpPr>
        <p:spPr>
          <a:xfrm>
            <a:off x="9980676" y="3841394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10241280" y="3773545"/>
            <a:ext cx="1426464" cy="51828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冻结主体、少参数适配</a:t>
            </a:r>
          </a:p>
        </p:txBody>
      </p:sp>
      <p:sp>
        <p:nvSpPr>
          <p:cNvPr id="75" name="Diamond 74"/>
          <p:cNvSpPr/>
          <p:nvPr/>
        </p:nvSpPr>
        <p:spPr>
          <a:xfrm>
            <a:off x="9980676" y="4487692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10241280" y="4419843"/>
            <a:ext cx="1426464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本工作集成落点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58368" y="5148072"/>
            <a:ext cx="11155680" cy="822960"/>
          </a:xfrm>
          <a:prstGeom prst="roundRect">
            <a:avLst>
              <a:gd name="adj" fmla="val 6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658368" y="5148072"/>
            <a:ext cx="100584" cy="82296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914400" y="5148072"/>
            <a:ext cx="10698480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本工作 = WavLM（SSL 前端）+ AASIST（图注意力后端）+ LoRA（参数高效微调）——处于上述脉络的集成落点，兼顾精度、训练成本与未知攻击泛化。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7 / 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LITERATURE ·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相关工作对比：ASVspoof 2019 LA 上的 EER（注明…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299448" y="402336"/>
            <a:ext cx="2496312" cy="420624"/>
          </a:xfrm>
          <a:prstGeom prst="roundRect">
            <a:avLst>
              <a:gd name="adj" fmla="val 30000"/>
            </a:avLst>
          </a:prstGeom>
          <a:solidFill>
            <a:srgbClr val="D9E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299448" y="402336"/>
            <a:ext cx="91440" cy="42062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64040" y="402336"/>
            <a:ext cx="2258568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文献数据 · 公开基准（已注明划分）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64208"/>
            <a:ext cx="11064239" cy="4572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1664208"/>
            <a:ext cx="2679191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1" y="1664208"/>
            <a:ext cx="2770632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venue · 年份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1664208"/>
            <a:ext cx="3502152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ASVspoof 2019 LA EER（注明划分）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94392" y="1664208"/>
            <a:ext cx="1673352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出处(arXiv)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121408"/>
            <a:ext cx="11064239" cy="342900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19" y="2121408"/>
            <a:ext cx="2642615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LFCC-GMM（官方基线 B2）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39" y="2121408"/>
            <a:ext cx="273405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Computer Speech &amp; Language 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21408"/>
            <a:ext cx="346557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dev 2.71% / eval 8.09%（pooled）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2121408"/>
            <a:ext cx="163677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1911.01601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464308"/>
            <a:ext cx="110642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19" y="2464308"/>
            <a:ext cx="2642615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CQCC-GMM（官方基线 B1）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39" y="2464308"/>
            <a:ext cx="273405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Computer Speech &amp; Language 2020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464308"/>
            <a:ext cx="346557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dev 0.43% / eval 9.57%（pooled）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2464308"/>
            <a:ext cx="163677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1911.01601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807208"/>
            <a:ext cx="11064239" cy="342900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19" y="2807208"/>
            <a:ext cx="2642615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LCNN + genuinization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39" y="2807208"/>
            <a:ext cx="273405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Interspeech 2020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807208"/>
            <a:ext cx="346557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未核实具体数值（声称优于当时 SOTA）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807208"/>
            <a:ext cx="163677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2009.09637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3150108"/>
            <a:ext cx="110642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19" y="3150108"/>
            <a:ext cx="2642615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HuBERT（SSL 前端）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39" y="3150108"/>
            <a:ext cx="273405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IEEE/ACM TASLP 2021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150108"/>
            <a:ext cx="346557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不适用（表征学习论文）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12680" y="3150108"/>
            <a:ext cx="163677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2106.07447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3493008"/>
            <a:ext cx="11064239" cy="342900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1519" y="3493008"/>
            <a:ext cx="2642615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WavLM（本工作前端）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0439" y="3493008"/>
            <a:ext cx="273405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IEEE JSTSP 2022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493008"/>
            <a:ext cx="346557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不适用（预训练表征论文）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3493008"/>
            <a:ext cx="163677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2110.13900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835908"/>
            <a:ext cx="110642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31519" y="3835908"/>
            <a:ext cx="2642615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AASIST（本工作后端）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0439" y="3835908"/>
            <a:ext cx="273405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ICASSP 2022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3835908"/>
            <a:ext cx="346557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eval 0.83%（min t-DCF 0.0275，pooled）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680" y="3835908"/>
            <a:ext cx="163677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2110.01200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4178808"/>
            <a:ext cx="11064239" cy="342900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1519" y="4178808"/>
            <a:ext cx="2642615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SS-AASIST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0439" y="4178808"/>
            <a:ext cx="273405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Odyssey 2022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178808"/>
            <a:ext cx="346557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未报告 2019 LA（报告 2021 LA/DF 最低）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12680" y="4178808"/>
            <a:ext cx="163677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2202.12233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" y="4521708"/>
            <a:ext cx="110642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31519" y="4521708"/>
            <a:ext cx="2642615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LoRA（本工作微调）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0439" y="4521708"/>
            <a:ext cx="273405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ICLR 2022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4521708"/>
            <a:ext cx="346557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不适用（通用 PEFT 方法论文）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12680" y="4521708"/>
            <a:ext cx="163677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2106.09685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4864608"/>
            <a:ext cx="11064239" cy="342900"/>
          </a:xfrm>
          <a:prstGeom prst="rect">
            <a:avLst/>
          </a:prstGeom>
          <a:solidFill>
            <a:srgbClr val="F8E9DA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58368" y="4864608"/>
            <a:ext cx="82296" cy="34290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31519" y="4864608"/>
            <a:ext cx="2642615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本工作（全量 71k eval）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20439" y="4864608"/>
            <a:ext cx="273405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4864608"/>
            <a:ext cx="346557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eval 全未知 EER 2.03%（dev 0.46%）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12680" y="4864608"/>
            <a:ext cx="1636776" cy="3429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58368" y="5335524"/>
            <a:ext cx="11064239" cy="786384"/>
          </a:xfrm>
          <a:prstGeom prst="roundRect">
            <a:avLst>
              <a:gd name="adj" fmla="val 6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658368" y="5335524"/>
            <a:ext cx="100584" cy="78638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14400" y="5335524"/>
            <a:ext cx="10607039" cy="7863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口径提醒：本工作 dev 0.46%、AASIST eval 0.83%，划分不同不可直接判优；本工作 eval 2.03% 为全量 71,237 条（全部未知攻击 A07–A19），早期 5,000 条子集口径为 1.89%。基线均为 pooled 全部攻击口径。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8 / 47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MODEL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模型总览：检测系统整体流水线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546336" y="402336"/>
            <a:ext cx="2249424" cy="420624"/>
          </a:xfrm>
          <a:prstGeom prst="roundRect">
            <a:avLst>
              <a:gd name="adj" fmla="val 30000"/>
            </a:avLst>
          </a:prstGeom>
          <a:solidFill>
            <a:srgbClr val="D9E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546336" y="402336"/>
            <a:ext cx="91440" cy="42062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10928" y="402336"/>
            <a:ext cx="201168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论文级模型结构图 · 答辩讲解用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7168896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odel_architecture_21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389414"/>
            <a:ext cx="6949440" cy="2746683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76656" y="5797296"/>
            <a:ext cx="69494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A　端到端整体流水线（论文级模型结构总图）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7" y="1719072"/>
            <a:ext cx="3822192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要点解读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3567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91855" y="2448275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7888" y="2359152"/>
            <a:ext cx="3547872" cy="8136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语音波形 → WavLM 前端得特征序列 [B, T, D] → AASIST 后端建模时/频域伪影 → bonafide/spoof 打分。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1855" y="3435644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47888" y="3346521"/>
            <a:ext cx="354787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LoRA 以旁路方式挂在前端做低成本微调；前端懂声音、后端辨真伪、花小钱办大事。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1855" y="4167042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47888" y="4077919"/>
            <a:ext cx="3547872" cy="8136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零基础类比：验钞机——摄像头读纹理（前端）、比对模块判真伪（后端）、换个小芯片适配新版（LoRA）。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9 / 47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MODEL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前端与后端：WavLM 预训练 · AASIST 图注意力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546336" y="402336"/>
            <a:ext cx="2249424" cy="420624"/>
          </a:xfrm>
          <a:prstGeom prst="roundRect">
            <a:avLst>
              <a:gd name="adj" fmla="val 30000"/>
            </a:avLst>
          </a:prstGeom>
          <a:solidFill>
            <a:srgbClr val="D9E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546336" y="402336"/>
            <a:ext cx="91440" cy="42062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10928" y="402336"/>
            <a:ext cx="201168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论文级模型结构图 · 答辩讲解用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903720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frontend_comparison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923446"/>
            <a:ext cx="3323844" cy="1578034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pic>
        <p:nvPicPr>
          <p:cNvPr id="13" name="Picture 12" descr="module_graph_attention_21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6532" y="2989132"/>
            <a:ext cx="3323844" cy="1446663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76656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B　SSL(WavLM) 前端 vs SincConv+ResBlock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6532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C　AASIST 多头图注意力层（GraphAttentionLayer）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4696" y="1719072"/>
            <a:ext cx="3941064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要点解读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72983" y="244335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29016" y="2359152"/>
            <a:ext cx="3666744" cy="784097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WavLM：HuBERT 式掩码预测 + 重叠语音去噪预训练 + 门控相对位置偏置，对伪造/信道伪影更敏感（JSTSP 2022）。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72983" y="339204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29016" y="3307841"/>
            <a:ext cx="3666744" cy="784097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AASIST：特征序列拆为频域/时域图节点 → 异构堆叠图注意力(HGAT) → max-graph 竞争 + 扩展 readout → GraphPool 池化（ICASSP 2022）。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72983" y="4340732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29016" y="4256531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轻量版 AASIST-L 仅约 85K 参数；图结构显式建模跨时/频依赖，比单纯堆卷积更能抓全局伪影。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72983" y="5043296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29016" y="4959096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类比：嘈杂菜市场里练听清一个人（WavLM）；把可疑点连成关系网判真伪（AASIST）。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10 / 47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MODEL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参数高效微调：LoRA 低秩旁路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546336" y="402336"/>
            <a:ext cx="2249424" cy="420624"/>
          </a:xfrm>
          <a:prstGeom prst="roundRect">
            <a:avLst>
              <a:gd name="adj" fmla="val 30000"/>
            </a:avLst>
          </a:prstGeom>
          <a:solidFill>
            <a:srgbClr val="D9E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546336" y="402336"/>
            <a:ext cx="91440" cy="42062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10928" y="402336"/>
            <a:ext cx="201168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论文级模型结构图 · 答辩讲解用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986016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odule_layer_aggregation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092060"/>
            <a:ext cx="6766560" cy="3341391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76656" y="5797296"/>
            <a:ext cx="676656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D　SSL 前端加权层聚合（LoRA 适配器注入位置）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719072"/>
            <a:ext cx="4005072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要点解读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90688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808975" y="2448275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65008" y="2359152"/>
            <a:ext cx="3730752" cy="8136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冻结的预训练权重 W(d×d) 旁并联小矩阵 B(d×r)、A(r×d)，前向 h = Wx + BAx，秩 r 远小于 d。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08975" y="3435644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65008" y="3346521"/>
            <a:ext cx="3730752" cy="8136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本项目 rank=8、alpha=16，可训练参数约占 0.5%；推理可将 BA 合并回 W，无额外延迟（LoRA，ICLR 2022）。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08975" y="442301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65008" y="4333890"/>
            <a:ext cx="373075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避免全量微调的高显存与灾难性遗忘；类比：不重装整栋房子，只贴一张可拆卸智能壁纸。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11 / 47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MODEL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核心概念：EER 指标 · 已知/未知攻击泛化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30568" y="402336"/>
            <a:ext cx="4965192" cy="420624"/>
          </a:xfrm>
          <a:prstGeom prst="roundRect">
            <a:avLst>
              <a:gd name="adj" fmla="val 30000"/>
            </a:avLst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30568" y="402336"/>
            <a:ext cx="91440" cy="420624"/>
          </a:xfrm>
          <a:prstGeom prst="rect">
            <a:avLst/>
          </a:prstGeom>
          <a:solidFill>
            <a:srgbClr val="1E6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95159" y="402336"/>
            <a:ext cx="4727448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B45"/>
                </a:solidFill>
                <a:latin typeface="PingFang SC"/>
                <a:ea typeface="PingFang SC"/>
                <a:cs typeface="PingFang SC"/>
              </a:rPr>
              <a:t>真实结果 · ASVspoof 2019 LA 全量 71k（A10 实测）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903720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2_score_distribution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3036615"/>
            <a:ext cx="3323844" cy="1351696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pic>
        <p:nvPicPr>
          <p:cNvPr id="13" name="Picture 12" descr="06_per_attack_heatmap_21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4596" y="1792224"/>
            <a:ext cx="3207715" cy="3840480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76656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E　真/伪打分分布与 EER 交叉点（全量 71k 实测）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6532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F　逐攻击指标热力图（未知攻击泛化，全量 71k）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4696" y="1719072"/>
            <a:ext cx="3941064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要点解读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72983" y="244335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29016" y="2359152"/>
            <a:ext cx="3666744" cy="784097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EER：真(bona fide)与伪(spoof)打分分布的交叉点，此时 FRR=FAR；越低说明两类分得越开、系统越可靠。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72983" y="339204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29016" y="3307841"/>
            <a:ext cx="3666744" cy="784097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子课题三问题：训练只见已知攻击 A01–A06，测试要应对未知攻击 A07–A19，乃至跨录音条件/跨语言的其他数据集。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72983" y="4340732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29016" y="4256531"/>
            <a:ext cx="3666744" cy="784097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这正是 ASVspoof 2019 LA 官方设定（eval 不含 A01–A06），也是综述公认痛点「对未知攻击泛化差」。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72983" y="5289422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29016" y="5205221"/>
            <a:ext cx="3666744" cy="784097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类比：调安检门灵敏度（EER）；只教过几种假币模板，考试却来全新工艺，靠共性而非背模板判断（未知泛化）。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12 / 47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ARCHITECTURE ·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总体技术路线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546336" y="402336"/>
            <a:ext cx="2249424" cy="420624"/>
          </a:xfrm>
          <a:prstGeom prst="roundRect">
            <a:avLst>
              <a:gd name="adj" fmla="val 30000"/>
            </a:avLst>
          </a:prstGeom>
          <a:solidFill>
            <a:srgbClr val="D9E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546336" y="402336"/>
            <a:ext cx="91440" cy="42062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10928" y="402336"/>
            <a:ext cx="201168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论文级模型结构图 · 答辩讲解用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7168896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odel_architecture_21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389414"/>
            <a:ext cx="6949440" cy="2746683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76656" y="5797296"/>
            <a:ext cx="69494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1　三层检测框架总体架构（端到端主线）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7" y="1719072"/>
            <a:ext cx="3822192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架构解读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3567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91855" y="2448275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7888" y="2359152"/>
            <a:ext cx="354787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采用「SSL 预训练前端 + AASIST 图注意力后端 + LoRA 高效微调」三层架构。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1855" y="317967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47888" y="3090550"/>
            <a:ext cx="354787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前端 WavLM-Large 输出 [B, T, 1024] 隐状态，经加权层聚合融合 24 层信息。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1855" y="3911071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47888" y="3821948"/>
            <a:ext cx="354787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后端 AASIST 对频谱-时序建模，输出 [B, 2] logits（bonafide / spoof）。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5" y="4642469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7888" y="4553346"/>
            <a:ext cx="354787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LoRA 仅在冻结前端上注入低秩适配器，后端全量训练，兼顾效果与开销。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91855" y="5373867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47888" y="5284744"/>
            <a:ext cx="354787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模块化设计：前端 / 后端 / 微调 / 泛化策略可独立替换，便于消融对比。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13 / 47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ARCHITECTURE ·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SSL 自监督前端原理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546336" y="402336"/>
            <a:ext cx="2249424" cy="420624"/>
          </a:xfrm>
          <a:prstGeom prst="roundRect">
            <a:avLst>
              <a:gd name="adj" fmla="val 30000"/>
            </a:avLst>
          </a:prstGeom>
          <a:solidFill>
            <a:srgbClr val="D9E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546336" y="402336"/>
            <a:ext cx="91440" cy="42062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10928" y="402336"/>
            <a:ext cx="201168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论文级模型结构图 · 答辩讲解用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620256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odule_layer_aggregation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182368"/>
            <a:ext cx="6400800" cy="3160776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76656" y="5797296"/>
            <a:ext cx="64008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2　25 路 softmax 加权层聚合（Weighted Layer Aggregation）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4928" y="1719072"/>
            <a:ext cx="4370831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前端解读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24928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43216" y="2438430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99248" y="2359152"/>
            <a:ext cx="4096511" cy="51828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自监督预训练：在海量无标注语音上学习通用声学表征，迁移到伪造检测只需少量标注。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43216" y="3048152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99248" y="2968873"/>
            <a:ext cx="4096511" cy="51828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WavLM-Large：24 层 Transformer、1024 维隐状态，在约 94k 小时语音上预训练。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43216" y="3657874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99248" y="3578595"/>
            <a:ext cx="4096511" cy="51828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XLS-R-300M（备选）：Meta 跨语言模型，覆盖 128 种语言，利于跨语言泛化。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43216" y="4267596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99248" y="4188317"/>
            <a:ext cx="4096511" cy="51828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浅层偏声学细节、深层偏语义，各层对伪造伪影判别力不同。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43216" y="4877318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699248" y="4798039"/>
            <a:ext cx="4096511" cy="51828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加权层聚合：对所有隐层输出做可学习权重的加权求和，权重经 softmax 归一化，训练中自动分配。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43216" y="5487040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99248" y="5407761"/>
            <a:ext cx="4096511" cy="51828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自动发现最具判别力的层级组合；相比只取最后一层，能同时利用低层伪影与高层语义。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43216" y="6096762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99248" y="6017483"/>
            <a:ext cx="4096511" cy="51828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前端默认冻结，仅训练聚合权重 + LoRA，防止灾难性遗忘。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14 / 47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ARCHITECTURE ·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前端选型依据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700784"/>
            <a:ext cx="11109960" cy="51206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" y="1700784"/>
            <a:ext cx="263347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前端模型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3864" y="1700784"/>
            <a:ext cx="1764791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隐层维度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58383" y="1700784"/>
            <a:ext cx="2221991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语言覆盖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0104" y="1700784"/>
            <a:ext cx="1856231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预训练规模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6064" y="1700784"/>
            <a:ext cx="2084831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选用定位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212848"/>
            <a:ext cx="11109960" cy="868680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8096" y="2212848"/>
            <a:ext cx="257860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WavLM-Large（默认）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2212848"/>
            <a:ext cx="170992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1024 / 24 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5816" y="2212848"/>
            <a:ext cx="2167127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以英文为主、通用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2212848"/>
            <a:ext cx="180136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约 94k 小时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83496" y="2212848"/>
            <a:ext cx="2029967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中文主测默认前端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081528"/>
            <a:ext cx="111099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8096" y="3081528"/>
            <a:ext cx="257860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XLS-R-300M（备选）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3081528"/>
            <a:ext cx="170992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1024 / 24 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85816" y="3081528"/>
            <a:ext cx="2167127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128 种语言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17536" y="3081528"/>
            <a:ext cx="180136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大规模多语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3496" y="3081528"/>
            <a:ext cx="2029967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跨语言泛化对照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950208"/>
            <a:ext cx="11109960" cy="868680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8096" y="3950208"/>
            <a:ext cx="257860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HuBERT-Large（对照）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11296" y="3950208"/>
            <a:ext cx="170992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1024 / 24 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85816" y="3950208"/>
            <a:ext cx="2167127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以英文为主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17536" y="3950208"/>
            <a:ext cx="1801368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60k 小时(LL60k)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3496" y="3950208"/>
            <a:ext cx="2029967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消融对照基线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001768"/>
            <a:ext cx="11109960" cy="822960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85800" y="5001768"/>
            <a:ext cx="91440" cy="82296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41832" y="5001768"/>
            <a:ext cx="10652760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选型依据：文献参考 Chen et al.(2022) WavLM 在 ASVspoof 2019 LA 达 EER≈1%；最终以跨数据集均值 EER 实测确定，属设计选型。本工作已在 ASVspoof 2019 LA 全量 71k eval（全未知攻击）上以 WavLM+LoRA+AASIST 取得 EER 2.03% / AUC 0.9890 的真实实测结果，验证该前端选型有效。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15 / 47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ARCHITECTURE ·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AASIST 图注意力后端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546336" y="402336"/>
            <a:ext cx="2249424" cy="420624"/>
          </a:xfrm>
          <a:prstGeom prst="roundRect">
            <a:avLst>
              <a:gd name="adj" fmla="val 30000"/>
            </a:avLst>
          </a:prstGeom>
          <a:solidFill>
            <a:srgbClr val="D9E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546336" y="402336"/>
            <a:ext cx="91440" cy="42062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10928" y="402336"/>
            <a:ext cx="201168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论文级模型结构图 · 答辩讲解用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903720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odule_graph_attention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989132"/>
            <a:ext cx="3323844" cy="1446663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pic>
        <p:nvPicPr>
          <p:cNvPr id="13" name="Picture 12" descr="module_htrg_21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6532" y="2989132"/>
            <a:ext cx="3323844" cy="1446663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76656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3　GraphAttentionLayer 多头图注意力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6532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4　HTRG 异质跨分支图注意力（双向 spectral↔temporal）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4696" y="1719072"/>
            <a:ext cx="3941064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后端解读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72983" y="244335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29016" y="2359152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AASIST（Jung et al., ICASSP 2022）：集成频谱-时序图注意力网络，是反欺骗强基线。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72983" y="3072765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29016" y="2988564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前端 SincFilter 组 + ResNet 提取原始波形局部特征，构成图的节点表征。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72983" y="3702177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29016" y="3617976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双分支建模：频谱图分支捕捉频域伪影，时序图分支捕捉时域不连续。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72983" y="4331589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29016" y="4247388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异质图注意力(HTRG)：在 spectral↔temporal 节点间双向学习注意力，聚合邻域判别信息。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983" y="4961001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29016" y="4876800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图池化（Graph Pooling）逐层聚合节点到图级表示，最终输出二分类 logits。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72983" y="559041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129016" y="5506212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选用理由：图结构天然建模频谱-时序长程依赖，对未见生成器的伪影更敏感。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16 / 47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ARCHITECTURE ·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LoRA 参数高效微调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546336" y="402336"/>
            <a:ext cx="2249424" cy="420624"/>
          </a:xfrm>
          <a:prstGeom prst="roundRect">
            <a:avLst>
              <a:gd name="adj" fmla="val 30000"/>
            </a:avLst>
          </a:prstGeom>
          <a:solidFill>
            <a:srgbClr val="D9E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546336" y="402336"/>
            <a:ext cx="91440" cy="42062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10928" y="402336"/>
            <a:ext cx="201168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论文级模型结构图 · 答辩讲解用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37360"/>
            <a:ext cx="640080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LoRA 原理与注入位置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139696"/>
            <a:ext cx="777240" cy="457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" y="2398334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" y="2304288"/>
            <a:ext cx="6126480" cy="577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LoRA（Hu et al., ICLR 2022）：冻结预训练权重，在旁路注入低秩矩阵 A·B 学习增量。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158566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7552" y="3064520"/>
            <a:ext cx="6126480" cy="3115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本系统仅在 SSL 前端注意力的 q_proj / v_proj 注入适配器。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652982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" y="3558936"/>
            <a:ext cx="6126480" cy="3115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前向 h = Wx + (alpha/rank)·BAx；推理可将 BA 合并回 W，无额外延迟。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147398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87552" y="4053352"/>
            <a:ext cx="6126480" cy="577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为何用它：小样本域自适应时，少量参数微调可减轻对预训练表征的破坏，抑制灾难性遗忘。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737360"/>
            <a:ext cx="4251960" cy="3968496"/>
          </a:xfrm>
          <a:prstGeom prst="roundRect">
            <a:avLst>
              <a:gd name="adj" fmla="val 6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360920" y="1737360"/>
            <a:ext cx="4251960" cy="566928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360920" y="2011680"/>
            <a:ext cx="4251960" cy="292608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580376" y="1737360"/>
            <a:ext cx="3886200" cy="56692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配置与开销（真实）</a:t>
            </a:r>
          </a:p>
        </p:txBody>
      </p:sp>
      <p:sp>
        <p:nvSpPr>
          <p:cNvPr id="25" name="Diamond 24"/>
          <p:cNvSpPr/>
          <p:nvPr/>
        </p:nvSpPr>
        <p:spPr>
          <a:xfrm>
            <a:off x="7612380" y="2578227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72984" y="2505456"/>
            <a:ext cx="3520440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rank = 8，alpha = 16（实际缩放 alpha/rank = 2）。</a:t>
            </a:r>
          </a:p>
        </p:txBody>
      </p:sp>
      <p:sp>
        <p:nvSpPr>
          <p:cNvPr id="27" name="Diamond 26"/>
          <p:cNvSpPr/>
          <p:nvPr/>
        </p:nvSpPr>
        <p:spPr>
          <a:xfrm>
            <a:off x="7612380" y="3299079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72984" y="3226308"/>
            <a:ext cx="3520440" cy="291845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dropout = 0.05。</a:t>
            </a:r>
          </a:p>
        </p:txBody>
      </p:sp>
      <p:sp>
        <p:nvSpPr>
          <p:cNvPr id="29" name="Diamond 28"/>
          <p:cNvSpPr/>
          <p:nvPr/>
        </p:nvSpPr>
        <p:spPr>
          <a:xfrm>
            <a:off x="7612380" y="3773805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72984" y="3701033"/>
            <a:ext cx="3520440" cy="291845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可训练参数约 2M，仅占前端总参数约 0.5%。</a:t>
            </a:r>
          </a:p>
        </p:txBody>
      </p:sp>
      <p:sp>
        <p:nvSpPr>
          <p:cNvPr id="31" name="Diamond 30"/>
          <p:cNvSpPr/>
          <p:nvPr/>
        </p:nvSpPr>
        <p:spPr>
          <a:xfrm>
            <a:off x="7612380" y="4248531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72984" y="4175760"/>
            <a:ext cx="3520440" cy="291845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显著降低显存与训练开销。</a:t>
            </a:r>
          </a:p>
        </p:txBody>
      </p:sp>
      <p:sp>
        <p:nvSpPr>
          <p:cNvPr id="33" name="Diamond 32"/>
          <p:cNvSpPr/>
          <p:nvPr/>
        </p:nvSpPr>
        <p:spPr>
          <a:xfrm>
            <a:off x="7612380" y="4723257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872984" y="4650486"/>
            <a:ext cx="3520440" cy="291845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与加权层聚合权重联合训练，前端主体冻结。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705856"/>
            <a:ext cx="10972800" cy="621792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85800" y="5705856"/>
            <a:ext cx="91440" cy="6217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2688" y="5705856"/>
            <a:ext cx="10515600" cy="62179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LoRA 是「五种泛化策略」中 MLDG + LoRA（mldg_lora.yaml）的核心组件，兼具参数高效与跨域泛化双重作用，详见方法章节。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17 / 47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METHOD ·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域泛化策略总览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700784"/>
            <a:ext cx="11109959" cy="51206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" y="1700784"/>
            <a:ext cx="203911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9504" y="1700784"/>
            <a:ext cx="299923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8464" y="1700784"/>
            <a:ext cx="341071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核心原理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8904" y="1700784"/>
            <a:ext cx="2221991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配置文件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212848"/>
            <a:ext cx="11109959" cy="749808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8096" y="2212848"/>
            <a:ext cx="198424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Single ERM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6936" y="2212848"/>
            <a:ext cx="294436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单数据集经验风险最小化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25896" y="2212848"/>
            <a:ext cx="335584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基线方法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46336" y="2212848"/>
            <a:ext cx="2167127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single_erm.yaml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962656"/>
            <a:ext cx="1110995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" y="2962656"/>
            <a:ext cx="198424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Multi ERM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6936" y="2962656"/>
            <a:ext cx="294436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多数据集混合训练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25896" y="2962656"/>
            <a:ext cx="335584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增加训练域多样性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46336" y="2962656"/>
            <a:ext cx="2167127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multi_erm.yaml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12463"/>
            <a:ext cx="11109959" cy="749808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68096" y="3712463"/>
            <a:ext cx="198424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RawBoost 增强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16936" y="3712463"/>
            <a:ext cx="294436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原始波形域数据增强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25896" y="3712463"/>
            <a:ext cx="335584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编解码 / 加噪 / 混响模拟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46336" y="3712463"/>
            <a:ext cx="2167127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augmentation.yaml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462272"/>
            <a:ext cx="1110995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8096" y="4462272"/>
            <a:ext cx="198424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MLDG + LoRA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16936" y="4462272"/>
            <a:ext cx="294436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元学习域泛化 + LoRA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25896" y="4462272"/>
            <a:ext cx="335584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一阶 MLDG 优化泛化梯度方向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46336" y="4462272"/>
            <a:ext cx="2167127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mldg_lora.yaml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5212080"/>
            <a:ext cx="11109959" cy="749808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68096" y="5212080"/>
            <a:ext cx="198424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SAM 优化器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16936" y="5212080"/>
            <a:ext cx="294436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尖锐度感知最小化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25896" y="5212080"/>
            <a:ext cx="3355848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寻找平坦极小值提升泛化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46336" y="5212080"/>
            <a:ext cx="2167127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sam_multi.yaml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669280"/>
            <a:ext cx="11109959" cy="658367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85800" y="5669280"/>
            <a:ext cx="91440" cy="658367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41832" y="5669280"/>
            <a:ext cx="10652759" cy="658367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五种策略构成消融梯度：从单域基线 → 多域混合 → 数据增强 → 元学习 / 平坦极小值，逐步逼近跨域鲁棒。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18 / 47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METHOD ·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MLDG 元学习域泛化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546336" y="402336"/>
            <a:ext cx="2249424" cy="420624"/>
          </a:xfrm>
          <a:prstGeom prst="roundRect">
            <a:avLst>
              <a:gd name="adj" fmla="val 30000"/>
            </a:avLst>
          </a:prstGeom>
          <a:solidFill>
            <a:srgbClr val="D9E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546336" y="402336"/>
            <a:ext cx="91440" cy="42062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10928" y="402336"/>
            <a:ext cx="201168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论文级模型结构图 · 答辩讲解用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894576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ethod_mldg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069822"/>
            <a:ext cx="6675120" cy="3385866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76656" y="5797296"/>
            <a:ext cx="66751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5　MLDG 元学习训练流程（一阶近似）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1719072"/>
            <a:ext cx="4096512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方法解读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9248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17536" y="2448275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73568" y="2359152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MLDG（Li et al., AAAI 2018）：Meta-Learning via Deep Gradient Descent。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17536" y="317967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73568" y="3090550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每个 batch 把域划分为「元训练域」与「元测试域」，模拟训练/未见域的迁移。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17536" y="3911071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73568" y="3821948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在元训练域上做梯度步，要求该步同时降低元测试域损失，即优化泛化梯度方向。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17536" y="4642469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73568" y="4553346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本系统实现其一阶近似版本，避免二阶梯度开销，配合 LoRA 在多数据集上联合训练。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17536" y="5373867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73568" y="5284744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目标：让模型学到跨域共享的伪造伪影，而非单一数据集的捷径特征。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19 / 47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METHOD ·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SAM 尖锐度感知最小化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546336" y="402336"/>
            <a:ext cx="2249424" cy="420624"/>
          </a:xfrm>
          <a:prstGeom prst="roundRect">
            <a:avLst>
              <a:gd name="adj" fmla="val 30000"/>
            </a:avLst>
          </a:prstGeom>
          <a:solidFill>
            <a:srgbClr val="D9E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546336" y="402336"/>
            <a:ext cx="91440" cy="42062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10928" y="402336"/>
            <a:ext cx="201168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论文级模型结构图 · 答辩讲解用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894576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ethod_sam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068328"/>
            <a:ext cx="6675120" cy="3388854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76656" y="5797296"/>
            <a:ext cx="66751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6　SAM 平坦极小值优化示意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1719072"/>
            <a:ext cx="4096512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方法解读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9248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17536" y="2448275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73568" y="2359152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SAM（Foret et al., ICLR 2021）：Sharpness-Aware Minimization。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17536" y="317967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73568" y="3090550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同时最小化损失值与损失曲面尖锐度，寻找邻域内都较低的「平坦极小值」。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17536" y="3911071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73568" y="3821948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两步梯度：先在 ρ 邻域内求最坏扰动点，再在该点计算梯度更新原参数。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17536" y="4642469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73568" y="4553346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平坦极小值对分布偏移更不敏感，从而提升跨数据集泛化。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17536" y="5373867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73568" y="5284744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本系统作为单数据集 ERM 的替代训练策略（sam_multi.yaml）。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20 / 47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METHOD ·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数据增强策略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546336" y="402336"/>
            <a:ext cx="2249424" cy="420624"/>
          </a:xfrm>
          <a:prstGeom prst="roundRect">
            <a:avLst>
              <a:gd name="adj" fmla="val 30000"/>
            </a:avLst>
          </a:prstGeom>
          <a:solidFill>
            <a:srgbClr val="D9E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546336" y="402336"/>
            <a:ext cx="91440" cy="42062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10928" y="402336"/>
            <a:ext cx="201168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论文级模型结构图 · 答辩讲解用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894576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ethod_augment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120599"/>
            <a:ext cx="6675120" cy="3284312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76656" y="5797296"/>
            <a:ext cx="66751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7　波形域 / 频谱域数据增强流水线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1719072"/>
            <a:ext cx="4096512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方法解读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9248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17536" y="2448275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73568" y="2359152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RawBoost（Tak et al., ICASSP 2022）：在原始波形域做增强，直接对抗生成器差异。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17536" y="317967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73568" y="3090550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编解码增强：模拟不同编码器/比特率留下的信道痕迹，提升对设备/信道未知的鲁棒性。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17536" y="3911071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73568" y="3821948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噪声注入 + RIR 混响：覆盖多样声学环境，缓解「环境未知」下的性能塌陷。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17536" y="4642469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73568" y="4553346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SpecAugment：频谱时频掩码，正则化后端、抑制对固定频段捷径的依赖。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17536" y="5373867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73568" y="5284744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作用：在无法穷举真实攻击时，用增强扩充训练分布，逼近未知场景。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21 / 47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DATA ·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研究数据集与用途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700784"/>
            <a:ext cx="11109960" cy="51206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" y="1700784"/>
            <a:ext cx="226771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数据集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8104" y="1700784"/>
            <a:ext cx="126187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语言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9703" y="1700784"/>
            <a:ext cx="318211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攻击类型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81544" y="1700784"/>
            <a:ext cx="107899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分类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0264" y="1700784"/>
            <a:ext cx="277063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212848"/>
            <a:ext cx="11109960" cy="822960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8096" y="2212848"/>
            <a:ext cx="221284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CFAD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45536" y="2212848"/>
            <a:ext cx="120700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2212848"/>
            <a:ext cx="312724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12 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8975" y="2212848"/>
            <a:ext cx="102412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2212848"/>
            <a:ext cx="271576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主训练集 · 中文核心评估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035808"/>
            <a:ext cx="111099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8096" y="3035808"/>
            <a:ext cx="221284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ADD 2023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45536" y="3035808"/>
            <a:ext cx="120700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中文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7136" y="3035808"/>
            <a:ext cx="312724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多种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8975" y="3035808"/>
            <a:ext cx="102412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DF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7696" y="3035808"/>
            <a:ext cx="271576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中文跨域验证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858768"/>
            <a:ext cx="11109960" cy="822960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8096" y="3858768"/>
            <a:ext cx="221284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ASVspoof 2019 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45536" y="3858768"/>
            <a:ext cx="120700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英文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7136" y="3858768"/>
            <a:ext cx="312724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19 种（6 已知 + 13 未知）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08975" y="3858768"/>
            <a:ext cx="102412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97696" y="3858768"/>
            <a:ext cx="271576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跨语言泛化评估 · 本次全量实测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681728"/>
            <a:ext cx="111099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68096" y="4681728"/>
            <a:ext cx="221284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VoiceWukong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45536" y="4681728"/>
            <a:ext cx="120700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中英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7136" y="4681728"/>
            <a:ext cx="312724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大规模多场景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08975" y="4681728"/>
            <a:ext cx="102412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DF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7696" y="4681728"/>
            <a:ext cx="2715768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补充评估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669280"/>
            <a:ext cx="11109960" cy="658367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85800" y="5669280"/>
            <a:ext cx="91440" cy="658367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41832" y="5669280"/>
            <a:ext cx="10652760" cy="658367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统一预处理：ffmpeg 转 16 kHz 单声道 WAV，复制 protocol 文件；特征写入 FeatureCache，支持多卡分片提取。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22 / 47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DATA ·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音频数据集介绍：ASVspoof 2019 LA 与四配置数据集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30568" y="402336"/>
            <a:ext cx="4965192" cy="420624"/>
          </a:xfrm>
          <a:prstGeom prst="roundRect">
            <a:avLst>
              <a:gd name="adj" fmla="val 30000"/>
            </a:avLst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30568" y="402336"/>
            <a:ext cx="91440" cy="420624"/>
          </a:xfrm>
          <a:prstGeom prst="rect">
            <a:avLst/>
          </a:prstGeom>
          <a:solidFill>
            <a:srgbClr val="1E6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95159" y="402336"/>
            <a:ext cx="4727448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B45"/>
                </a:solidFill>
                <a:latin typeface="PingFang SC"/>
                <a:ea typeface="PingFang SC"/>
                <a:cs typeface="PingFang SC"/>
              </a:rPr>
              <a:t>真实结果 · ASVspoof 2019 LA 全量 71k（A10 实测）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627632"/>
            <a:ext cx="73152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ASVspoof 2019 LA · eval 全量（本次实测口径）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048256"/>
            <a:ext cx="1691639" cy="1170432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" y="2048256"/>
            <a:ext cx="1691639" cy="82296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581912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71,237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798064"/>
            <a:ext cx="1581912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eval 总条数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51176" y="2048256"/>
            <a:ext cx="1691639" cy="1170432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551176" y="2048256"/>
            <a:ext cx="1691639" cy="82296"/>
          </a:xfrm>
          <a:prstGeom prst="rect">
            <a:avLst/>
          </a:prstGeom>
          <a:solidFill>
            <a:srgbClr val="1E7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06040" y="2231136"/>
            <a:ext cx="1581912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E7A4C"/>
                </a:solidFill>
                <a:latin typeface="PingFang SC"/>
                <a:ea typeface="PingFang SC"/>
                <a:cs typeface="PingFang SC"/>
              </a:rPr>
              <a:t>7,355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2798064"/>
            <a:ext cx="1581912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bonafide 真人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3983" y="2048256"/>
            <a:ext cx="1691639" cy="1170432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443983" y="2048256"/>
            <a:ext cx="1691639" cy="82296"/>
          </a:xfrm>
          <a:prstGeom prst="rect">
            <a:avLst/>
          </a:prstGeom>
          <a:solidFill>
            <a:srgbClr val="B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98847" y="2231136"/>
            <a:ext cx="1581912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B02A2A"/>
                </a:solidFill>
                <a:latin typeface="PingFang SC"/>
                <a:ea typeface="PingFang SC"/>
                <a:cs typeface="PingFang SC"/>
              </a:rPr>
              <a:t>63,882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8847" y="2798064"/>
            <a:ext cx="1581912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spoof 伪造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36791" y="2048256"/>
            <a:ext cx="1691639" cy="1170432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36791" y="2048256"/>
            <a:ext cx="1691639" cy="82296"/>
          </a:xfrm>
          <a:prstGeom prst="rect">
            <a:avLst/>
          </a:prstGeom>
          <a:solidFill>
            <a:srgbClr val="B55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91655" y="2231136"/>
            <a:ext cx="1581912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13 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5" y="2798064"/>
            <a:ext cx="1581912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未知攻击 A07–A19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2048256"/>
            <a:ext cx="1691639" cy="1170432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29600" y="2048256"/>
            <a:ext cx="1691639" cy="82296"/>
          </a:xfrm>
          <a:prstGeom prst="rect">
            <a:avLst/>
          </a:prstGeom>
          <a:solidFill>
            <a:srgbClr val="B55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84464" y="2231136"/>
            <a:ext cx="1581912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4,914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4464" y="2798064"/>
            <a:ext cx="1581912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每种攻击条数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22408" y="2048256"/>
            <a:ext cx="1691639" cy="1170432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0122408" y="2048256"/>
            <a:ext cx="1691639" cy="82296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177272" y="2231136"/>
            <a:ext cx="1581912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16 kHz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77272" y="2798064"/>
            <a:ext cx="1581912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采样率 · 单声道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3310128"/>
            <a:ext cx="1115568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单条时长 ≤ 4 秒；eval 不含已知攻击 A01–A06（官方设定），known_attacks 为空属正常而非缺陷。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3730752"/>
            <a:ext cx="731520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configs/dataset 四数据集角色分工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114800"/>
            <a:ext cx="2624327" cy="2194560"/>
          </a:xfrm>
          <a:prstGeom prst="roundRect">
            <a:avLst>
              <a:gd name="adj" fmla="val 6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58368" y="4114800"/>
            <a:ext cx="2624327" cy="566928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58368" y="4407408"/>
            <a:ext cx="2624327" cy="27432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04672" y="4114800"/>
            <a:ext cx="2350008" cy="56692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CFAD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4736592"/>
            <a:ext cx="2350008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中文主训练集</a:t>
            </a:r>
          </a:p>
        </p:txBody>
      </p:sp>
      <p:sp>
        <p:nvSpPr>
          <p:cNvPr id="43" name="Diamond 42"/>
          <p:cNvSpPr/>
          <p:nvPr/>
        </p:nvSpPr>
        <p:spPr>
          <a:xfrm>
            <a:off x="818387" y="5151912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78992" y="5084064"/>
            <a:ext cx="20574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中文伪造核心训练</a:t>
            </a:r>
          </a:p>
        </p:txBody>
      </p:sp>
      <p:sp>
        <p:nvSpPr>
          <p:cNvPr id="45" name="Diamond 44"/>
          <p:cNvSpPr/>
          <p:nvPr/>
        </p:nvSpPr>
        <p:spPr>
          <a:xfrm>
            <a:off x="818387" y="5525353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78992" y="5457504"/>
            <a:ext cx="20574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域内主测 · 12 种攻击</a:t>
            </a:r>
          </a:p>
        </p:txBody>
      </p:sp>
      <p:sp>
        <p:nvSpPr>
          <p:cNvPr id="47" name="Diamond 46"/>
          <p:cNvSpPr/>
          <p:nvPr/>
        </p:nvSpPr>
        <p:spPr>
          <a:xfrm>
            <a:off x="818387" y="5898794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78992" y="5830945"/>
            <a:ext cx="20574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DF 逻辑接入场景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02151" y="4114800"/>
            <a:ext cx="2624327" cy="2194560"/>
          </a:xfrm>
          <a:prstGeom prst="roundRect">
            <a:avLst>
              <a:gd name="adj" fmla="val 6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3502151" y="4114800"/>
            <a:ext cx="2624327" cy="566928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3502151" y="4407408"/>
            <a:ext cx="2624327" cy="27432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648455" y="4114800"/>
            <a:ext cx="2350008" cy="56692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ASVspoof 2019 LA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48455" y="4736592"/>
            <a:ext cx="2350008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跨语言泛化评估</a:t>
            </a:r>
          </a:p>
        </p:txBody>
      </p:sp>
      <p:sp>
        <p:nvSpPr>
          <p:cNvPr id="54" name="Diamond 53"/>
          <p:cNvSpPr/>
          <p:nvPr/>
        </p:nvSpPr>
        <p:spPr>
          <a:xfrm>
            <a:off x="3662172" y="5151912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922775" y="5084064"/>
            <a:ext cx="20574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英文 LA 权威基准</a:t>
            </a:r>
          </a:p>
        </p:txBody>
      </p:sp>
      <p:sp>
        <p:nvSpPr>
          <p:cNvPr id="56" name="Diamond 55"/>
          <p:cNvSpPr/>
          <p:nvPr/>
        </p:nvSpPr>
        <p:spPr>
          <a:xfrm>
            <a:off x="3662172" y="5525353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922775" y="5457504"/>
            <a:ext cx="20574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eval 全未知 A07–A19</a:t>
            </a:r>
          </a:p>
        </p:txBody>
      </p:sp>
      <p:sp>
        <p:nvSpPr>
          <p:cNvPr id="58" name="Diamond 57"/>
          <p:cNvSpPr/>
          <p:nvPr/>
        </p:nvSpPr>
        <p:spPr>
          <a:xfrm>
            <a:off x="3662172" y="5898794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922775" y="5830945"/>
            <a:ext cx="20574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本次全量 71k 实测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45935" y="4114800"/>
            <a:ext cx="2624327" cy="2194560"/>
          </a:xfrm>
          <a:prstGeom prst="roundRect">
            <a:avLst>
              <a:gd name="adj" fmla="val 6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6345935" y="4114800"/>
            <a:ext cx="2624327" cy="566928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6345935" y="4407408"/>
            <a:ext cx="2624327" cy="27432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92239" y="4114800"/>
            <a:ext cx="2350008" cy="56692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ADD 2023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92239" y="4736592"/>
            <a:ext cx="2350008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中文跨域验证</a:t>
            </a:r>
          </a:p>
        </p:txBody>
      </p:sp>
      <p:sp>
        <p:nvSpPr>
          <p:cNvPr id="65" name="Diamond 64"/>
          <p:cNvSpPr/>
          <p:nvPr/>
        </p:nvSpPr>
        <p:spPr>
          <a:xfrm>
            <a:off x="6505955" y="5151912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766559" y="5084064"/>
            <a:ext cx="20574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中文对话深伪</a:t>
            </a:r>
          </a:p>
        </p:txBody>
      </p:sp>
      <p:sp>
        <p:nvSpPr>
          <p:cNvPr id="67" name="Diamond 66"/>
          <p:cNvSpPr/>
          <p:nvPr/>
        </p:nvSpPr>
        <p:spPr>
          <a:xfrm>
            <a:off x="6505955" y="5525353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766559" y="5457504"/>
            <a:ext cx="20574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跨录音条件验证</a:t>
            </a:r>
          </a:p>
        </p:txBody>
      </p:sp>
      <p:sp>
        <p:nvSpPr>
          <p:cNvPr id="69" name="Diamond 68"/>
          <p:cNvSpPr/>
          <p:nvPr/>
        </p:nvSpPr>
        <p:spPr>
          <a:xfrm>
            <a:off x="6505955" y="5898794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766559" y="5830945"/>
            <a:ext cx="20574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补充中文泛化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89719" y="4114800"/>
            <a:ext cx="2624327" cy="2194560"/>
          </a:xfrm>
          <a:prstGeom prst="roundRect">
            <a:avLst>
              <a:gd name="adj" fmla="val 6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9189719" y="4114800"/>
            <a:ext cx="2624327" cy="566928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9189719" y="4407408"/>
            <a:ext cx="2624327" cy="27432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9336024" y="4114800"/>
            <a:ext cx="2350008" cy="56692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VoiceWukong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36024" y="4736592"/>
            <a:ext cx="2350008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大规模补充评估</a:t>
            </a:r>
          </a:p>
        </p:txBody>
      </p:sp>
      <p:sp>
        <p:nvSpPr>
          <p:cNvPr id="76" name="Diamond 75"/>
          <p:cNvSpPr/>
          <p:nvPr/>
        </p:nvSpPr>
        <p:spPr>
          <a:xfrm>
            <a:off x="9349740" y="5151912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610344" y="5084064"/>
            <a:ext cx="20574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中英多场景</a:t>
            </a:r>
          </a:p>
        </p:txBody>
      </p:sp>
      <p:sp>
        <p:nvSpPr>
          <p:cNvPr id="78" name="Diamond 77"/>
          <p:cNvSpPr/>
          <p:nvPr/>
        </p:nvSpPr>
        <p:spPr>
          <a:xfrm>
            <a:off x="9349740" y="5525353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9610344" y="5457504"/>
            <a:ext cx="20574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大规模多样化</a:t>
            </a:r>
          </a:p>
        </p:txBody>
      </p:sp>
      <p:sp>
        <p:nvSpPr>
          <p:cNvPr id="80" name="Diamond 79"/>
          <p:cNvSpPr/>
          <p:nvPr/>
        </p:nvSpPr>
        <p:spPr>
          <a:xfrm>
            <a:off x="9349740" y="5898794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9610344" y="5830945"/>
            <a:ext cx="20574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泛化稳健性对照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23 / 47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DATA ·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音频时频解析：STFT 真伪配对对比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052560" y="402336"/>
            <a:ext cx="2743200" cy="420624"/>
          </a:xfrm>
          <a:prstGeom prst="roundRect">
            <a:avLst>
              <a:gd name="adj" fmla="val 30000"/>
            </a:avLst>
          </a:prstGeom>
          <a:solidFill>
            <a:srgbClr val="FBF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052560" y="402336"/>
            <a:ext cx="91440" cy="420624"/>
          </a:xfrm>
          <a:prstGeom prst="rect">
            <a:avLst/>
          </a:prstGeom>
          <a:solidFill>
            <a:srgbClr val="8A6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17152" y="402336"/>
            <a:ext cx="250545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6400"/>
                </a:solidFill>
                <a:latin typeface="PingFang SC"/>
                <a:ea typeface="PingFang SC"/>
                <a:cs typeface="PingFang SC"/>
              </a:rPr>
              <a:t>合成演示信号 · 真实语音在远端 DSW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5980176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10_stft_paired_comparison_21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960" y="1773936"/>
            <a:ext cx="4266110" cy="3977639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76656" y="5797296"/>
            <a:ext cx="57607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　bonafide vs spoof STFT 时频配对对比（合成演示信号）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1719072"/>
            <a:ext cx="5010912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时频解读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84848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803136" y="2448275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59168" y="2359152"/>
            <a:ext cx="47365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STFT 短时傅里叶变换把波形展开为时频二维能量图，是伪造伪影最直观的观测面。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03136" y="317967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59168" y="3090550"/>
            <a:ext cx="47365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合成语音常在高频段出现能量截断、周期性纹理缺失或谐波断裂等规律性伪影。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03136" y="3911071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59168" y="3821948"/>
            <a:ext cx="47365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bonafide 与 spoof 配对对比可肉眼定位差异频段，为前端/后端建模提供动机。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03136" y="4642469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059168" y="4553346"/>
            <a:ext cx="47365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诚实标注：本页为合成演示信号（bonafide vs spoof）；真实 ASVspoof 语音数据在远端阿里云 DSW。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24 / 47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DATA ·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音频时频解析：梅尔 / 频谱差 / MFCC / 前端流水线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052560" y="402336"/>
            <a:ext cx="2743200" cy="420624"/>
          </a:xfrm>
          <a:prstGeom prst="roundRect">
            <a:avLst>
              <a:gd name="adj" fmla="val 30000"/>
            </a:avLst>
          </a:prstGeom>
          <a:solidFill>
            <a:srgbClr val="FBF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052560" y="402336"/>
            <a:ext cx="91440" cy="420624"/>
          </a:xfrm>
          <a:prstGeom prst="rect">
            <a:avLst/>
          </a:prstGeom>
          <a:solidFill>
            <a:srgbClr val="8A6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17152" y="402336"/>
            <a:ext cx="250545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6400"/>
                </a:solidFill>
                <a:latin typeface="PingFang SC"/>
                <a:ea typeface="PingFang SC"/>
                <a:cs typeface="PingFang SC"/>
              </a:rPr>
              <a:t>合成演示信号 · 真实语音在远端 DSW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645920"/>
            <a:ext cx="5458968" cy="1970531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11_mel_overview_grid_17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094" y="1719072"/>
            <a:ext cx="1433515" cy="1568195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49808" y="3287268"/>
            <a:ext cx="5276088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梅尔频谱总览网格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79" y="1645920"/>
            <a:ext cx="5458968" cy="1970531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07_avg_spectrum_diff_17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9157" y="1719072"/>
            <a:ext cx="2570813" cy="1568195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446519" y="3287268"/>
            <a:ext cx="5276088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真/伪平均频谱差异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835907"/>
            <a:ext cx="5458968" cy="1970531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04_mfcc_heatmap_17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934" y="3909059"/>
            <a:ext cx="3707834" cy="1568195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49808" y="5477255"/>
            <a:ext cx="5276088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MFCC 系数热力图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3835907"/>
            <a:ext cx="5458968" cy="1970531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08_frontend_pipeline_17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0247" y="3909059"/>
            <a:ext cx="2788633" cy="1568195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6446519" y="5477255"/>
            <a:ext cx="5276088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前端特征提取流水线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888736"/>
            <a:ext cx="11155680" cy="457200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58368" y="5888736"/>
            <a:ext cx="91440" cy="45720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5888736"/>
            <a:ext cx="1069848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诚实标注：以上为合成演示信号（bonafide vs spoof）的时频可视化，用于说明前端特征流程；真实 ASVspoof 语音数据在远端阿里云 DSW。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25 / 47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EVALUATION ·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跨数据集评估矩阵设计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546336" y="402336"/>
            <a:ext cx="2249424" cy="420624"/>
          </a:xfrm>
          <a:prstGeom prst="roundRect">
            <a:avLst>
              <a:gd name="adj" fmla="val 30000"/>
            </a:avLst>
          </a:prstGeom>
          <a:solidFill>
            <a:srgbClr val="D9E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546336" y="402336"/>
            <a:ext cx="91440" cy="42062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10928" y="402336"/>
            <a:ext cx="201168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论文级模型结构图 · 答辩讲解用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894576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eval_cross_matrix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069822"/>
            <a:ext cx="6675120" cy="3385866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76656" y="5797296"/>
            <a:ext cx="66751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8　N × N 跨数据集交叉评估矩阵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1719072"/>
            <a:ext cx="4096512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矩阵解读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9248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17536" y="2448275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73568" y="2359152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CrossDatasetEvaluator 自动发现 results/*/best_model.pt，构建 N×N 交叉矩阵。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17536" y="317967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73568" y="3090550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行 = 训练集、列 = 测试集；对角线为域内，非对角线为跨域迁移。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17536" y="3911071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73568" y="3821948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设计规划为 4×4：CFAD / ADD2023 / ASVspoof2019LA / VoiceWukong 两两交叉。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17536" y="4642469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73568" y="4553346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同时输出退化分析（域内→跨域的 ΔEER 与退化倍数），量化泛化损失。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17536" y="5373867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73568" y="5284744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本次冒烟以合成 Dataset A/B 构成 2×2 子矩阵，验证矩阵流水线正确性。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26 / 47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EVALUATION ·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评估指标体系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5800" y="1700784"/>
            <a:ext cx="3520440" cy="219456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" y="1700784"/>
            <a:ext cx="3520440" cy="530352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975104"/>
            <a:ext cx="3520440" cy="256032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800" y="1700784"/>
            <a:ext cx="100584" cy="219456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1700784"/>
            <a:ext cx="3108960" cy="53035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EER · 等错误率</a:t>
            </a:r>
          </a:p>
        </p:txBody>
      </p:sp>
      <p:sp>
        <p:nvSpPr>
          <p:cNvPr id="13" name="Diamond 12"/>
          <p:cNvSpPr/>
          <p:nvPr/>
        </p:nvSpPr>
        <p:spPr>
          <a:xfrm>
            <a:off x="973836" y="2427000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34440" y="2359152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假正率 = 假负率时的错误率。</a:t>
            </a:r>
          </a:p>
        </p:txBody>
      </p:sp>
      <p:sp>
        <p:nvSpPr>
          <p:cNvPr id="15" name="Diamond 14"/>
          <p:cNvSpPr/>
          <p:nvPr/>
        </p:nvSpPr>
        <p:spPr>
          <a:xfrm>
            <a:off x="973836" y="2837017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34440" y="2769168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语音反欺骗核心指标，越低越好。</a:t>
            </a:r>
          </a:p>
        </p:txBody>
      </p:sp>
      <p:sp>
        <p:nvSpPr>
          <p:cNvPr id="17" name="Diamond 16"/>
          <p:cNvSpPr/>
          <p:nvPr/>
        </p:nvSpPr>
        <p:spPr>
          <a:xfrm>
            <a:off x="973836" y="3247034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34440" y="3179185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阈值无关，便于跨系统比较。</a:t>
            </a:r>
          </a:p>
        </p:txBody>
      </p:sp>
      <p:sp>
        <p:nvSpPr>
          <p:cNvPr id="19" name="Diamond 18"/>
          <p:cNvSpPr/>
          <p:nvPr/>
        </p:nvSpPr>
        <p:spPr>
          <a:xfrm>
            <a:off x="973836" y="3657051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34440" y="3589202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全量 71k 实测：2.03%。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700784"/>
            <a:ext cx="3520440" cy="219456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480560" y="1700784"/>
            <a:ext cx="3520440" cy="530352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480560" y="1975104"/>
            <a:ext cx="3520440" cy="256032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480560" y="1700784"/>
            <a:ext cx="100584" cy="219456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36592" y="1700784"/>
            <a:ext cx="3108960" cy="53035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AUC · ROC 曲线下面积</a:t>
            </a:r>
          </a:p>
        </p:txBody>
      </p:sp>
      <p:sp>
        <p:nvSpPr>
          <p:cNvPr id="26" name="Diamond 25"/>
          <p:cNvSpPr/>
          <p:nvPr/>
        </p:nvSpPr>
        <p:spPr>
          <a:xfrm>
            <a:off x="4768596" y="2427000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0" y="2359152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衡量整体排序判别能力。</a:t>
            </a:r>
          </a:p>
        </p:txBody>
      </p:sp>
      <p:sp>
        <p:nvSpPr>
          <p:cNvPr id="28" name="Diamond 27"/>
          <p:cNvSpPr/>
          <p:nvPr/>
        </p:nvSpPr>
        <p:spPr>
          <a:xfrm>
            <a:off x="4768596" y="2837017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0" y="2769168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取值 0.5（随机）~ 1.0（完美）。</a:t>
            </a:r>
          </a:p>
        </p:txBody>
      </p:sp>
      <p:sp>
        <p:nvSpPr>
          <p:cNvPr id="30" name="Diamond 29"/>
          <p:cNvSpPr/>
          <p:nvPr/>
        </p:nvSpPr>
        <p:spPr>
          <a:xfrm>
            <a:off x="4768596" y="3247034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0" y="3179185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对类别不平衡较稳健。</a:t>
            </a:r>
          </a:p>
        </p:txBody>
      </p:sp>
      <p:sp>
        <p:nvSpPr>
          <p:cNvPr id="32" name="Diamond 31"/>
          <p:cNvSpPr/>
          <p:nvPr/>
        </p:nvSpPr>
        <p:spPr>
          <a:xfrm>
            <a:off x="4768596" y="3657051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29200" y="3589202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全量 71k 实测：0.9890。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75320" y="1700784"/>
            <a:ext cx="3520440" cy="219456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8275320" y="1700784"/>
            <a:ext cx="3520440" cy="530352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275320" y="1975104"/>
            <a:ext cx="3520440" cy="256032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275320" y="1700784"/>
            <a:ext cx="100584" cy="219456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531352" y="1700784"/>
            <a:ext cx="3108960" cy="53035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Macro-F1</a:t>
            </a:r>
          </a:p>
        </p:txBody>
      </p:sp>
      <p:sp>
        <p:nvSpPr>
          <p:cNvPr id="39" name="Diamond 38"/>
          <p:cNvSpPr/>
          <p:nvPr/>
        </p:nvSpPr>
        <p:spPr>
          <a:xfrm>
            <a:off x="8563356" y="2427000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823960" y="2359152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各类 F1 的宏平均。</a:t>
            </a:r>
          </a:p>
        </p:txBody>
      </p:sp>
      <p:sp>
        <p:nvSpPr>
          <p:cNvPr id="41" name="Diamond 40"/>
          <p:cNvSpPr/>
          <p:nvPr/>
        </p:nvSpPr>
        <p:spPr>
          <a:xfrm>
            <a:off x="8563356" y="2837017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823960" y="2769168"/>
            <a:ext cx="2743200" cy="51828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bonafide / spoof 等权，抑制不平衡掩盖。</a:t>
            </a:r>
          </a:p>
        </p:txBody>
      </p:sp>
      <p:sp>
        <p:nvSpPr>
          <p:cNvPr id="43" name="Diamond 42"/>
          <p:cNvSpPr/>
          <p:nvPr/>
        </p:nvSpPr>
        <p:spPr>
          <a:xfrm>
            <a:off x="8563356" y="3483315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823960" y="3415466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与 Accuracy 互补。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" y="4133088"/>
            <a:ext cx="3520440" cy="219456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685800" y="4133088"/>
            <a:ext cx="3520440" cy="530352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85800" y="4407408"/>
            <a:ext cx="3520440" cy="256032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85800" y="4133088"/>
            <a:ext cx="100584" cy="219456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41832" y="4133088"/>
            <a:ext cx="3108960" cy="53035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min t-DCF</a:t>
            </a:r>
          </a:p>
        </p:txBody>
      </p:sp>
      <p:sp>
        <p:nvSpPr>
          <p:cNvPr id="50" name="Diamond 49"/>
          <p:cNvSpPr/>
          <p:nvPr/>
        </p:nvSpPr>
        <p:spPr>
          <a:xfrm>
            <a:off x="973836" y="4859304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234440" y="4791456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最小串联检测代价函数。</a:t>
            </a:r>
          </a:p>
        </p:txBody>
      </p:sp>
      <p:sp>
        <p:nvSpPr>
          <p:cNvPr id="52" name="Diamond 51"/>
          <p:cNvSpPr/>
          <p:nvPr/>
        </p:nvSpPr>
        <p:spPr>
          <a:xfrm>
            <a:off x="973836" y="5269321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234440" y="5201472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综合假正、假负与拒绝成本。</a:t>
            </a:r>
          </a:p>
        </p:txBody>
      </p:sp>
      <p:sp>
        <p:nvSpPr>
          <p:cNvPr id="54" name="Diamond 53"/>
          <p:cNvSpPr/>
          <p:nvPr/>
        </p:nvSpPr>
        <p:spPr>
          <a:xfrm>
            <a:off x="973836" y="5679338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234440" y="5611489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反欺骗标准化评测指标，越低越好。</a:t>
            </a:r>
          </a:p>
        </p:txBody>
      </p:sp>
      <p:sp>
        <p:nvSpPr>
          <p:cNvPr id="56" name="Diamond 55"/>
          <p:cNvSpPr/>
          <p:nvPr/>
        </p:nvSpPr>
        <p:spPr>
          <a:xfrm>
            <a:off x="973836" y="6089355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234440" y="6021506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全量 71k 实测：0.266。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480560" y="4133088"/>
            <a:ext cx="3520440" cy="219456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480560" y="4133088"/>
            <a:ext cx="3520440" cy="530352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4480560" y="4407408"/>
            <a:ext cx="3520440" cy="256032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4480560" y="4133088"/>
            <a:ext cx="100584" cy="219456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736592" y="4133088"/>
            <a:ext cx="3108960" cy="53035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Accuracy · 准确率</a:t>
            </a:r>
          </a:p>
        </p:txBody>
      </p:sp>
      <p:sp>
        <p:nvSpPr>
          <p:cNvPr id="63" name="Diamond 62"/>
          <p:cNvSpPr/>
          <p:nvPr/>
        </p:nvSpPr>
        <p:spPr>
          <a:xfrm>
            <a:off x="4768596" y="4859304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029200" y="4791456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预测正确样本占比。</a:t>
            </a:r>
          </a:p>
        </p:txBody>
      </p:sp>
      <p:sp>
        <p:nvSpPr>
          <p:cNvPr id="65" name="Diamond 64"/>
          <p:cNvSpPr/>
          <p:nvPr/>
        </p:nvSpPr>
        <p:spPr>
          <a:xfrm>
            <a:off x="4768596" y="5269321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029200" y="5201472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类别极不平衡时需谨慎解读。</a:t>
            </a:r>
          </a:p>
        </p:txBody>
      </p:sp>
      <p:sp>
        <p:nvSpPr>
          <p:cNvPr id="67" name="Diamond 66"/>
          <p:cNvSpPr/>
          <p:nvPr/>
        </p:nvSpPr>
        <p:spPr>
          <a:xfrm>
            <a:off x="4768596" y="5679338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029200" y="5611489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与 Macro-F1 联合报告。</a:t>
            </a:r>
          </a:p>
        </p:txBody>
      </p:sp>
      <p:sp>
        <p:nvSpPr>
          <p:cNvPr id="69" name="Diamond 68"/>
          <p:cNvSpPr/>
          <p:nvPr/>
        </p:nvSpPr>
        <p:spPr>
          <a:xfrm>
            <a:off x="4768596" y="6089355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029200" y="6021506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全量 71k 实测：98.08%。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275320" y="4133088"/>
            <a:ext cx="3520440" cy="219456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8275320" y="4133088"/>
            <a:ext cx="3520440" cy="530352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8275320" y="4407408"/>
            <a:ext cx="3520440" cy="256032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8275320" y="4133088"/>
            <a:ext cx="100584" cy="219456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531352" y="4133088"/>
            <a:ext cx="3108960" cy="53035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校准 · ECE / Brier</a:t>
            </a:r>
          </a:p>
        </p:txBody>
      </p:sp>
      <p:sp>
        <p:nvSpPr>
          <p:cNvPr id="76" name="Diamond 75"/>
          <p:cNvSpPr/>
          <p:nvPr/>
        </p:nvSpPr>
        <p:spPr>
          <a:xfrm>
            <a:off x="8563356" y="4859304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823960" y="4791456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ECE 衡量预测概率与真实频率偏差。</a:t>
            </a:r>
          </a:p>
        </p:txBody>
      </p:sp>
      <p:sp>
        <p:nvSpPr>
          <p:cNvPr id="78" name="Diamond 77"/>
          <p:cNvSpPr/>
          <p:nvPr/>
        </p:nvSpPr>
        <p:spPr>
          <a:xfrm>
            <a:off x="8563356" y="5269321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8823960" y="5201472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Brier 分数度量概率均方误差。</a:t>
            </a:r>
          </a:p>
        </p:txBody>
      </p:sp>
      <p:sp>
        <p:nvSpPr>
          <p:cNvPr id="80" name="Diamond 79"/>
          <p:cNvSpPr/>
          <p:nvPr/>
        </p:nvSpPr>
        <p:spPr>
          <a:xfrm>
            <a:off x="8563356" y="5679338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8823960" y="5611489"/>
            <a:ext cx="2743200" cy="282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阈值决策可靠性的关键。</a:t>
            </a:r>
          </a:p>
        </p:txBody>
      </p:sp>
      <p:sp>
        <p:nvSpPr>
          <p:cNvPr id="82" name="Diamond 81"/>
          <p:cNvSpPr/>
          <p:nvPr/>
        </p:nvSpPr>
        <p:spPr>
          <a:xfrm>
            <a:off x="8563356" y="6089355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823960" y="6021506"/>
            <a:ext cx="2743200" cy="51828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全量 71k：ECE 0.181 / Brier 0.167。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27 / 47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EVALUATION ·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偏差与捷径检测方案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546336" y="402336"/>
            <a:ext cx="2249424" cy="420624"/>
          </a:xfrm>
          <a:prstGeom prst="roundRect">
            <a:avLst>
              <a:gd name="adj" fmla="val 30000"/>
            </a:avLst>
          </a:prstGeom>
          <a:solidFill>
            <a:srgbClr val="D9E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546336" y="402336"/>
            <a:ext cx="91440" cy="42062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10928" y="402336"/>
            <a:ext cx="201168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论文级模型结构图 · 答辩讲解用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894576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eval_bias_check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069822"/>
            <a:ext cx="6675120" cy="3385866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76656" y="5797296"/>
            <a:ext cx="66751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9　BiasChecker 五项偏差检测工具链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1719072"/>
            <a:ext cx="4096512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五项检测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9248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17536" y="2448275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73568" y="2359152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静音偏差：计算语音活动比(VAD)，检查真/伪音频是否存在系统性静音差异。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17536" y="317967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73568" y="3090550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说话人泄露：分析说话人 ID 在 train/test 的交集，防止靠身份走捷径。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17536" y="3911071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73568" y="3821948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编码器伪影：频谱包络/高频能量分析，识别编码器留下的规律性痕迹。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17536" y="4642469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73568" y="4553346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t-SNE 数据集指纹：对 SSL 特征降维，检查不同数据集是否异常聚类。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17536" y="5373867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73568" y="5284744"/>
            <a:ext cx="3822192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Grad-CAM 归因：梯度加权类激活映射，核查模型关注频域是否合理。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28 / 47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REAL RESULTS ·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端到端验证：实验设置与诚实声明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052560" y="402336"/>
            <a:ext cx="2743200" cy="420624"/>
          </a:xfrm>
          <a:prstGeom prst="roundRect">
            <a:avLst>
              <a:gd name="adj" fmla="val 30000"/>
            </a:avLst>
          </a:prstGeom>
          <a:solidFill>
            <a:srgbClr val="DE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052560" y="402336"/>
            <a:ext cx="91440" cy="420624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17152" y="402336"/>
            <a:ext cx="250545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真实结果 · 系统端到端验证（合成数据）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37360"/>
            <a:ext cx="640080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诚实声明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139696"/>
            <a:ext cx="777240" cy="457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" y="2398334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" y="2304288"/>
            <a:ext cx="6126480" cy="3115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本区所有数值来自 results/smoke_run/，为真实运行产出，非人工填写。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892750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7552" y="2798704"/>
            <a:ext cx="6126480" cy="577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使用合成小规模双域数据（Dataset A / B），目的是验证「数据→训练→跨数据集评估→报告」全流水线可端到端跑通。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652982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" y="3558936"/>
            <a:ext cx="6126480" cy="3115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样本量小、评估仅 30 条，统计波动较大，不代表真实语音伪造检测性能。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147398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87552" y="4053352"/>
            <a:ext cx="6126480" cy="3115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结论用于证明系统正确性与复现「域迁移退化」现象，而非刷榜指标。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737360"/>
            <a:ext cx="4251960" cy="4572000"/>
          </a:xfrm>
          <a:prstGeom prst="roundRect">
            <a:avLst>
              <a:gd name="adj" fmla="val 6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360920" y="1737360"/>
            <a:ext cx="4251960" cy="566928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360920" y="2011680"/>
            <a:ext cx="4251960" cy="292608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580376" y="1737360"/>
            <a:ext cx="3886200" cy="56692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训练配置（真实）</a:t>
            </a:r>
          </a:p>
        </p:txBody>
      </p:sp>
      <p:sp>
        <p:nvSpPr>
          <p:cNvPr id="25" name="Diamond 24"/>
          <p:cNvSpPr/>
          <p:nvPr/>
        </p:nvSpPr>
        <p:spPr>
          <a:xfrm>
            <a:off x="7612380" y="2578227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72984" y="2505456"/>
            <a:ext cx="3520440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模型：AASIST 端到端基线（SincFilter + ResNet + GAT）。</a:t>
            </a:r>
          </a:p>
        </p:txBody>
      </p:sp>
      <p:sp>
        <p:nvSpPr>
          <p:cNvPr id="27" name="Diamond 26"/>
          <p:cNvSpPr/>
          <p:nvPr/>
        </p:nvSpPr>
        <p:spPr>
          <a:xfrm>
            <a:off x="7612380" y="3299079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72984" y="3226308"/>
            <a:ext cx="3520440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数据：A/B 各 80 条训练、30 条验证、30 条评估（合成）。</a:t>
            </a:r>
          </a:p>
        </p:txBody>
      </p:sp>
      <p:sp>
        <p:nvSpPr>
          <p:cNvPr id="29" name="Diamond 28"/>
          <p:cNvSpPr/>
          <p:nvPr/>
        </p:nvSpPr>
        <p:spPr>
          <a:xfrm>
            <a:off x="7612380" y="4019931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72984" y="3947160"/>
            <a:ext cx="3520440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轮次：10 epochs；批大小 8；学习率 5e-4；权重衰减 1e-4。</a:t>
            </a:r>
          </a:p>
        </p:txBody>
      </p:sp>
      <p:sp>
        <p:nvSpPr>
          <p:cNvPr id="31" name="Diamond 30"/>
          <p:cNvSpPr/>
          <p:nvPr/>
        </p:nvSpPr>
        <p:spPr>
          <a:xfrm>
            <a:off x="7612380" y="4740783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72984" y="4668012"/>
            <a:ext cx="3520440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设备：CPU；单次完整训练-评估约 2 分钟内完成。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29 / 47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REAL RESULTS ·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训练收敛与验证 EER 曲线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052560" y="402336"/>
            <a:ext cx="2743200" cy="420624"/>
          </a:xfrm>
          <a:prstGeom prst="roundRect">
            <a:avLst>
              <a:gd name="adj" fmla="val 30000"/>
            </a:avLst>
          </a:prstGeom>
          <a:solidFill>
            <a:srgbClr val="DE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052560" y="402336"/>
            <a:ext cx="91440" cy="420624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17152" y="402336"/>
            <a:ext cx="250545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真实结果 · 系统端到端验证（合成数据）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903720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1_training_loss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622178"/>
            <a:ext cx="3323844" cy="2180570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pic>
        <p:nvPicPr>
          <p:cNvPr id="13" name="Picture 12" descr="02_val_eer_curve_21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6532" y="2633644"/>
            <a:ext cx="3323844" cy="2157638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76656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10　训练损失曲线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6532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11　验证集 EER 曲线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4696" y="1719072"/>
            <a:ext cx="3941064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要点解读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72983" y="244335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29016" y="2359152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Dataset A 损失快速收敛：epoch 1 的 0.795 → epoch 10 的 0.000267。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72983" y="3145917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29016" y="3061716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Dataset B 收敛稍慢且有波动，epoch 10 损失为 0.206。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72983" y="3848481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29016" y="3764280"/>
            <a:ext cx="3666744" cy="291845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A 在 epoch 3 即达 EER=0% 并保持稳定。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72983" y="4304919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29016" y="4220718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B 在 epoch 5 达最优 EER=0%，随后小幅回弹至 6.7%，显示轻微过拟合。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983" y="500748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29016" y="4923282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两域均在 10 epoch 内有效收敛，验证训练流水线正确。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30 / 47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REAL RESULTS ·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验证集多指标变化曲线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052560" y="402336"/>
            <a:ext cx="2743200" cy="420624"/>
          </a:xfrm>
          <a:prstGeom prst="roundRect">
            <a:avLst>
              <a:gd name="adj" fmla="val 30000"/>
            </a:avLst>
          </a:prstGeom>
          <a:solidFill>
            <a:srgbClr val="DE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052560" y="402336"/>
            <a:ext cx="91440" cy="420624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17152" y="402336"/>
            <a:ext cx="250545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真实结果 · 系统端到端验证（合成数据）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27632"/>
            <a:ext cx="11228832" cy="278892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3_val_metrics_curves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196" y="1719072"/>
            <a:ext cx="8942294" cy="2606040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66928" y="4453128"/>
            <a:ext cx="11228832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12　AUC / Accuracy / Macro-F1 随 epoch 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782312"/>
            <a:ext cx="11228832" cy="1545335"/>
          </a:xfrm>
          <a:prstGeom prst="roundRect">
            <a:avLst>
              <a:gd name="adj" fmla="val 6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66928" y="4782312"/>
            <a:ext cx="100584" cy="1545335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4855464"/>
            <a:ext cx="201168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要点解读</a:t>
            </a:r>
          </a:p>
        </p:txBody>
      </p:sp>
      <p:sp>
        <p:nvSpPr>
          <p:cNvPr id="17" name="Diamond 16"/>
          <p:cNvSpPr/>
          <p:nvPr/>
        </p:nvSpPr>
        <p:spPr>
          <a:xfrm>
            <a:off x="854964" y="5312283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15568" y="5239512"/>
            <a:ext cx="4983480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A 域：AUC/Accuracy/Macro-F1 自 epoch 3 起稳定 1.0/100%/1.000。</a:t>
            </a:r>
          </a:p>
        </p:txBody>
      </p:sp>
      <p:sp>
        <p:nvSpPr>
          <p:cNvPr id="19" name="Diamond 18"/>
          <p:cNvSpPr/>
          <p:nvPr/>
        </p:nvSpPr>
        <p:spPr>
          <a:xfrm>
            <a:off x="854964" y="5941695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15568" y="5868924"/>
            <a:ext cx="4983480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B 域：三指标随 epoch 波动，最优达 1.0，末轮 AUC≈0.956、Accuracy≈96.7%、F1≈0.967。</a:t>
            </a:r>
          </a:p>
        </p:txBody>
      </p:sp>
      <p:sp>
        <p:nvSpPr>
          <p:cNvPr id="21" name="Diamond 20"/>
          <p:cNvSpPr/>
          <p:nvPr/>
        </p:nvSpPr>
        <p:spPr>
          <a:xfrm>
            <a:off x="6277356" y="5312283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37959" y="5239512"/>
            <a:ext cx="4983480" cy="291845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指标同向变化，说明 EER/AUC/F1 计算一致、无异常。</a:t>
            </a:r>
          </a:p>
        </p:txBody>
      </p:sp>
      <p:sp>
        <p:nvSpPr>
          <p:cNvPr id="23" name="Diamond 22"/>
          <p:cNvSpPr/>
          <p:nvPr/>
        </p:nvSpPr>
        <p:spPr>
          <a:xfrm>
            <a:off x="6277356" y="5695569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59" y="5622798"/>
            <a:ext cx="4983480" cy="291845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B 域波动提示小样本下轻微过拟合，与损失曲线相互印证。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31 / 47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REAL RESULTS ·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跨数据集 EER 热力图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052560" y="402336"/>
            <a:ext cx="2743200" cy="420624"/>
          </a:xfrm>
          <a:prstGeom prst="roundRect">
            <a:avLst>
              <a:gd name="adj" fmla="val 30000"/>
            </a:avLst>
          </a:prstGeom>
          <a:solidFill>
            <a:srgbClr val="DE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052560" y="402336"/>
            <a:ext cx="91440" cy="420624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17152" y="402336"/>
            <a:ext cx="250545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真实结果 · 系统端到端验证（合成数据）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620256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4_heatmap_eer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410" y="1773936"/>
            <a:ext cx="4593290" cy="3977639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76656" y="5797296"/>
            <a:ext cx="64008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13　2×2 跨数据集 EER 热力图（合成 A/B）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4928" y="1719072"/>
            <a:ext cx="4370831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真实数值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24928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43216" y="2448275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99248" y="2359152"/>
            <a:ext cx="4096511" cy="30169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A→A（域内）：EER = 0.0%，近乎完美。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43216" y="2923702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99248" y="2834579"/>
            <a:ext cx="4096511" cy="30169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B→B（域内）：EER = 6.7%。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43216" y="3399129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99248" y="3310006"/>
            <a:ext cx="4096511" cy="30169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A→B（跨域）：EER = 26.7%，显著退化。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43216" y="3874556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99248" y="3785433"/>
            <a:ext cx="4096511" cy="30169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B→A（跨域）：EER = 33.3%，退化最严重。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43216" y="434998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699248" y="4260860"/>
            <a:ext cx="4096511" cy="55766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对角线明显优于非对角线，直观复现「域内强、跨域弱」的迁移退化模式。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32 / 47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REAL RESULTS ·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AUC 与 min t-DCF 热力图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052560" y="402336"/>
            <a:ext cx="2743200" cy="420624"/>
          </a:xfrm>
          <a:prstGeom prst="roundRect">
            <a:avLst>
              <a:gd name="adj" fmla="val 30000"/>
            </a:avLst>
          </a:prstGeom>
          <a:solidFill>
            <a:srgbClr val="DE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052560" y="402336"/>
            <a:ext cx="91440" cy="420624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17152" y="402336"/>
            <a:ext cx="250545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真实结果 · 系统端到端验证（合成数据）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903720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5_heatmap_auc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306952"/>
            <a:ext cx="3323844" cy="2811022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pic>
        <p:nvPicPr>
          <p:cNvPr id="13" name="Picture 12" descr="09_heatmap_tdcf_21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6532" y="2287409"/>
            <a:ext cx="3323844" cy="2850109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76656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14　AUC 热力图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6532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15　min t-DCF 热力图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4696" y="1719072"/>
            <a:ext cx="3941064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要点解读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72983" y="244335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29016" y="2359152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AUC：A→A=1.000、B→B=0.996（域内近满分）；A→B=0.796、B→A=0.822（跨域下降）。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72983" y="3145917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29016" y="3061716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min t-DCF：A→A=0.000、B→B=0.067（域内低）；A→B=0.733、B→A=0.467（跨域高）。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72983" y="3848481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29016" y="3764280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两指标与 EER 趋势一致，交叉印证跨域退化真实存在。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72983" y="4551045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29016" y="4466844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t-DCF 上升说明跨域时综合检测代价（漏检+误检）显著增大。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33 / 47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REAL RESULTS ·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域内 vs 跨域退化分析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052560" y="402336"/>
            <a:ext cx="2743200" cy="420624"/>
          </a:xfrm>
          <a:prstGeom prst="roundRect">
            <a:avLst>
              <a:gd name="adj" fmla="val 30000"/>
            </a:avLst>
          </a:prstGeom>
          <a:solidFill>
            <a:srgbClr val="DE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052560" y="402336"/>
            <a:ext cx="91440" cy="420624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17152" y="402336"/>
            <a:ext cx="250545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真实结果 · 系统端到端验证（合成数据）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903720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6_indomain_vs_cross_eer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567369"/>
            <a:ext cx="3323844" cy="2290189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pic>
        <p:nvPicPr>
          <p:cNvPr id="13" name="Picture 12" descr="07_degradation_analysis_21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6532" y="2993694"/>
            <a:ext cx="3323844" cy="1437539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76656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16　域内 vs 跨域 EER 对比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6532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17　退化幅度分析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4696" y="1719072"/>
            <a:ext cx="3941064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要点解读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72983" y="244335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29016" y="2359152"/>
            <a:ext cx="3666744" cy="291845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域内 EER：0.0% ~ 6.7%（近乎完美）。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72983" y="2899791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29016" y="2815590"/>
            <a:ext cx="3666744" cy="291845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跨域 EER：26.7% ~ 33.3%（严重退化）。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72983" y="3356229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29016" y="3272028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A→A vs A→B：EER 0.0% → 26.7%，ΔEER = +26.7 pp。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72983" y="405879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29016" y="3974592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B→B vs B→A：EER 6.7% → 33.3%，ΔEER = +26.7 pp，退化约 5.0×。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983" y="4761357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29016" y="4677156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退化模式提示捷径学习风险：模型可能依赖数据集特有录音/编码特征。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34 / 47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REAL RESULTS ·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多指标综合对比与雷达图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052560" y="402336"/>
            <a:ext cx="2743200" cy="420624"/>
          </a:xfrm>
          <a:prstGeom prst="roundRect">
            <a:avLst>
              <a:gd name="adj" fmla="val 30000"/>
            </a:avLst>
          </a:prstGeom>
          <a:solidFill>
            <a:srgbClr val="DE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052560" y="402336"/>
            <a:ext cx="91440" cy="420624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17152" y="402336"/>
            <a:ext cx="250545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真实结果 · 系统端到端验证（合成数据）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903720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8_multi_metric_comparison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707976"/>
            <a:ext cx="3323844" cy="2008974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pic>
        <p:nvPicPr>
          <p:cNvPr id="13" name="Picture 12" descr="11_radar_comparison_21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6532" y="2116696"/>
            <a:ext cx="3323844" cy="3191535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76656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18　多指标综合对比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6532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19　四方向雷达对比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4696" y="1719072"/>
            <a:ext cx="3941064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要点解读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72983" y="244335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29016" y="2359152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Accuracy：域内 96.7%~100% → 跨域 73.3%~80.0%。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72983" y="3145917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29016" y="3061716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Macro-F1：域内 0.967~1.000 → 跨域 0.732~0.799。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72983" y="3848481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29016" y="3764280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雷达图显示 A→A 各指标全面外扩，跨域方向明显内缩。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72983" y="4551045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29016" y="4466844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多指标一致退化，排除单一指标偶然性，佐证结论稳健。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35 / 47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REAL RESULTS ·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关键发现小结（真实 · 合成数据）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052560" y="402336"/>
            <a:ext cx="2743200" cy="420624"/>
          </a:xfrm>
          <a:prstGeom prst="roundRect">
            <a:avLst>
              <a:gd name="adj" fmla="val 30000"/>
            </a:avLst>
          </a:prstGeom>
          <a:solidFill>
            <a:srgbClr val="DE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052560" y="402336"/>
            <a:ext cx="91440" cy="420624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17152" y="402336"/>
            <a:ext cx="250545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真实结果 · 系统端到端验证（合成数据）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737360"/>
            <a:ext cx="11109959" cy="51206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0664" y="1737360"/>
            <a:ext cx="1627631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1737360"/>
            <a:ext cx="1170431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类型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58183" y="1737360"/>
            <a:ext cx="149047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8383" y="1737360"/>
            <a:ext cx="149047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8583" y="1737360"/>
            <a:ext cx="1627631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95944" y="1737360"/>
            <a:ext cx="158191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Macro-F1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87584" y="1737360"/>
            <a:ext cx="135331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min t-DCF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249424"/>
            <a:ext cx="11109959" cy="658368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85800" y="2249424"/>
            <a:ext cx="82296" cy="658368"/>
          </a:xfrm>
          <a:prstGeom prst="rect">
            <a:avLst/>
          </a:prstGeom>
          <a:solidFill>
            <a:srgbClr val="1E7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8096" y="2249424"/>
            <a:ext cx="157276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 → 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05456" y="2249424"/>
            <a:ext cx="111556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域内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85615" y="2249424"/>
            <a:ext cx="143560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85816" y="2249424"/>
            <a:ext cx="143560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1.000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6016" y="2249424"/>
            <a:ext cx="157276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100.0%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23376" y="2249424"/>
            <a:ext cx="152704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1.000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15015" y="2249424"/>
            <a:ext cx="129844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2907791"/>
            <a:ext cx="1110995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85800" y="2907791"/>
            <a:ext cx="82296" cy="658368"/>
          </a:xfrm>
          <a:prstGeom prst="rect">
            <a:avLst/>
          </a:prstGeom>
          <a:solidFill>
            <a:srgbClr val="B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8096" y="2907791"/>
            <a:ext cx="157276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 →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05456" y="2907791"/>
            <a:ext cx="111556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跨域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85615" y="2907791"/>
            <a:ext cx="143560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26.7%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85816" y="2907791"/>
            <a:ext cx="143560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0.796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6016" y="2907791"/>
            <a:ext cx="157276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80.0%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3376" y="2907791"/>
            <a:ext cx="152704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0.799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15015" y="2907791"/>
            <a:ext cx="129844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0.733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3566159"/>
            <a:ext cx="11109959" cy="658368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85800" y="3566159"/>
            <a:ext cx="82296" cy="658368"/>
          </a:xfrm>
          <a:prstGeom prst="rect">
            <a:avLst/>
          </a:prstGeom>
          <a:solidFill>
            <a:srgbClr val="B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8096" y="3566159"/>
            <a:ext cx="157276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B → 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05456" y="3566159"/>
            <a:ext cx="111556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跨域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85615" y="3566159"/>
            <a:ext cx="143560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33.3%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85816" y="3566159"/>
            <a:ext cx="143560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0.822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86016" y="3566159"/>
            <a:ext cx="157276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73.3%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23376" y="3566159"/>
            <a:ext cx="152704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0.732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15015" y="3566159"/>
            <a:ext cx="129844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0.467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224527"/>
            <a:ext cx="1110995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85800" y="4224527"/>
            <a:ext cx="82296" cy="658368"/>
          </a:xfrm>
          <a:prstGeom prst="rect">
            <a:avLst/>
          </a:prstGeom>
          <a:solidFill>
            <a:srgbClr val="1E7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8096" y="4224527"/>
            <a:ext cx="157276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B → 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05456" y="4224527"/>
            <a:ext cx="111556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域内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85615" y="4224527"/>
            <a:ext cx="143560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6.7%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85816" y="4224527"/>
            <a:ext cx="143560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0.996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86016" y="4224527"/>
            <a:ext cx="157276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96.7%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23376" y="4224527"/>
            <a:ext cx="152704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0.967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15015" y="4224527"/>
            <a:ext cx="1298448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3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0.067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800" y="5065775"/>
            <a:ext cx="11109959" cy="822960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85800" y="5065775"/>
            <a:ext cx="91440" cy="82296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41832" y="5065775"/>
            <a:ext cx="10652759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结论：全链路（加载→训练→域内/跨域评估→指标计算→序列化）验证通过；域迁移退化现象成功复现，为后续泛化方法提供量化基线。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36 / 47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REAL RESULTS ·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ASVspoof 2019 LA · 全量 71k 实测总览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30568" y="402336"/>
            <a:ext cx="4965192" cy="420624"/>
          </a:xfrm>
          <a:prstGeom prst="roundRect">
            <a:avLst>
              <a:gd name="adj" fmla="val 30000"/>
            </a:avLst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30568" y="402336"/>
            <a:ext cx="91440" cy="420624"/>
          </a:xfrm>
          <a:prstGeom prst="rect">
            <a:avLst/>
          </a:prstGeom>
          <a:solidFill>
            <a:srgbClr val="1E6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95159" y="402336"/>
            <a:ext cx="4727448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B45"/>
                </a:solidFill>
                <a:latin typeface="PingFang SC"/>
                <a:ea typeface="PingFang SC"/>
                <a:cs typeface="PingFang SC"/>
              </a:rPr>
              <a:t>真实结果 · ASVspoof 2019 LA 全量 71k（A10 实测）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627632"/>
            <a:ext cx="2624327" cy="1170432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1627632"/>
            <a:ext cx="2624327" cy="82296"/>
          </a:xfrm>
          <a:prstGeom prst="rect">
            <a:avLst/>
          </a:prstGeom>
          <a:solidFill>
            <a:srgbClr val="1E7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19" y="1773936"/>
            <a:ext cx="2478023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1E7A4C"/>
                </a:solidFill>
                <a:latin typeface="PingFang SC"/>
                <a:ea typeface="PingFang SC"/>
                <a:cs typeface="PingFang SC"/>
              </a:rPr>
              <a:t>2.03%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395728"/>
            <a:ext cx="2478023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EER 等错误率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2151" y="1627632"/>
            <a:ext cx="2624327" cy="1170432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502151" y="1627632"/>
            <a:ext cx="2624327" cy="82296"/>
          </a:xfrm>
          <a:prstGeom prst="rect">
            <a:avLst/>
          </a:prstGeom>
          <a:solidFill>
            <a:srgbClr val="1E7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75303" y="1773936"/>
            <a:ext cx="2478023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1E7A4C"/>
                </a:solidFill>
                <a:latin typeface="PingFang SC"/>
                <a:ea typeface="PingFang SC"/>
                <a:cs typeface="PingFang SC"/>
              </a:rPr>
              <a:t>0.9890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5303" y="2395728"/>
            <a:ext cx="2478023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5935" y="1627632"/>
            <a:ext cx="2624327" cy="1170432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45935" y="1627632"/>
            <a:ext cx="2624327" cy="82296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19087" y="1773936"/>
            <a:ext cx="2478023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98.08%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7" y="2395728"/>
            <a:ext cx="2478023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Accuracy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19" y="1627632"/>
            <a:ext cx="2624327" cy="1170432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189719" y="1627632"/>
            <a:ext cx="2624327" cy="82296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62872" y="1773936"/>
            <a:ext cx="2478023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0.952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2872" y="2395728"/>
            <a:ext cx="2478023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Macro-F1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2980944"/>
            <a:ext cx="2624327" cy="1170432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58368" y="2980944"/>
            <a:ext cx="2624327" cy="82296"/>
          </a:xfrm>
          <a:prstGeom prst="rect">
            <a:avLst/>
          </a:prstGeom>
          <a:solidFill>
            <a:srgbClr val="B55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1519" y="3127248"/>
            <a:ext cx="2478023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0.266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19" y="3749039"/>
            <a:ext cx="2478023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min t-DCF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02151" y="2980944"/>
            <a:ext cx="2624327" cy="1170432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502151" y="2980944"/>
            <a:ext cx="2624327" cy="82296"/>
          </a:xfrm>
          <a:prstGeom prst="rect">
            <a:avLst/>
          </a:prstGeom>
          <a:solidFill>
            <a:srgbClr val="B55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575303" y="3127248"/>
            <a:ext cx="2478023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0.181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5303" y="3749039"/>
            <a:ext cx="2478023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ECE 校准误差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45935" y="2980944"/>
            <a:ext cx="2624327" cy="1170432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45935" y="2980944"/>
            <a:ext cx="2624327" cy="82296"/>
          </a:xfrm>
          <a:prstGeom prst="rect">
            <a:avLst/>
          </a:prstGeom>
          <a:solidFill>
            <a:srgbClr val="B55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19087" y="3127248"/>
            <a:ext cx="2478023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0.167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9087" y="3749039"/>
            <a:ext cx="2478023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Brier 分数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89719" y="2980944"/>
            <a:ext cx="2624327" cy="1170432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189719" y="2980944"/>
            <a:ext cx="2624327" cy="82296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262872" y="3127248"/>
            <a:ext cx="2478023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71,237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2872" y="3749039"/>
            <a:ext cx="2478023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eval 总样本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389120"/>
            <a:ext cx="731520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混淆矩阵 @ 决策阈值 θ（全量 71,237 条）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4773168"/>
            <a:ext cx="2624327" cy="786384"/>
          </a:xfrm>
          <a:prstGeom prst="roundRect">
            <a:avLst>
              <a:gd name="adj" fmla="val 6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58368" y="4773168"/>
            <a:ext cx="91440" cy="786384"/>
          </a:xfrm>
          <a:prstGeom prst="rect">
            <a:avLst/>
          </a:prstGeom>
          <a:solidFill>
            <a:srgbClr val="1E7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41247" y="4773168"/>
            <a:ext cx="1312163" cy="7863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E7A4C"/>
                </a:solidFill>
                <a:latin typeface="PingFang SC"/>
                <a:ea typeface="PingFang SC"/>
                <a:cs typeface="PingFang SC"/>
              </a:rPr>
              <a:t>62,567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70531" y="4773168"/>
            <a:ext cx="1184148" cy="7863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TP 真→真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02151" y="4773168"/>
            <a:ext cx="2624327" cy="786384"/>
          </a:xfrm>
          <a:prstGeom prst="roundRect">
            <a:avLst>
              <a:gd name="adj" fmla="val 6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3502151" y="4773168"/>
            <a:ext cx="91440" cy="786384"/>
          </a:xfrm>
          <a:prstGeom prst="rect">
            <a:avLst/>
          </a:prstGeom>
          <a:solidFill>
            <a:srgbClr val="1E7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685031" y="4773168"/>
            <a:ext cx="1312163" cy="7863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E7A4C"/>
                </a:solidFill>
                <a:latin typeface="PingFang SC"/>
                <a:ea typeface="PingFang SC"/>
                <a:cs typeface="PingFang SC"/>
              </a:rPr>
              <a:t>7,303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14315" y="4773168"/>
            <a:ext cx="1184148" cy="7863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TN 伪→伪判对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45935" y="4773168"/>
            <a:ext cx="2624327" cy="786384"/>
          </a:xfrm>
          <a:prstGeom prst="roundRect">
            <a:avLst>
              <a:gd name="adj" fmla="val 6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345935" y="4773168"/>
            <a:ext cx="91440" cy="786384"/>
          </a:xfrm>
          <a:prstGeom prst="rect">
            <a:avLst/>
          </a:prstGeom>
          <a:solidFill>
            <a:srgbClr val="B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528815" y="4773168"/>
            <a:ext cx="1312163" cy="7863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B02A2A"/>
                </a:solidFill>
                <a:latin typeface="PingFang SC"/>
                <a:ea typeface="PingFang SC"/>
                <a:cs typeface="PingFang SC"/>
              </a:rPr>
              <a:t>52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58099" y="4773168"/>
            <a:ext cx="1184148" cy="7863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FP 真判伪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189719" y="4773168"/>
            <a:ext cx="2624327" cy="786384"/>
          </a:xfrm>
          <a:prstGeom prst="roundRect">
            <a:avLst>
              <a:gd name="adj" fmla="val 6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9189719" y="4773168"/>
            <a:ext cx="91440" cy="786384"/>
          </a:xfrm>
          <a:prstGeom prst="rect">
            <a:avLst/>
          </a:prstGeom>
          <a:solidFill>
            <a:srgbClr val="B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372599" y="4773168"/>
            <a:ext cx="1312163" cy="7863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B02A2A"/>
                </a:solidFill>
                <a:latin typeface="PingFang SC"/>
                <a:ea typeface="PingFang SC"/>
                <a:cs typeface="PingFang SC"/>
              </a:rPr>
              <a:t>1,315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01884" y="4773168"/>
            <a:ext cx="1184148" cy="7863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FN 伪漏检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8368" y="5669279"/>
            <a:ext cx="11155680" cy="658368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658368" y="5669279"/>
            <a:ext cx="100584" cy="658368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914400" y="5669279"/>
            <a:ext cx="10698480" cy="65836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16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数据组成：bonafide 7,355 + spoof 63,882（13 种未知攻击各 4,914）。训练/收敛（A10 阶段实测）：25,380 条 · 8 epochs · A10 24GB · 约 960s/epoch · 总约 2h09m · loss 0.1571→0.0070 · dev EER 0.0091→0.0046（best，epoch 5/7/8）· 早停 patience=3 · 采用 checkpoint_epoch7_eer0.0046.pt；dev 0.46% / eval-5000 子集 1.89% → 全量 71k 2.03%。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37 / 47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REAL RESULTS ·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全量 71k：DET 曲线与打分分布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30568" y="402336"/>
            <a:ext cx="4965192" cy="420624"/>
          </a:xfrm>
          <a:prstGeom prst="roundRect">
            <a:avLst>
              <a:gd name="adj" fmla="val 30000"/>
            </a:avLst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30568" y="402336"/>
            <a:ext cx="91440" cy="420624"/>
          </a:xfrm>
          <a:prstGeom prst="rect">
            <a:avLst/>
          </a:prstGeom>
          <a:solidFill>
            <a:srgbClr val="1E6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95159" y="402336"/>
            <a:ext cx="4727448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B45"/>
                </a:solidFill>
                <a:latin typeface="PingFang SC"/>
                <a:ea typeface="PingFang SC"/>
                <a:cs typeface="PingFang SC"/>
              </a:rPr>
              <a:t>真实结果 · ASVspoof 2019 LA 全量 71k（A10 实测）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903720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1_det_curve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268966"/>
            <a:ext cx="3323844" cy="2886995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pic>
        <p:nvPicPr>
          <p:cNvPr id="13" name="Picture 12" descr="02_score_distribution_21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6532" y="3036615"/>
            <a:ext cx="3323844" cy="1351696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76656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20　DET 检测错误权衡曲线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6532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21　bonafide / spoof 打分分布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4696" y="1719072"/>
            <a:ext cx="3941064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曲线解读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72983" y="244335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29016" y="2359152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DET 曲线：横纵轴为假正/假负率，曲线越贴近左下越好；全量 71k 整体 EER 2.03%。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72983" y="3145917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29016" y="3061716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打分分布：bonafide 与 spoof 分数几乎完全分离，交叉区域极小，对应低 EER 与高 AUC 0.9890。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72983" y="3848481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29016" y="3764280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spoof 分布跨越多个子峰，反映 A07–A19 十三种未知生成器的多样性。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72983" y="4551045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29016" y="4466844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少数难攻击（A10 / A18 / A19）的 spoof 分数向 bonafide 尾部重叠，是 EER 的主要来源。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38 / 47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REAL RESULTS ·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全量 71k：混淆矩阵与概率校准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30568" y="402336"/>
            <a:ext cx="4965192" cy="420624"/>
          </a:xfrm>
          <a:prstGeom prst="roundRect">
            <a:avLst>
              <a:gd name="adj" fmla="val 30000"/>
            </a:avLst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30568" y="402336"/>
            <a:ext cx="91440" cy="420624"/>
          </a:xfrm>
          <a:prstGeom prst="rect">
            <a:avLst/>
          </a:prstGeom>
          <a:solidFill>
            <a:srgbClr val="1E6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95159" y="402336"/>
            <a:ext cx="4727448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B45"/>
                </a:solidFill>
                <a:latin typeface="PingFang SC"/>
                <a:ea typeface="PingFang SC"/>
                <a:cs typeface="PingFang SC"/>
              </a:rPr>
              <a:t>真实结果 · ASVspoof 2019 LA 全量 71k（A10 实测）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903720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5_confusion_matrix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121330"/>
            <a:ext cx="3323844" cy="3182266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pic>
        <p:nvPicPr>
          <p:cNvPr id="13" name="Picture 12" descr="04_calibration_21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6532" y="2959850"/>
            <a:ext cx="3323844" cy="1505226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76656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22　混淆矩阵 @ 决策阈值 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6532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23　校准曲线 reliability diagram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4696" y="1719072"/>
            <a:ext cx="3941064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要点解读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72983" y="244335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29016" y="2359152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混淆矩阵 @θ：TP=62,567、TN=7,303、FP=52、FN=1,315；假正极少，真人几乎不被误判为伪造。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72983" y="3145917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29016" y="3061716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漏检 FN=1,315 主要来自难攻击子集，是后续泛化方法的重点优化方向。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72983" y="3848481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29016" y="3764280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校准曲线：ECE 0.181、Brier 0.167，预测概率与真实频率总体一致但仍有偏差。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72983" y="4551045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29016" y="4466844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良好校准意味着输出分数可直接用于阈值决策与代价敏感场景（min t-DCF 0.266）。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39 / 47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REAL RESULTS ·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全量 71k：逐攻击热力图与 ROC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30568" y="402336"/>
            <a:ext cx="4965192" cy="420624"/>
          </a:xfrm>
          <a:prstGeom prst="roundRect">
            <a:avLst>
              <a:gd name="adj" fmla="val 30000"/>
            </a:avLst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30568" y="402336"/>
            <a:ext cx="91440" cy="420624"/>
          </a:xfrm>
          <a:prstGeom prst="rect">
            <a:avLst/>
          </a:prstGeom>
          <a:solidFill>
            <a:srgbClr val="1E6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95159" y="402336"/>
            <a:ext cx="4727448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B45"/>
                </a:solidFill>
                <a:latin typeface="PingFang SC"/>
                <a:ea typeface="PingFang SC"/>
                <a:cs typeface="PingFang SC"/>
              </a:rPr>
              <a:t>真实结果 · ASVspoof 2019 LA 全量 71k（A10 实测）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903720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6_per_attack_heatmap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720" y="1792224"/>
            <a:ext cx="3207715" cy="3840480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pic>
        <p:nvPicPr>
          <p:cNvPr id="13" name="Picture 12" descr="07_per_attack_roc_21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6532" y="2465231"/>
            <a:ext cx="3323844" cy="2494465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76656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24　逐攻击指标热力图（A07–A19）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6532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25　逐攻击 ROC 曲线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4696" y="1719072"/>
            <a:ext cx="3941064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要点解读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72983" y="244335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29016" y="2359152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逐攻击热力图：多数攻击 EER &lt; 1%（表现好），A10 / A18 / A19 / A08 相对偏难。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72983" y="3145917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29016" y="3061716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逐攻击 ROC：每条曲线对应一种未知攻击，绝大多数贴近左上角（AUC 接近 1）。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72983" y="3848481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29016" y="3764280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难攻击 ROC 曲线略向内凹，与其较高 EER 一致，交叉印证。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72983" y="4551045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29016" y="4466844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全未知设定下仍取得整体 AUC 0.9890，验证对未见生成器的泛化能力。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40 / 47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REAL RESULTS ·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全量 71k：Bootstrap 置信区间与 ROC 小倍数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30568" y="402336"/>
            <a:ext cx="4965192" cy="420624"/>
          </a:xfrm>
          <a:prstGeom prst="roundRect">
            <a:avLst>
              <a:gd name="adj" fmla="val 30000"/>
            </a:avLst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30568" y="402336"/>
            <a:ext cx="91440" cy="420624"/>
          </a:xfrm>
          <a:prstGeom prst="rect">
            <a:avLst/>
          </a:prstGeom>
          <a:solidFill>
            <a:srgbClr val="1E6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95159" y="402336"/>
            <a:ext cx="4727448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B45"/>
                </a:solidFill>
                <a:latin typeface="PingFang SC"/>
                <a:ea typeface="PingFang SC"/>
                <a:cs typeface="PingFang SC"/>
              </a:rPr>
              <a:t>真实结果 · ASVspoof 2019 LA 全量 71k（A10 实测）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64208"/>
            <a:ext cx="6903720" cy="4526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8_bootstrap_eer_ci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865675"/>
            <a:ext cx="3323844" cy="1693577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pic>
        <p:nvPicPr>
          <p:cNvPr id="13" name="Picture 12" descr="11_roc_small_multiples_21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6532" y="2255512"/>
            <a:ext cx="3323844" cy="2913903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76656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26　Bootstrap EER 置信区间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6532" y="5705856"/>
            <a:ext cx="3323844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27　逐攻击 ROC 小倍数图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4696" y="1719072"/>
            <a:ext cx="3941064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要点解读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2157984"/>
            <a:ext cx="868680" cy="502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72983" y="2443353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29016" y="2359152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Bootstrap EER 置信区间：对 71k 重采样得到 EER 的稳健区间，量化统计不确定性。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72983" y="3145917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29016" y="3061716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区间较窄说明 2.03% 的 EER 估计在大样本下稳定可信。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72983" y="3848481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29016" y="3764280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ROC 小倍数图：逐攻击 ROC 平铺对比，便于定位表现最弱的攻击类型。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72983" y="4551045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29016" y="4466844"/>
            <a:ext cx="3666744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与逐攻击 EER 表一致：A13 最易（0.00%）、A10 最难（7.28%）。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41 / 47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REAL RESULTS ·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全量 71k：综合评估仪表盘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30568" y="402336"/>
            <a:ext cx="4965192" cy="420624"/>
          </a:xfrm>
          <a:prstGeom prst="roundRect">
            <a:avLst>
              <a:gd name="adj" fmla="val 30000"/>
            </a:avLst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30568" y="402336"/>
            <a:ext cx="91440" cy="420624"/>
          </a:xfrm>
          <a:prstGeom prst="rect">
            <a:avLst/>
          </a:prstGeom>
          <a:solidFill>
            <a:srgbClr val="1E6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95159" y="402336"/>
            <a:ext cx="4727448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B45"/>
                </a:solidFill>
                <a:latin typeface="PingFang SC"/>
                <a:ea typeface="PingFang SC"/>
                <a:cs typeface="PingFang SC"/>
              </a:rPr>
              <a:t>真实结果 · ASVspoof 2019 LA 全量 71k（A10 实测）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627632"/>
            <a:ext cx="11228832" cy="3383280"/>
          </a:xfrm>
          <a:prstGeom prst="roundRect">
            <a:avLst>
              <a:gd name="adj" fmla="val 6000"/>
            </a:avLst>
          </a:prstGeom>
          <a:solidFill>
            <a:srgbClr val="F4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17_dashboard_2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425" y="1719072"/>
            <a:ext cx="4389836" cy="3200400"/>
          </a:xfrm>
          <a:prstGeom prst="roundRect">
            <a:avLst/>
          </a:prstGeom>
          <a:ln w="12700">
            <a:solidFill>
              <a:srgbClr val="C9CFD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66928" y="5047488"/>
            <a:ext cx="11228832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图 28　ASVspoof 2019 LA 全量 71k 综合评估仪表盘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228832" cy="950975"/>
          </a:xfrm>
          <a:prstGeom prst="roundRect">
            <a:avLst>
              <a:gd name="adj" fmla="val 6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66928" y="5376672"/>
            <a:ext cx="100584" cy="950975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5449824"/>
            <a:ext cx="201168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要点解读</a:t>
            </a:r>
          </a:p>
        </p:txBody>
      </p:sp>
      <p:sp>
        <p:nvSpPr>
          <p:cNvPr id="17" name="Diamond 16"/>
          <p:cNvSpPr/>
          <p:nvPr/>
        </p:nvSpPr>
        <p:spPr>
          <a:xfrm>
            <a:off x="854964" y="5906643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15568" y="5833872"/>
            <a:ext cx="4983480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综合仪表盘汇总全量 71k 的核心指标、分数分布、逐攻击表现与校准于一屏。</a:t>
            </a:r>
          </a:p>
        </p:txBody>
      </p:sp>
      <p:sp>
        <p:nvSpPr>
          <p:cNvPr id="19" name="Diamond 18"/>
          <p:cNvSpPr/>
          <p:nvPr/>
        </p:nvSpPr>
        <p:spPr>
          <a:xfrm>
            <a:off x="6277356" y="5906643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59" y="5833872"/>
            <a:ext cx="4983480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校准 ECE 0.181 / Brier 0.167；混淆矩阵 TP 62,567 / FP 52 / FN 1,315 / TN 7,303。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42 / 47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REAL RESULTS ·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逐攻击 EER（eval · 全量 71k · 全未知 A07–A…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30568" y="402336"/>
            <a:ext cx="4965192" cy="420624"/>
          </a:xfrm>
          <a:prstGeom prst="roundRect">
            <a:avLst>
              <a:gd name="adj" fmla="val 30000"/>
            </a:avLst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30568" y="402336"/>
            <a:ext cx="91440" cy="420624"/>
          </a:xfrm>
          <a:prstGeom prst="rect">
            <a:avLst/>
          </a:prstGeom>
          <a:solidFill>
            <a:srgbClr val="1E6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95159" y="402336"/>
            <a:ext cx="4727448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B45"/>
                </a:solidFill>
                <a:latin typeface="PingFang SC"/>
                <a:ea typeface="PingFang SC"/>
                <a:cs typeface="PingFang SC"/>
              </a:rPr>
              <a:t>真实结果 · ASVspoof 2019 LA 全量 71k（A10 实测）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627632"/>
            <a:ext cx="11155680" cy="51206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1627632"/>
            <a:ext cx="171907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攻击类型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2032" y="1627632"/>
            <a:ext cx="171907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EER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1" y="1627632"/>
            <a:ext cx="190195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AUC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1627632"/>
            <a:ext cx="2084831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min t-DCF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7072" y="1627632"/>
            <a:ext cx="190195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Macro-F1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1627632"/>
            <a:ext cx="1170431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难度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139696"/>
            <a:ext cx="11155680" cy="306324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0664" y="2139696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9463" y="2139696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0.42%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8264" y="2139696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0.9998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2139696"/>
            <a:ext cx="2029967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0.1166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04504" y="2139696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0.9956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6184" y="2139696"/>
            <a:ext cx="111556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8368" y="2446020"/>
            <a:ext cx="111556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58368" y="2446020"/>
            <a:ext cx="82296" cy="3063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0664" y="2446020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9463" y="2446020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4.84%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8264" y="2446020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0.9735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9944" y="2446020"/>
            <a:ext cx="2029967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0.4322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04504" y="2446020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0.9744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6184" y="2446020"/>
            <a:ext cx="111556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较难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2752344"/>
            <a:ext cx="11155680" cy="306324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0664" y="2752344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9463" y="2752344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0.26%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98264" y="2752344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1.0000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9944" y="2752344"/>
            <a:ext cx="2029967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0.0144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04504" y="2752344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0.9956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16184" y="2752344"/>
            <a:ext cx="111556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58368" y="3058668"/>
            <a:ext cx="111556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58368" y="3058668"/>
            <a:ext cx="82296" cy="306324"/>
          </a:xfrm>
          <a:prstGeom prst="rect">
            <a:avLst/>
          </a:prstGeom>
          <a:solidFill>
            <a:srgbClr val="B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0664" y="3058668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69463" y="3058668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7.28%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98264" y="3058668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0.9592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9944" y="3058668"/>
            <a:ext cx="2029967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0.5670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04504" y="3058668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0.9626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16184" y="3058668"/>
            <a:ext cx="111556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最难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3364991"/>
            <a:ext cx="11155680" cy="306324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40664" y="3364991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69463" y="3364991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0.54%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98264" y="3364991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0.9980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9944" y="3364991"/>
            <a:ext cx="2029967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0.1555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04504" y="3364991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0.9942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16184" y="3364991"/>
            <a:ext cx="111556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58368" y="3671315"/>
            <a:ext cx="111556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40664" y="3671315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69463" y="3671315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0.43%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98264" y="3671315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0.9997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9944" y="3671315"/>
            <a:ext cx="2029967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0.1024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04504" y="3671315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0.9955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16184" y="3671315"/>
            <a:ext cx="111556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658368" y="3977639"/>
            <a:ext cx="11155680" cy="306324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658368" y="3977639"/>
            <a:ext cx="82296" cy="306324"/>
          </a:xfrm>
          <a:prstGeom prst="rect">
            <a:avLst/>
          </a:prstGeom>
          <a:solidFill>
            <a:srgbClr val="1E7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40664" y="3977639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69463" y="3977639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0.00%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98264" y="3977639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1.0000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9944" y="3977639"/>
            <a:ext cx="2029967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0.0000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04504" y="3977639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0.9956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16184" y="3977639"/>
            <a:ext cx="111556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最易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58368" y="4283964"/>
            <a:ext cx="111556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40664" y="4283964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A14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69463" y="4283964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0.62%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98264" y="4283964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0.9983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09944" y="4283964"/>
            <a:ext cx="2029967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0.4056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04504" y="4283964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0.9951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16184" y="4283964"/>
            <a:ext cx="111556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658368" y="4590288"/>
            <a:ext cx="11155680" cy="306324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40664" y="4590288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69463" y="4590288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1.05%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98264" y="4590288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0.9934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9944" y="4590288"/>
            <a:ext cx="2029967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0.4862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604504" y="4590288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0.9912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16184" y="4590288"/>
            <a:ext cx="111556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658368" y="4896612"/>
            <a:ext cx="111556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740664" y="4896612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69463" y="4896612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0.44%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98264" y="4896612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0.9995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409944" y="4896612"/>
            <a:ext cx="2029967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0.0586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04504" y="4896612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0.9953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616184" y="4896612"/>
            <a:ext cx="111556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658368" y="5202936"/>
            <a:ext cx="11155680" cy="306324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740664" y="5202936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569463" y="5202936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0.53%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98264" y="5202936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0.9986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09944" y="5202936"/>
            <a:ext cx="2029967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0.1178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604504" y="5202936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0.9947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616184" y="5202936"/>
            <a:ext cx="111556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658368" y="5509259"/>
            <a:ext cx="111556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658368" y="5509259"/>
            <a:ext cx="82296" cy="3063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740664" y="5509259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69463" y="5509259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6.46%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98264" y="5509259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0.9641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09944" y="5509259"/>
            <a:ext cx="2029967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0.5067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604504" y="5509259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0.9666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616184" y="5509259"/>
            <a:ext cx="111556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较难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58368" y="5815583"/>
            <a:ext cx="11155680" cy="306324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658368" y="5815583"/>
            <a:ext cx="82296" cy="3063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740664" y="5815583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A19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569463" y="5815583"/>
            <a:ext cx="166420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5.00%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398264" y="5815583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0.9723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409944" y="5815583"/>
            <a:ext cx="2029967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0.4890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04504" y="5815583"/>
            <a:ext cx="184708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0.9736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616184" y="5815583"/>
            <a:ext cx="1115568" cy="3063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0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较难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58368" y="5669280"/>
            <a:ext cx="11155680" cy="658367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658368" y="5669280"/>
            <a:ext cx="91440" cy="658367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914400" y="5669280"/>
            <a:ext cx="10698480" cy="658367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最难：A10 7.28% / A18 6.46% / A19 5.00% / A08 4.84%；最易：A13 0.00%（完美区分）。整体 EER 2.03% 由少数难攻击主导，多数攻击 EER &lt; 1%，说明模型对大部分未知生成器已学到通用伪影。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43 / 47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ENGINEERING ·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云实验平台与工程实现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640080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平台与流水线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39696"/>
            <a:ext cx="777240" cy="457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2398334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2304288"/>
            <a:ext cx="6126480" cy="577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实验平台：阿里云 DSW + A10 GPU，rsync 同步代码、conda 环境、HF 镜像加速。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158566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87552" y="3064520"/>
            <a:ext cx="6126480" cy="577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配置驱动：Hydra + OmegaConf，experiment/model/dataset/training 分层配置。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918798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87552" y="3824752"/>
            <a:ext cx="6126480" cy="3115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一键启动：SKIP_PREPARE=1 bash scripts/quick_run.sh 完成全流程。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13214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7552" y="4319168"/>
            <a:ext cx="6126480" cy="3115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AMP：A100 上启用 bfloat16，单实验预计 30–90 分钟。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1737360"/>
            <a:ext cx="4251960" cy="4572000"/>
          </a:xfrm>
          <a:prstGeom prst="roundRect">
            <a:avLst>
              <a:gd name="adj" fmla="val 6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360920" y="1737360"/>
            <a:ext cx="4251960" cy="566928"/>
          </a:xfrm>
          <a:prstGeom prst="roundRect">
            <a:avLst>
              <a:gd name="adj" fmla="val 6000"/>
            </a:avLst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60920" y="2011680"/>
            <a:ext cx="4251960" cy="292608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0376" y="1737360"/>
            <a:ext cx="3886200" cy="56692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代码资产统计（真实）</a:t>
            </a:r>
          </a:p>
        </p:txBody>
      </p:sp>
      <p:sp>
        <p:nvSpPr>
          <p:cNvPr id="22" name="Diamond 21"/>
          <p:cNvSpPr/>
          <p:nvPr/>
        </p:nvSpPr>
        <p:spPr>
          <a:xfrm>
            <a:off x="7612380" y="2578227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872984" y="2505456"/>
            <a:ext cx="3520440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src/ 五大模块：data / models / training / evaluation / utils。</a:t>
            </a:r>
          </a:p>
        </p:txBody>
      </p:sp>
      <p:sp>
        <p:nvSpPr>
          <p:cNvPr id="24" name="Diamond 23"/>
          <p:cNvSpPr/>
          <p:nvPr/>
        </p:nvSpPr>
        <p:spPr>
          <a:xfrm>
            <a:off x="7612380" y="3299079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72984" y="3226308"/>
            <a:ext cx="3520440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26 个 Python 源模块（src）+ 14 个入口脚本（scripts）。</a:t>
            </a:r>
          </a:p>
        </p:txBody>
      </p:sp>
      <p:sp>
        <p:nvSpPr>
          <p:cNvPr id="26" name="Diamond 25"/>
          <p:cNvSpPr/>
          <p:nvPr/>
        </p:nvSpPr>
        <p:spPr>
          <a:xfrm>
            <a:off x="7612380" y="4019931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872984" y="3947160"/>
            <a:ext cx="3520440" cy="291845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128 项单元测试（tests，pytest 收集通过）。</a:t>
            </a:r>
          </a:p>
        </p:txBody>
      </p:sp>
      <p:sp>
        <p:nvSpPr>
          <p:cNvPr id="28" name="Diamond 27"/>
          <p:cNvSpPr/>
          <p:nvPr/>
        </p:nvSpPr>
        <p:spPr>
          <a:xfrm>
            <a:off x="7612380" y="4494657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872984" y="4421886"/>
            <a:ext cx="3520440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训练/评估/交叉评估/偏差检测/报告生成 CLI 齐备。</a:t>
            </a:r>
          </a:p>
        </p:txBody>
      </p:sp>
      <p:sp>
        <p:nvSpPr>
          <p:cNvPr id="30" name="Diamond 29"/>
          <p:cNvSpPr/>
          <p:nvPr/>
        </p:nvSpPr>
        <p:spPr>
          <a:xfrm>
            <a:off x="7612380" y="5215509"/>
            <a:ext cx="100584" cy="100584"/>
          </a:xfrm>
          <a:prstGeom prst="diamond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72984" y="5142738"/>
            <a:ext cx="3520440" cy="5379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可复现性：统一随机种子 + 日志 + WandB 实验追踪。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44 / 47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CONCLUSION ·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结论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831406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1737360"/>
            <a:ext cx="10652759" cy="3115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完整系统实现：SSL 前端（WavLM / XLS-R）+ AASIST 后端 + LoRA 微调的模块化检测框架。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62398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2268352"/>
            <a:ext cx="10652759" cy="3115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五种泛化策略落地：Single ERM / Multi ERM / RawBoost / MLDG+LoRA / SAM。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893390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87552" y="2799344"/>
            <a:ext cx="10652759" cy="577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完整评估体系：EER / AUC / Macro-F1 / Accuracy / min t-DCF 五指标 × overall / 已知 / 未知 / 逐攻击 / 逐数据集多维度，另含 ECE / Brier 校准评估。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690198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87552" y="3596152"/>
            <a:ext cx="10652759" cy="3115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跨数据集评估工具：自动化 N×N 交叉矩阵 + 退化分析；偏差检测覆盖静音/说话人/编码器/t-SNE/Grad-CAM 五项。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221190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7552" y="4127144"/>
            <a:ext cx="10652759" cy="3115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端到端验证通过：冒烟测试证明全流水线正确运行，并成功复现域迁移退化现象（域内 EER 0–6.7% → 跨域 26.7–33.3%）。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752182"/>
            <a:ext cx="77724" cy="7772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" y="4658136"/>
            <a:ext cx="10652759" cy="577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真实实测：ASVspoof 2019 LA 全量 71,237 条 eval（全未知攻击）EER 2.03% / AUC 0.9890 / Accuracy 98.08% / Macro-F1 0.952。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705856"/>
            <a:ext cx="10972800" cy="621792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5800" y="5705856"/>
            <a:ext cx="91440" cy="621792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2688" y="5705856"/>
            <a:ext cx="10515600" cy="62179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已完成「系统正确性验证 + ASVspoof 2019 LA 全量 71k 阿里云 A10 真实实测」；CFAD 等中文集完整跨数据集实测仍待开展。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45 / 47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417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0424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ROADMAP ·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"/>
            <a:ext cx="10881360" cy="67665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后续工作与时间表（阿里云 A100）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35024"/>
            <a:ext cx="141732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700784"/>
            <a:ext cx="11109959" cy="512064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" y="1700784"/>
            <a:ext cx="1993391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阶段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3784" y="1700784"/>
            <a:ext cx="4096511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50023" y="1700784"/>
            <a:ext cx="190195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预计时间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61704" y="1700784"/>
            <a:ext cx="2679191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212848"/>
            <a:ext cx="11109959" cy="603504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8096" y="2212848"/>
            <a:ext cx="1938527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1 · 环境部署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1215" y="2212848"/>
            <a:ext cx="4041648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rsync 代码 + conda 环境 + HF 镜像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77455" y="2212848"/>
            <a:ext cx="1847088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20 分钟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212848"/>
            <a:ext cx="2624327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就绪环境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816352"/>
            <a:ext cx="1110995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" y="2816352"/>
            <a:ext cx="1938527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2 · 数据准备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71215" y="2816352"/>
            <a:ext cx="4041648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CFAD + ASVspoof 2019 LA 上传与预处理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77455" y="2816352"/>
            <a:ext cx="1847088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30 分钟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9136" y="2816352"/>
            <a:ext cx="2624327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标准化数据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419856"/>
            <a:ext cx="11109959" cy="603504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68096" y="3419856"/>
            <a:ext cx="1938527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3 · 基线实验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71215" y="3419856"/>
            <a:ext cx="4041648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Single ERM（CFAD + WavLM-AASIST）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7455" y="3419856"/>
            <a:ext cx="1847088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30–60 分钟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89136" y="3419856"/>
            <a:ext cx="2624327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域内基线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023360"/>
            <a:ext cx="1110995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8096" y="4023360"/>
            <a:ext cx="1938527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4 · 多数据集训练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71215" y="4023360"/>
            <a:ext cx="4041648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Multi ERM + RawBoost 增强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77455" y="4023360"/>
            <a:ext cx="1847088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60–90 分钟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4023360"/>
            <a:ext cx="2624327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跨域基线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626864"/>
            <a:ext cx="11109959" cy="603504"/>
          </a:xfrm>
          <a:prstGeom prst="rect">
            <a:avLst/>
          </a:prstGeom>
          <a:solidFill>
            <a:srgbClr val="F4F5F8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68096" y="4626864"/>
            <a:ext cx="1938527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5 · 泛化方法对比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71215" y="4626864"/>
            <a:ext cx="4041648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MLDG+LoRA / SAM 优化器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77455" y="4626864"/>
            <a:ext cx="1847088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各 60–90 分钟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9136" y="4626864"/>
            <a:ext cx="2624327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策略比较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5230368"/>
            <a:ext cx="1110995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8096" y="5230368"/>
            <a:ext cx="1938527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1B244E"/>
                </a:solidFill>
                <a:latin typeface="PingFang SC"/>
                <a:ea typeface="PingFang SC"/>
                <a:cs typeface="PingFang SC"/>
              </a:rPr>
              <a:t>6 · 完整评估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71215" y="5230368"/>
            <a:ext cx="4041648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4×4 交叉矩阵 + 偏差检测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77455" y="5230368"/>
            <a:ext cx="1847088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30 分钟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89136" y="5230368"/>
            <a:ext cx="2624327" cy="60350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ctr">
              <a:lnSpc>
                <a:spcPct val="102000"/>
              </a:lnSpc>
            </a:pPr>
            <a:r>
              <a:rPr sz="1250" b="0" i="0">
                <a:solidFill>
                  <a:srgbClr val="20242E"/>
                </a:solidFill>
                <a:latin typeface="PingFang SC"/>
                <a:ea typeface="PingFang SC"/>
                <a:cs typeface="PingFang SC"/>
              </a:rPr>
              <a:t>完整评估报告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" y="5669280"/>
            <a:ext cx="11109959" cy="658367"/>
          </a:xfrm>
          <a:prstGeom prst="roundRect">
            <a:avLst>
              <a:gd name="adj" fmla="val 6000"/>
            </a:avLst>
          </a:prstGeom>
          <a:solidFill>
            <a:srgbClr val="F8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85800" y="5669280"/>
            <a:ext cx="91440" cy="658367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41832" y="5669280"/>
            <a:ext cx="10652759" cy="658367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B55C18"/>
                </a:solidFill>
                <a:latin typeface="PingFang SC"/>
                <a:ea typeface="PingFang SC"/>
                <a:cs typeface="PingFang SC"/>
              </a:rPr>
              <a:t>预期成果：CFAD 域内 EER ≤ 5%、准确率 ≥ 95%；MLDG+LoRA 使跨域 EER 相对下降 30–50%；输出 4×4 矩阵 + LA/DF 分组 + 偏差报告。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6400800"/>
            <a:ext cx="11228832" cy="18288"/>
          </a:xfrm>
          <a:prstGeom prst="rect">
            <a:avLst/>
          </a:prstGeom>
          <a:solidFill>
            <a:srgbClr val="C9C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66928" y="6437376"/>
            <a:ext cx="877824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子课题三 · 未知攻击与跨数据集泛化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6437376"/>
            <a:ext cx="17373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5E6474"/>
                </a:solidFill>
                <a:latin typeface="PingFang SC"/>
                <a:ea typeface="PingFang SC"/>
                <a:cs typeface="PingFang SC"/>
              </a:rPr>
              <a:t>46 / 47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33272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谢谢聆听 · 恳请批评指正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332720" cy="8686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E07A2F"/>
                </a:solidFill>
                <a:latin typeface="PingFang SC"/>
                <a:ea typeface="PingFang SC"/>
                <a:cs typeface="PingFang SC"/>
              </a:rPr>
              <a:t>Q &amp; A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6048" y="4343400"/>
            <a:ext cx="2286000" cy="54864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553712"/>
            <a:ext cx="103327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D9E0F2"/>
                </a:solidFill>
                <a:latin typeface="PingFang SC"/>
                <a:ea typeface="PingFang SC"/>
                <a:cs typeface="PingFang SC"/>
              </a:rPr>
              <a:t>子课题三：未知攻击与跨数据集泛化 · 面向中文场景的大模型语音伪造检测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47488"/>
            <a:ext cx="1033272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D9E0F2"/>
                </a:solidFill>
                <a:latin typeface="PingFang SC"/>
                <a:ea typeface="PingFang SC"/>
                <a:cs typeface="PingFang SC"/>
              </a:rPr>
              <a:t>系统已端到端验证通过 · ASVspoof 2019 LA 全量 71,237 条已于阿里云 A10 完成真实实测 · 完整跨数据集实验待续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806440"/>
            <a:ext cx="103327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D9E0F2"/>
                </a:solidFill>
                <a:latin typeface="PingFang SC"/>
                <a:ea typeface="PingFang SC"/>
                <a:cs typeface="PingFang SC"/>
              </a:rPr>
              <a:t>答辩人：张艺怀 · 2026 年 9 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</TotalTime>
  <Words>4380</Words>
  <Application>Microsoft Macintosh PowerPoint</Application>
  <PresentationFormat>宽屏</PresentationFormat>
  <Paragraphs>897</Paragraphs>
  <Slides>47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47</vt:i4>
      </vt:variant>
    </vt:vector>
  </HeadingPairs>
  <TitlesOfParts>
    <vt:vector size="51" baseType="lpstr">
      <vt:lpstr>PingFang SC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耀耀轩</cp:lastModifiedBy>
  <cp:revision>2</cp:revision>
  <dcterms:created xsi:type="dcterms:W3CDTF">2013-01-27T09:14:16Z</dcterms:created>
  <dcterms:modified xsi:type="dcterms:W3CDTF">2026-09-09T01:50:35Z</dcterms:modified>
  <cp:category/>
</cp:coreProperties>
</file>