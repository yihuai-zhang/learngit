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303" r:id="rId26"/>
    <p:sldId id="281" r:id="rId27"/>
    <p:sldId id="282" r:id="rId28"/>
    <p:sldId id="283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2" r:id="rId4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92"/>
  </p:normalViewPr>
  <p:slideViewPr>
    <p:cSldViewPr snapToGrid="0" snapToObjects="1">
      <p:cViewPr>
        <p:scale>
          <a:sx n="114" d="100"/>
          <a:sy n="114" d="100"/>
        </p:scale>
        <p:origin x="49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jp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0"/>
            <a:ext cx="12191695" cy="6858000"/>
          </a:xfrm>
          <a:prstGeom prst="rect">
            <a:avLst/>
          </a:prstGeom>
          <a:solidFill>
            <a:srgbClr val="1B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092440" y="274320"/>
            <a:ext cx="4099255" cy="6583680"/>
          </a:xfrm>
          <a:prstGeom prst="rect">
            <a:avLst/>
          </a:prstGeom>
          <a:solidFill>
            <a:srgbClr val="2C3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092440" y="274320"/>
            <a:ext cx="64008" cy="6583680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5394960"/>
            <a:ext cx="6766560" cy="18288"/>
          </a:xfrm>
          <a:prstGeom prst="rect">
            <a:avLst/>
          </a:prstGeom>
          <a:solidFill>
            <a:srgbClr val="2C3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5623560"/>
            <a:ext cx="5760720" cy="18288"/>
          </a:xfrm>
          <a:prstGeom prst="rect">
            <a:avLst/>
          </a:prstGeom>
          <a:solidFill>
            <a:srgbClr val="2C3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" y="5852160"/>
            <a:ext cx="4754880" cy="18288"/>
          </a:xfrm>
          <a:prstGeom prst="rect">
            <a:avLst/>
          </a:prstGeom>
          <a:solidFill>
            <a:srgbClr val="2C3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325880"/>
            <a:ext cx="704088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D9E0F2"/>
                </a:solidFill>
                <a:latin typeface="PingFang SC"/>
                <a:ea typeface="PingFang SC"/>
                <a:cs typeface="PingFang SC"/>
              </a:rPr>
              <a:t>面向中文场景的大模型语音伪造检测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920240"/>
            <a:ext cx="7223760" cy="1371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未知攻击与跨数据集泛化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3401568"/>
            <a:ext cx="1920240" cy="73152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3675887"/>
            <a:ext cx="694944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E07A2F"/>
                </a:solidFill>
                <a:latin typeface="PingFang SC"/>
                <a:ea typeface="PingFang SC"/>
                <a:cs typeface="PingFang SC"/>
              </a:rPr>
              <a:t>子课题三 · 研究答辩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315968"/>
            <a:ext cx="704088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D9E0F2"/>
                </a:solidFill>
                <a:latin typeface="PingFang SC"/>
                <a:ea typeface="PingFang SC"/>
                <a:cs typeface="PingFang SC"/>
              </a:rPr>
              <a:t>SSL 前端 + AASIST 图注意力后端 + LoRA 高效微调 · 多策略域泛化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5074920"/>
            <a:ext cx="6309360" cy="786384"/>
          </a:xfrm>
          <a:prstGeom prst="roundRect">
            <a:avLst>
              <a:gd name="adj" fmla="val 6000"/>
            </a:avLst>
          </a:prstGeom>
          <a:solidFill>
            <a:srgbClr val="2C3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2960" y="5074920"/>
            <a:ext cx="91440" cy="78638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42415" y="5074920"/>
            <a:ext cx="5943600" cy="7863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ASVspoof 2019 LA 全量 71,237 条实测：EER 2.03% · AUC 0.9890 · Acc 98.08%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32520" y="2713984"/>
            <a:ext cx="3291840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07A2F"/>
                </a:solidFill>
                <a:latin typeface="PingFang SC"/>
                <a:ea typeface="PingFang SC"/>
                <a:cs typeface="PingFang SC"/>
              </a:rPr>
              <a:t>答辩人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32520" y="3024880"/>
            <a:ext cx="342900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张艺怀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32520" y="3555232"/>
            <a:ext cx="3017520" cy="13716"/>
          </a:xfrm>
          <a:prstGeom prst="rect">
            <a:avLst/>
          </a:prstGeom>
          <a:solidFill>
            <a:srgbClr val="1B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732520" y="3837692"/>
            <a:ext cx="3291840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07A2F"/>
                </a:solidFill>
                <a:latin typeface="PingFang SC"/>
                <a:ea typeface="PingFang SC"/>
                <a:cs typeface="PingFang SC"/>
              </a:rPr>
              <a:t>汇报日期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32520" y="4148588"/>
            <a:ext cx="342900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2026 年 9 月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732520" y="4678940"/>
            <a:ext cx="3017520" cy="13716"/>
          </a:xfrm>
          <a:prstGeom prst="rect">
            <a:avLst/>
          </a:prstGeom>
          <a:solidFill>
            <a:srgbClr val="1B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1417320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0424160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07A2F"/>
                </a:solidFill>
                <a:latin typeface="PingFang SC"/>
                <a:ea typeface="PingFang SC"/>
                <a:cs typeface="PingFang SC"/>
              </a:rPr>
              <a:t>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03504"/>
            <a:ext cx="10881360" cy="6766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目录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35024"/>
            <a:ext cx="1417320" cy="5486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700784"/>
            <a:ext cx="5504688" cy="1481328"/>
          </a:xfrm>
          <a:prstGeom prst="roundRect">
            <a:avLst>
              <a:gd name="adj" fmla="val 6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700784"/>
            <a:ext cx="100584" cy="1481328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" y="1700784"/>
            <a:ext cx="1051560" cy="148132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200" b="1" i="0">
                <a:solidFill>
                  <a:srgbClr val="D9E0F2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65376" y="1938528"/>
            <a:ext cx="4041648" cy="7863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课题背景与研究目标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65376" y="2633472"/>
            <a:ext cx="4041648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语音深伪威胁 · 中文场景挑战 · 验收指标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27648" y="1700784"/>
            <a:ext cx="5504688" cy="1481328"/>
          </a:xfrm>
          <a:prstGeom prst="roundRect">
            <a:avLst>
              <a:gd name="adj" fmla="val 6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27648" y="1700784"/>
            <a:ext cx="100584" cy="1481328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47104" y="1700784"/>
            <a:ext cx="1051560" cy="148132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200" b="1" i="0">
                <a:solidFill>
                  <a:srgbClr val="D9E0F2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6096" y="1938528"/>
            <a:ext cx="4041648" cy="7863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系统架构与核心方法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6096" y="2633472"/>
            <a:ext cx="4041648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SSL 前端 · AASIST 后端 · LoRA · 五种泛化策略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310128"/>
            <a:ext cx="5504688" cy="1481328"/>
          </a:xfrm>
          <a:prstGeom prst="roundRect">
            <a:avLst>
              <a:gd name="adj" fmla="val 6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66928" y="3310128"/>
            <a:ext cx="100584" cy="1481328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86384" y="3310128"/>
            <a:ext cx="1051560" cy="148132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200" b="1" i="0">
                <a:solidFill>
                  <a:srgbClr val="D9E0F2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65376" y="3547872"/>
            <a:ext cx="4041648" cy="7863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数据与评估体系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65376" y="4242816"/>
            <a:ext cx="4041648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四数据集 · 音频时频解析 · 跨数据集矩阵 · 偏差检测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27648" y="3310128"/>
            <a:ext cx="5504688" cy="1481328"/>
          </a:xfrm>
          <a:prstGeom prst="roundRect">
            <a:avLst>
              <a:gd name="adj" fmla="val 6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327648" y="3310128"/>
            <a:ext cx="100584" cy="1481328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47104" y="3310128"/>
            <a:ext cx="1051560" cy="148132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200" b="1" i="0">
                <a:solidFill>
                  <a:srgbClr val="D9E0F2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26096" y="3547872"/>
            <a:ext cx="4041648" cy="7863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600" b="1" i="0" dirty="0" err="1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系统端到端验证</a:t>
            </a:r>
            <a:endParaRPr sz="1600" b="1" i="0" dirty="0">
              <a:solidFill>
                <a:srgbClr val="1B244E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626096" y="4242816"/>
            <a:ext cx="4041648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合成双域冒烟测试 · 训练收敛 · 跨域退化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4919472"/>
            <a:ext cx="5504688" cy="1481328"/>
          </a:xfrm>
          <a:prstGeom prst="roundRect">
            <a:avLst>
              <a:gd name="adj" fmla="val 6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66928" y="4919472"/>
            <a:ext cx="100584" cy="1481328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86384" y="4919472"/>
            <a:ext cx="1051560" cy="148132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200" b="1" i="0">
                <a:solidFill>
                  <a:srgbClr val="D9E0F2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65376" y="5157216"/>
            <a:ext cx="4041648" cy="7863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600" b="1" i="0" dirty="0" err="1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ASVspoof</a:t>
            </a:r>
            <a:r>
              <a:rPr sz="1600" b="1" i="0" dirty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 2019 LA </a:t>
            </a:r>
            <a:r>
              <a:rPr sz="1600" b="1" i="0" dirty="0" err="1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全量</a:t>
            </a:r>
            <a:r>
              <a:rPr sz="1600" b="1" i="0" dirty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 71k </a:t>
            </a:r>
            <a:r>
              <a:rPr sz="1600" b="1" i="0" dirty="0" err="1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实测</a:t>
            </a:r>
            <a:endParaRPr sz="1600" b="1" i="0" dirty="0">
              <a:solidFill>
                <a:srgbClr val="1B244E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865376" y="5852160"/>
            <a:ext cx="4041648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EER 2.03% · 逐攻击 EER · 校准 · DET · 混淆矩阵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27648" y="4919472"/>
            <a:ext cx="5504688" cy="1481328"/>
          </a:xfrm>
          <a:prstGeom prst="roundRect">
            <a:avLst>
              <a:gd name="adj" fmla="val 6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327648" y="4919472"/>
            <a:ext cx="100584" cy="1481328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47104" y="4919472"/>
            <a:ext cx="1051560" cy="148132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200" b="1" i="0">
                <a:solidFill>
                  <a:srgbClr val="D9E0F2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26096" y="5157216"/>
            <a:ext cx="4041648" cy="7863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工程实现 · 结论 · 后续工作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26096" y="5852160"/>
            <a:ext cx="4041648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200" b="0" i="0" dirty="0" err="1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致谢</a:t>
            </a:r>
            <a:endParaRPr sz="1200" b="0" i="0" dirty="0">
              <a:solidFill>
                <a:srgbClr val="5E6474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566928" y="6400800"/>
            <a:ext cx="11228832" cy="18288"/>
          </a:xfrm>
          <a:prstGeom prst="rect">
            <a:avLst/>
          </a:prstGeom>
          <a:solidFill>
            <a:srgbClr val="C9C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66928" y="6437376"/>
            <a:ext cx="8778240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子课题三 · 未知攻击与跨数据集泛化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0" y="6437376"/>
            <a:ext cx="1737360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2 / 47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9476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1417320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0424160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07A2F"/>
                </a:solidFill>
                <a:latin typeface="PingFang SC"/>
                <a:ea typeface="PingFang SC"/>
                <a:cs typeface="PingFang SC"/>
              </a:rPr>
              <a:t>BACKGROUND ·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03504"/>
            <a:ext cx="10881360" cy="6766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研究背景：语音深度伪造威胁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35024"/>
            <a:ext cx="1417320" cy="5486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851096"/>
            <a:ext cx="77724" cy="7772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7552" y="1737360"/>
            <a:ext cx="10652759" cy="350916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550" b="1" i="0" dirty="0" err="1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TTS（文本转语音</a:t>
            </a:r>
            <a:r>
              <a:rPr sz="1550" b="1" i="0" dirty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）、</a:t>
            </a:r>
            <a:r>
              <a:rPr sz="1550" b="1" i="0" dirty="0" err="1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VC（语音转换）</a:t>
            </a:r>
            <a:r>
              <a:rPr sz="1550" b="0" i="0" dirty="0" err="1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与</a:t>
            </a:r>
            <a:r>
              <a:rPr sz="1550" b="0" i="0" dirty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 AI </a:t>
            </a:r>
            <a:r>
              <a:rPr sz="1550" b="0" i="0" dirty="0" err="1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编解码技术快速演进，合成语音自然度已逼近人耳难以区分的水平</a:t>
            </a:r>
            <a:r>
              <a:rPr sz="1550" b="0" i="0" dirty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421468"/>
            <a:ext cx="77724" cy="7772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87552" y="2307732"/>
            <a:ext cx="10652759" cy="350916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550" b="1" i="0" dirty="0" err="1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深伪语音被用于电信诈骗、身份冒用、舆论伪造</a:t>
            </a:r>
            <a:r>
              <a:rPr sz="1550" b="0" i="0" dirty="0" err="1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等场景，对社会安全与身份认证系统构成现实威胁</a:t>
            </a:r>
            <a:r>
              <a:rPr sz="1550" b="0" i="0" dirty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991840"/>
            <a:ext cx="77724" cy="7772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87552" y="2878104"/>
            <a:ext cx="10652759" cy="350916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550" b="0" i="0" dirty="0" err="1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传统针对已知攻击训练的检测器，一旦面对</a:t>
            </a:r>
            <a:r>
              <a:rPr sz="1550" b="1" i="0" dirty="0" err="1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训练时未见过的新生成器</a:t>
            </a:r>
            <a:r>
              <a:rPr sz="1550" b="0" i="0" dirty="0" err="1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，性能往往急剧下降</a:t>
            </a:r>
            <a:r>
              <a:rPr sz="1550" b="0" i="0" dirty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562212"/>
            <a:ext cx="77724" cy="7772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87552" y="3448476"/>
            <a:ext cx="10652759" cy="350916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55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语音反欺骗（Anti-Spoofing）需在逻辑接入 LA、物理接入 PA、深度伪造 DF 三类场景下分别给出可靠结论。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132585"/>
            <a:ext cx="77724" cy="7772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87552" y="4018848"/>
            <a:ext cx="10652759" cy="350916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550" b="0" i="0" dirty="0" err="1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检测目标：从原始波形中判别</a:t>
            </a:r>
            <a:r>
              <a:rPr sz="1550" b="0" i="0" dirty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550" b="0" i="0" dirty="0" err="1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bonafide（真人）与</a:t>
            </a:r>
            <a:r>
              <a:rPr sz="1550" b="0" i="0" dirty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550" b="0" i="0" dirty="0" err="1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spoof（伪造</a:t>
            </a:r>
            <a:r>
              <a:rPr sz="1550" b="0" i="0" dirty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），</a:t>
            </a:r>
            <a:r>
              <a:rPr sz="1550" b="0" i="0" dirty="0" err="1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并输出可用于阈值决策的置信分数</a:t>
            </a:r>
            <a:r>
              <a:rPr sz="1550" b="0" i="0" dirty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5705856"/>
            <a:ext cx="10972800" cy="621792"/>
          </a:xfrm>
          <a:prstGeom prst="roundRect">
            <a:avLst>
              <a:gd name="adj" fmla="val 6000"/>
            </a:avLst>
          </a:prstGeom>
          <a:solidFill>
            <a:srgbClr val="F8E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85800" y="5705856"/>
            <a:ext cx="91440" cy="621792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2688" y="5705856"/>
            <a:ext cx="10515600" cy="62179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B55C18"/>
                </a:solidFill>
                <a:latin typeface="PingFang SC"/>
                <a:ea typeface="PingFang SC"/>
                <a:cs typeface="PingFang SC"/>
              </a:rPr>
              <a:t>核心矛盾：生成技术迭代速度 &gt; 检测器泛化能力，「未知攻击」成为落地的关键瓶颈。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6400800"/>
            <a:ext cx="11228832" cy="18288"/>
          </a:xfrm>
          <a:prstGeom prst="rect">
            <a:avLst/>
          </a:prstGeom>
          <a:solidFill>
            <a:srgbClr val="C9C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66928" y="6437376"/>
            <a:ext cx="8778240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子课题三 · 未知攻击与跨数据集泛化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6437376"/>
            <a:ext cx="1737360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3 / 47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1417320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0424160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07A2F"/>
                </a:solidFill>
                <a:latin typeface="PingFang SC"/>
                <a:ea typeface="PingFang SC"/>
                <a:cs typeface="PingFang SC"/>
              </a:rPr>
              <a:t>BACKGROUND ·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0881360" cy="6766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中文场景挑战与课题定位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35024"/>
            <a:ext cx="1417320" cy="5486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640080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中文语音伪造检测的独特挑战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139696"/>
            <a:ext cx="777240" cy="45720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9214" y="2397854"/>
            <a:ext cx="77724" cy="7772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1" name="TextBox 10"/>
          <p:cNvSpPr txBox="1"/>
          <p:nvPr/>
        </p:nvSpPr>
        <p:spPr>
          <a:xfrm>
            <a:off x="825246" y="2303808"/>
            <a:ext cx="6489954" cy="577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400" b="0" i="0" dirty="0" err="1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声调系统复杂：四声与变调使中文韵律区别于英文，通用模型迁移到中文易失配</a:t>
            </a:r>
            <a:r>
              <a:rPr sz="1400" b="0" i="0" dirty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9214" y="2854094"/>
            <a:ext cx="77724" cy="7772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3" name="TextBox 12"/>
          <p:cNvSpPr txBox="1"/>
          <p:nvPr/>
        </p:nvSpPr>
        <p:spPr>
          <a:xfrm>
            <a:off x="825246" y="2760048"/>
            <a:ext cx="6126480" cy="311536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400" b="0" i="0" dirty="0" err="1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方言多样：多方言口音进一步扩大真实语音分布，增加</a:t>
            </a:r>
            <a:r>
              <a:rPr sz="1400" b="0" i="0" dirty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400" b="0" i="0" dirty="0" err="1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bonafide</a:t>
            </a:r>
            <a:r>
              <a:rPr sz="1400" b="0" i="0" dirty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400" b="0" i="0" dirty="0" err="1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建模难度</a:t>
            </a:r>
            <a:r>
              <a:rPr sz="1400" b="0" i="0" dirty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9214" y="3348510"/>
            <a:ext cx="77724" cy="7772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5" name="TextBox 14"/>
          <p:cNvSpPr txBox="1"/>
          <p:nvPr/>
        </p:nvSpPr>
        <p:spPr>
          <a:xfrm>
            <a:off x="825246" y="3254464"/>
            <a:ext cx="6126480" cy="311536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4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中文特化伪造数据集稀缺，标注与攻击类型覆盖不及英文基准充分。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9214" y="3842926"/>
            <a:ext cx="77724" cy="7772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7" name="TextBox 16"/>
          <p:cNvSpPr txBox="1"/>
          <p:nvPr/>
        </p:nvSpPr>
        <p:spPr>
          <a:xfrm>
            <a:off x="825246" y="3748880"/>
            <a:ext cx="6126480" cy="311536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4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多数公开检测器在英文集上训练，跨语言到中文时出现显著域偏移。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45883" y="1353312"/>
            <a:ext cx="4251960" cy="3968496"/>
          </a:xfrm>
          <a:prstGeom prst="roundRect">
            <a:avLst>
              <a:gd name="adj" fmla="val 6000"/>
            </a:avLst>
          </a:prstGeom>
          <a:solidFill>
            <a:srgbClr val="EC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445883" y="1353312"/>
            <a:ext cx="4251960" cy="566928"/>
          </a:xfrm>
          <a:prstGeom prst="roundRect">
            <a:avLst>
              <a:gd name="adj" fmla="val 6000"/>
            </a:avLst>
          </a:prstGeom>
          <a:solidFill>
            <a:srgbClr val="1B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445883" y="1627632"/>
            <a:ext cx="4251960" cy="292608"/>
          </a:xfrm>
          <a:prstGeom prst="rect">
            <a:avLst/>
          </a:prstGeom>
          <a:solidFill>
            <a:srgbClr val="1B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665339" y="1353312"/>
            <a:ext cx="3886200" cy="56692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子课题三 · 两大核心问题</a:t>
            </a:r>
          </a:p>
        </p:txBody>
      </p:sp>
      <p:sp>
        <p:nvSpPr>
          <p:cNvPr id="22" name="Diamond 21"/>
          <p:cNvSpPr/>
          <p:nvPr/>
        </p:nvSpPr>
        <p:spPr>
          <a:xfrm>
            <a:off x="7697343" y="2194179"/>
            <a:ext cx="100584" cy="100584"/>
          </a:xfrm>
          <a:prstGeom prst="diamond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3" name="TextBox 22"/>
          <p:cNvSpPr txBox="1"/>
          <p:nvPr/>
        </p:nvSpPr>
        <p:spPr>
          <a:xfrm>
            <a:off x="7957947" y="2121408"/>
            <a:ext cx="3520440" cy="537971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400" b="1" i="0" dirty="0" err="1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未知攻击检测</a:t>
            </a:r>
            <a:r>
              <a:rPr sz="1400" b="0" i="0" dirty="0" err="1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：应对训练阶段未见过的伪造算法（生成器未知</a:t>
            </a:r>
            <a:r>
              <a:rPr sz="1400" b="0" i="0" dirty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）。</a:t>
            </a:r>
          </a:p>
        </p:txBody>
      </p:sp>
      <p:sp>
        <p:nvSpPr>
          <p:cNvPr id="24" name="Diamond 23"/>
          <p:cNvSpPr/>
          <p:nvPr/>
        </p:nvSpPr>
        <p:spPr>
          <a:xfrm>
            <a:off x="7697343" y="2915031"/>
            <a:ext cx="100584" cy="100584"/>
          </a:xfrm>
          <a:prstGeom prst="diamond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5" name="TextBox 24"/>
          <p:cNvSpPr txBox="1"/>
          <p:nvPr/>
        </p:nvSpPr>
        <p:spPr>
          <a:xfrm>
            <a:off x="7957947" y="2842260"/>
            <a:ext cx="3520440" cy="537971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400" b="1" i="0" dirty="0" err="1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跨数据集泛化</a:t>
            </a:r>
            <a:r>
              <a:rPr sz="1400" b="0" i="0" dirty="0" err="1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：在不同录音条件、不同语言的数据集间保持鲁棒检测能力</a:t>
            </a:r>
            <a:r>
              <a:rPr sz="1400" b="0" i="0" dirty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  <p:sp>
        <p:nvSpPr>
          <p:cNvPr id="26" name="Diamond 25"/>
          <p:cNvSpPr/>
          <p:nvPr/>
        </p:nvSpPr>
        <p:spPr>
          <a:xfrm>
            <a:off x="7697343" y="3635883"/>
            <a:ext cx="100584" cy="100584"/>
          </a:xfrm>
          <a:prstGeom prst="diamond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7" name="TextBox 26"/>
          <p:cNvSpPr txBox="1"/>
          <p:nvPr/>
        </p:nvSpPr>
        <p:spPr>
          <a:xfrm>
            <a:off x="7957946" y="3563112"/>
            <a:ext cx="3700653" cy="291845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400" b="1" i="0" dirty="0" err="1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中文场景适配</a:t>
            </a:r>
            <a:r>
              <a:rPr sz="1400" b="0" i="0" dirty="0" err="1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：中文主测、兼顾多语言泛化</a:t>
            </a:r>
            <a:r>
              <a:rPr sz="1400" b="0" i="0" dirty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  <p:sp>
        <p:nvSpPr>
          <p:cNvPr id="28" name="Diamond 27"/>
          <p:cNvSpPr/>
          <p:nvPr/>
        </p:nvSpPr>
        <p:spPr>
          <a:xfrm>
            <a:off x="7697343" y="4110609"/>
            <a:ext cx="100584" cy="100584"/>
          </a:xfrm>
          <a:prstGeom prst="diamond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9" name="TextBox 28"/>
          <p:cNvSpPr txBox="1"/>
          <p:nvPr/>
        </p:nvSpPr>
        <p:spPr>
          <a:xfrm>
            <a:off x="7957947" y="4037838"/>
            <a:ext cx="3520440" cy="537971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4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定位：不做单一刷分，而是构建可泛化、可诊断、可复现的检测框架。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5705856"/>
            <a:ext cx="10972800" cy="621792"/>
          </a:xfrm>
          <a:prstGeom prst="roundRect">
            <a:avLst>
              <a:gd name="adj" fmla="val 6000"/>
            </a:avLst>
          </a:prstGeom>
          <a:solidFill>
            <a:srgbClr val="F8E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85800" y="5705856"/>
            <a:ext cx="91440" cy="621792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32688" y="5705856"/>
            <a:ext cx="10515600" cy="62179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B55C18"/>
                </a:solidFill>
                <a:latin typeface="PingFang SC"/>
                <a:ea typeface="PingFang SC"/>
                <a:cs typeface="PingFang SC"/>
              </a:rPr>
              <a:t>两大核心问题相互耦合：未知攻击考验对新生成器的泛化，跨数据集考验对跨语言/跨信道的泛化，二者共同决定落地可靠性。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6400800"/>
            <a:ext cx="11228832" cy="18288"/>
          </a:xfrm>
          <a:prstGeom prst="rect">
            <a:avLst/>
          </a:prstGeom>
          <a:solidFill>
            <a:srgbClr val="C9C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66928" y="6437376"/>
            <a:ext cx="8778240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子课题三 · 未知攻击与跨数据集泛化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0" y="6437376"/>
            <a:ext cx="1737360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4 / 47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1417320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0424160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07A2F"/>
                </a:solidFill>
                <a:latin typeface="PingFang SC"/>
                <a:ea typeface="PingFang SC"/>
                <a:cs typeface="PingFang SC"/>
              </a:rPr>
              <a:t>PROBLEM ·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03504"/>
            <a:ext cx="10881360" cy="6766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四类未知攻击场景定义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35024"/>
            <a:ext cx="1417320" cy="5486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481328"/>
            <a:ext cx="11109959" cy="512064"/>
          </a:xfrm>
          <a:prstGeom prst="rect">
            <a:avLst/>
          </a:prstGeom>
          <a:solidFill>
            <a:srgbClr val="1B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0664" y="1481328"/>
            <a:ext cx="1627631" cy="51206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未知类型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78024" y="1481328"/>
            <a:ext cx="3090672" cy="51206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定义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78424" y="1481328"/>
            <a:ext cx="2039112" cy="51206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训练集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27264" y="1481328"/>
            <a:ext cx="2039112" cy="51206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测试集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76104" y="1481328"/>
            <a:ext cx="1764791" cy="51206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核心挑战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1993392"/>
            <a:ext cx="11109959" cy="868680"/>
          </a:xfrm>
          <a:prstGeom prst="rect">
            <a:avLst/>
          </a:prstGeom>
          <a:solidFill>
            <a:srgbClr val="F4F5F8"/>
          </a:solidFill>
          <a:ln w="9525">
            <a:solidFill>
              <a:srgbClr val="C9C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8096" y="1993392"/>
            <a:ext cx="1572768" cy="8686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2000"/>
              </a:lnSpc>
            </a:pPr>
            <a:r>
              <a:rPr sz="1200" b="1" i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生成器未知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05456" y="1993392"/>
            <a:ext cx="3035808" cy="8686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使用训练时未见过的 TTS/VC 算法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05856" y="1993392"/>
            <a:ext cx="1984248" cy="8686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A01–A06（6 已知）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54696" y="1993392"/>
            <a:ext cx="1984248" cy="8686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A07–A19（13 未知）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03536" y="1993392"/>
            <a:ext cx="1709928" cy="8686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是否学到通用伪影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2862072"/>
            <a:ext cx="11109959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9C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68096" y="2862072"/>
            <a:ext cx="1572768" cy="8686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2000"/>
              </a:lnSpc>
            </a:pPr>
            <a:r>
              <a:rPr sz="1200" b="1" i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设备/信道未知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05456" y="2862072"/>
            <a:ext cx="3035808" cy="8686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不同麦克风、编码器、信道条件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05856" y="2862072"/>
            <a:ext cx="1984248" cy="8686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特定录音条件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54696" y="2862072"/>
            <a:ext cx="1984248" cy="8686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不同录音条件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03536" y="2862072"/>
            <a:ext cx="1709928" cy="8686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对信道变化的鲁棒性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3730752"/>
            <a:ext cx="11109959" cy="868680"/>
          </a:xfrm>
          <a:prstGeom prst="rect">
            <a:avLst/>
          </a:prstGeom>
          <a:solidFill>
            <a:srgbClr val="F4F5F8"/>
          </a:solidFill>
          <a:ln w="9525">
            <a:solidFill>
              <a:srgbClr val="C9C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68096" y="3730752"/>
            <a:ext cx="1572768" cy="8686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2000"/>
              </a:lnSpc>
            </a:pPr>
            <a:r>
              <a:rPr sz="1200" b="1" i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环境未知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05456" y="3730752"/>
            <a:ext cx="3035808" cy="8686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不同噪声环境、混响条件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05856" y="3730752"/>
            <a:ext cx="1984248" cy="8686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清洁/轻度噪声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54696" y="3730752"/>
            <a:ext cx="1984248" cy="8686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强噪声/混响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03536" y="3730752"/>
            <a:ext cx="1709928" cy="8686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噪声掩蔽下的检测力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" y="4599432"/>
            <a:ext cx="11109959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9C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68096" y="4599432"/>
            <a:ext cx="1572768" cy="8686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2000"/>
              </a:lnSpc>
            </a:pPr>
            <a:r>
              <a:rPr sz="1200" b="1" i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数据集/语言未知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05456" y="4599432"/>
            <a:ext cx="3035808" cy="8686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完全不同的数据集或语言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05856" y="4599432"/>
            <a:ext cx="1984248" cy="8686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中文 CFAD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54696" y="4599432"/>
            <a:ext cx="1984248" cy="8686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英文 ASVspoof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03536" y="4599432"/>
            <a:ext cx="1709928" cy="8686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跨语言/跨域泛化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5800" y="5669280"/>
            <a:ext cx="11109959" cy="658367"/>
          </a:xfrm>
          <a:prstGeom prst="roundRect">
            <a:avLst>
              <a:gd name="adj" fmla="val 6000"/>
            </a:avLst>
          </a:prstGeom>
          <a:solidFill>
            <a:srgbClr val="F8E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85800" y="5669280"/>
            <a:ext cx="91440" cy="658367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41832" y="5669280"/>
            <a:ext cx="10652759" cy="658367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B55C18"/>
                </a:solidFill>
                <a:latin typeface="PingFang SC"/>
                <a:ea typeface="PingFang SC"/>
                <a:cs typeface="PingFang SC"/>
              </a:rPr>
              <a:t>评估须按「已知 vs 未知」分组，避免随机切分导致的数据泄漏与性能虚高。本次 ASVspoof 2019 LA eval 全为未知攻击（A07–A19），是最严格的生成器未知设定。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8" y="6400800"/>
            <a:ext cx="11228832" cy="18288"/>
          </a:xfrm>
          <a:prstGeom prst="rect">
            <a:avLst/>
          </a:prstGeom>
          <a:solidFill>
            <a:srgbClr val="C9C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66928" y="6437376"/>
            <a:ext cx="8778240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子课题三 · 未知攻击与跨数据集泛化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0" y="6437376"/>
            <a:ext cx="1737360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6 / 47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1417320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0424160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07A2F"/>
                </a:solidFill>
                <a:latin typeface="PingFang SC"/>
                <a:ea typeface="PingFang SC"/>
                <a:cs typeface="PingFang SC"/>
              </a:rPr>
              <a:t>LITERATURE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03504"/>
            <a:ext cx="10881360" cy="6766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研究现状：技术发展脉络（2015 → 2024）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35024"/>
            <a:ext cx="1417320" cy="5486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58368" y="1700784"/>
            <a:ext cx="2011680" cy="3246120"/>
          </a:xfrm>
          <a:prstGeom prst="roundRect">
            <a:avLst>
              <a:gd name="adj" fmla="val 6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58368" y="1700784"/>
            <a:ext cx="2011680" cy="896112"/>
          </a:xfrm>
          <a:prstGeom prst="roundRect">
            <a:avLst>
              <a:gd name="adj" fmla="val 6000"/>
            </a:avLst>
          </a:prstGeom>
          <a:solidFill>
            <a:srgbClr val="1B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58368" y="2157984"/>
            <a:ext cx="2011680" cy="438912"/>
          </a:xfrm>
          <a:prstGeom prst="rect">
            <a:avLst/>
          </a:prstGeom>
          <a:solidFill>
            <a:srgbClr val="1B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" y="1737360"/>
            <a:ext cx="54864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E07A2F"/>
                </a:solidFill>
                <a:latin typeface="PingFang SC"/>
                <a:ea typeface="PingFang SC"/>
                <a:cs typeface="PingFang SC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121408"/>
            <a:ext cx="1828800" cy="4206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手工特征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7" y="2688336"/>
            <a:ext cx="1645920" cy="310896"/>
          </a:xfrm>
          <a:prstGeom prst="roundRect">
            <a:avLst>
              <a:gd name="adj" fmla="val 6000"/>
            </a:avLst>
          </a:prstGeom>
          <a:solidFill>
            <a:srgbClr val="F8E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47" y="2688336"/>
            <a:ext cx="164592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altLang="zh-CN" sz="1200" b="1" i="0" dirty="0">
                <a:solidFill>
                  <a:srgbClr val="B55C18"/>
                </a:solidFill>
                <a:latin typeface="PingFang SC"/>
                <a:ea typeface="PingFang SC"/>
                <a:cs typeface="PingFang SC"/>
              </a:rPr>
              <a:t>2</a:t>
            </a:r>
            <a:r>
              <a:rPr sz="1200" b="1" i="0" dirty="0">
                <a:solidFill>
                  <a:srgbClr val="B55C18"/>
                </a:solidFill>
                <a:latin typeface="PingFang SC"/>
                <a:ea typeface="PingFang SC"/>
                <a:cs typeface="PingFang SC"/>
              </a:rPr>
              <a:t>015–2019</a:t>
            </a:r>
          </a:p>
        </p:txBody>
      </p:sp>
      <p:sp>
        <p:nvSpPr>
          <p:cNvPr id="15" name="Diamond 14"/>
          <p:cNvSpPr/>
          <p:nvPr/>
        </p:nvSpPr>
        <p:spPr>
          <a:xfrm>
            <a:off x="836675" y="3195096"/>
            <a:ext cx="100584" cy="100584"/>
          </a:xfrm>
          <a:prstGeom prst="diamond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97280" y="3127248"/>
            <a:ext cx="1426464" cy="518281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LFCC / CQCC 声学特征</a:t>
            </a:r>
          </a:p>
        </p:txBody>
      </p:sp>
      <p:sp>
        <p:nvSpPr>
          <p:cNvPr id="17" name="Diamond 16"/>
          <p:cNvSpPr/>
          <p:nvPr/>
        </p:nvSpPr>
        <p:spPr>
          <a:xfrm>
            <a:off x="836675" y="3841394"/>
            <a:ext cx="100584" cy="100584"/>
          </a:xfrm>
          <a:prstGeom prst="diamond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3773545"/>
            <a:ext cx="1426464" cy="2820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+ GMM 统计后端</a:t>
            </a:r>
          </a:p>
        </p:txBody>
      </p:sp>
      <p:sp>
        <p:nvSpPr>
          <p:cNvPr id="19" name="Diamond 18"/>
          <p:cNvSpPr/>
          <p:nvPr/>
        </p:nvSpPr>
        <p:spPr>
          <a:xfrm>
            <a:off x="836675" y="4251411"/>
            <a:ext cx="100584" cy="100584"/>
          </a:xfrm>
          <a:prstGeom prst="diamond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97280" y="4183562"/>
            <a:ext cx="1426464" cy="518281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LA eval 8.09%（LFCC-GMM）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2688336" y="2935224"/>
            <a:ext cx="237744" cy="457200"/>
          </a:xfrm>
          <a:prstGeom prst="rightArrow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2944368" y="1700784"/>
            <a:ext cx="2011680" cy="3246120"/>
          </a:xfrm>
          <a:prstGeom prst="roundRect">
            <a:avLst>
              <a:gd name="adj" fmla="val 6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2944368" y="1700784"/>
            <a:ext cx="2011680" cy="896112"/>
          </a:xfrm>
          <a:prstGeom prst="roundRect">
            <a:avLst>
              <a:gd name="adj" fmla="val 6000"/>
            </a:avLst>
          </a:prstGeom>
          <a:solidFill>
            <a:srgbClr val="1B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944368" y="2157984"/>
            <a:ext cx="2011680" cy="438912"/>
          </a:xfrm>
          <a:prstGeom prst="rect">
            <a:avLst/>
          </a:prstGeom>
          <a:solidFill>
            <a:srgbClr val="1B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999232" y="1737360"/>
            <a:ext cx="54864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E07A2F"/>
                </a:solidFill>
                <a:latin typeface="PingFang SC"/>
                <a:ea typeface="PingFang SC"/>
                <a:cs typeface="PingFang SC"/>
              </a:rPr>
              <a:t>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35808" y="2121408"/>
            <a:ext cx="1828800" cy="4206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浅层网络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27248" y="2688336"/>
            <a:ext cx="1645920" cy="310896"/>
          </a:xfrm>
          <a:prstGeom prst="roundRect">
            <a:avLst>
              <a:gd name="adj" fmla="val 6000"/>
            </a:avLst>
          </a:prstGeom>
          <a:solidFill>
            <a:srgbClr val="F8E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127248" y="2688336"/>
            <a:ext cx="164592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i="0" dirty="0">
                <a:solidFill>
                  <a:srgbClr val="B55C18"/>
                </a:solidFill>
                <a:latin typeface="PingFang SC"/>
                <a:ea typeface="PingFang SC"/>
                <a:cs typeface="PingFang SC"/>
              </a:rPr>
              <a:t>2019–2020</a:t>
            </a:r>
          </a:p>
        </p:txBody>
      </p:sp>
      <p:sp>
        <p:nvSpPr>
          <p:cNvPr id="29" name="Diamond 28"/>
          <p:cNvSpPr/>
          <p:nvPr/>
        </p:nvSpPr>
        <p:spPr>
          <a:xfrm>
            <a:off x="3122675" y="3195096"/>
            <a:ext cx="100584" cy="100584"/>
          </a:xfrm>
          <a:prstGeom prst="diamond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383279" y="3127248"/>
            <a:ext cx="1426464" cy="2820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LCNN 轻量卷积</a:t>
            </a:r>
          </a:p>
        </p:txBody>
      </p:sp>
      <p:sp>
        <p:nvSpPr>
          <p:cNvPr id="31" name="Diamond 30"/>
          <p:cNvSpPr/>
          <p:nvPr/>
        </p:nvSpPr>
        <p:spPr>
          <a:xfrm>
            <a:off x="3122675" y="3605113"/>
            <a:ext cx="100584" cy="100584"/>
          </a:xfrm>
          <a:prstGeom prst="diamond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383279" y="3537264"/>
            <a:ext cx="1426464" cy="518281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特征真伪化 genuinization</a:t>
            </a:r>
          </a:p>
        </p:txBody>
      </p:sp>
      <p:sp>
        <p:nvSpPr>
          <p:cNvPr id="33" name="Diamond 32"/>
          <p:cNvSpPr/>
          <p:nvPr/>
        </p:nvSpPr>
        <p:spPr>
          <a:xfrm>
            <a:off x="3122675" y="4251411"/>
            <a:ext cx="100584" cy="100584"/>
          </a:xfrm>
          <a:prstGeom prst="diamond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383279" y="4183562"/>
            <a:ext cx="1426464" cy="2820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超越同期手工特征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4974336" y="2935224"/>
            <a:ext cx="237744" cy="457200"/>
          </a:xfrm>
          <a:prstGeom prst="rightArrow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5230368" y="1700784"/>
            <a:ext cx="2011680" cy="3246120"/>
          </a:xfrm>
          <a:prstGeom prst="roundRect">
            <a:avLst>
              <a:gd name="adj" fmla="val 6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5230368" y="1700784"/>
            <a:ext cx="2011680" cy="896112"/>
          </a:xfrm>
          <a:prstGeom prst="roundRect">
            <a:avLst>
              <a:gd name="adj" fmla="val 6000"/>
            </a:avLst>
          </a:prstGeom>
          <a:solidFill>
            <a:srgbClr val="1B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230368" y="2157984"/>
            <a:ext cx="2011680" cy="438912"/>
          </a:xfrm>
          <a:prstGeom prst="rect">
            <a:avLst/>
          </a:prstGeom>
          <a:solidFill>
            <a:srgbClr val="1B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285231" y="1737360"/>
            <a:ext cx="54864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E07A2F"/>
                </a:solidFill>
                <a:latin typeface="PingFang SC"/>
                <a:ea typeface="PingFang SC"/>
                <a:cs typeface="PingFang SC"/>
              </a:rPr>
              <a:t>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21807" y="2121408"/>
            <a:ext cx="1828800" cy="4206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自监督前端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13248" y="2688336"/>
            <a:ext cx="1645920" cy="310896"/>
          </a:xfrm>
          <a:prstGeom prst="roundRect">
            <a:avLst>
              <a:gd name="adj" fmla="val 6000"/>
            </a:avLst>
          </a:prstGeom>
          <a:solidFill>
            <a:srgbClr val="F8E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413248" y="2688336"/>
            <a:ext cx="164592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B55C18"/>
                </a:solidFill>
                <a:latin typeface="PingFang SC"/>
                <a:ea typeface="PingFang SC"/>
                <a:cs typeface="PingFang SC"/>
              </a:rPr>
              <a:t>2020–2022</a:t>
            </a:r>
          </a:p>
        </p:txBody>
      </p:sp>
      <p:sp>
        <p:nvSpPr>
          <p:cNvPr id="43" name="Diamond 42"/>
          <p:cNvSpPr/>
          <p:nvPr/>
        </p:nvSpPr>
        <p:spPr>
          <a:xfrm>
            <a:off x="5408676" y="3195096"/>
            <a:ext cx="100584" cy="100584"/>
          </a:xfrm>
          <a:prstGeom prst="diamond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669279" y="3127248"/>
            <a:ext cx="1426464" cy="518281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wav2vec 2.0 / HuBERT / WavLM</a:t>
            </a:r>
          </a:p>
        </p:txBody>
      </p:sp>
      <p:sp>
        <p:nvSpPr>
          <p:cNvPr id="45" name="Diamond 44"/>
          <p:cNvSpPr/>
          <p:nvPr/>
        </p:nvSpPr>
        <p:spPr>
          <a:xfrm>
            <a:off x="5408676" y="3841394"/>
            <a:ext cx="100584" cy="100584"/>
          </a:xfrm>
          <a:prstGeom prst="diamond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669279" y="3773545"/>
            <a:ext cx="1426464" cy="2820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大规模无标注预训练</a:t>
            </a:r>
          </a:p>
        </p:txBody>
      </p:sp>
      <p:sp>
        <p:nvSpPr>
          <p:cNvPr id="47" name="Diamond 46"/>
          <p:cNvSpPr/>
          <p:nvPr/>
        </p:nvSpPr>
        <p:spPr>
          <a:xfrm>
            <a:off x="5408676" y="4251411"/>
            <a:ext cx="100584" cy="100584"/>
          </a:xfrm>
          <a:prstGeom prst="diamond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669279" y="4183562"/>
            <a:ext cx="1426464" cy="2820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SSL 强表征</a:t>
            </a:r>
          </a:p>
        </p:txBody>
      </p:sp>
      <p:sp>
        <p:nvSpPr>
          <p:cNvPr id="49" name="Right Arrow 48"/>
          <p:cNvSpPr/>
          <p:nvPr/>
        </p:nvSpPr>
        <p:spPr>
          <a:xfrm>
            <a:off x="7260336" y="2935224"/>
            <a:ext cx="237744" cy="457200"/>
          </a:xfrm>
          <a:prstGeom prst="rightArrow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7516368" y="1700784"/>
            <a:ext cx="2011680" cy="3246120"/>
          </a:xfrm>
          <a:prstGeom prst="roundRect">
            <a:avLst>
              <a:gd name="adj" fmla="val 6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7516368" y="1700784"/>
            <a:ext cx="2011680" cy="896112"/>
          </a:xfrm>
          <a:prstGeom prst="roundRect">
            <a:avLst>
              <a:gd name="adj" fmla="val 6000"/>
            </a:avLst>
          </a:prstGeom>
          <a:solidFill>
            <a:srgbClr val="1B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7516368" y="2157984"/>
            <a:ext cx="2011680" cy="438912"/>
          </a:xfrm>
          <a:prstGeom prst="rect">
            <a:avLst/>
          </a:prstGeom>
          <a:solidFill>
            <a:srgbClr val="1B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571232" y="1737360"/>
            <a:ext cx="54864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E07A2F"/>
                </a:solidFill>
                <a:latin typeface="PingFang SC"/>
                <a:ea typeface="PingFang SC"/>
                <a:cs typeface="PingFang SC"/>
              </a:rPr>
              <a:t>④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07808" y="2121408"/>
            <a:ext cx="1828800" cy="4206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图注意力后端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699248" y="2688336"/>
            <a:ext cx="1645920" cy="310896"/>
          </a:xfrm>
          <a:prstGeom prst="roundRect">
            <a:avLst>
              <a:gd name="adj" fmla="val 6000"/>
            </a:avLst>
          </a:prstGeom>
          <a:solidFill>
            <a:srgbClr val="F8E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699248" y="2688336"/>
            <a:ext cx="164592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B55C18"/>
                </a:solidFill>
                <a:latin typeface="PingFang SC"/>
                <a:ea typeface="PingFang SC"/>
                <a:cs typeface="PingFang SC"/>
              </a:rPr>
              <a:t>2022–2024</a:t>
            </a:r>
          </a:p>
        </p:txBody>
      </p:sp>
      <p:sp>
        <p:nvSpPr>
          <p:cNvPr id="57" name="Diamond 56"/>
          <p:cNvSpPr/>
          <p:nvPr/>
        </p:nvSpPr>
        <p:spPr>
          <a:xfrm>
            <a:off x="7694676" y="3195096"/>
            <a:ext cx="100584" cy="100584"/>
          </a:xfrm>
          <a:prstGeom prst="diamond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955280" y="3127248"/>
            <a:ext cx="1426464" cy="2820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AASIST / AASIST2</a:t>
            </a:r>
          </a:p>
        </p:txBody>
      </p:sp>
      <p:sp>
        <p:nvSpPr>
          <p:cNvPr id="59" name="Diamond 58"/>
          <p:cNvSpPr/>
          <p:nvPr/>
        </p:nvSpPr>
        <p:spPr>
          <a:xfrm>
            <a:off x="7694676" y="3605113"/>
            <a:ext cx="100584" cy="100584"/>
          </a:xfrm>
          <a:prstGeom prst="diamond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955280" y="3537264"/>
            <a:ext cx="1426464" cy="2820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异构堆叠图注意力</a:t>
            </a:r>
          </a:p>
        </p:txBody>
      </p:sp>
      <p:sp>
        <p:nvSpPr>
          <p:cNvPr id="61" name="Diamond 60"/>
          <p:cNvSpPr/>
          <p:nvPr/>
        </p:nvSpPr>
        <p:spPr>
          <a:xfrm>
            <a:off x="7694676" y="4015130"/>
            <a:ext cx="100584" cy="100584"/>
          </a:xfrm>
          <a:prstGeom prst="diamond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7955280" y="3947281"/>
            <a:ext cx="1426464" cy="518281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单系统 LA eval 0.83%</a:t>
            </a:r>
          </a:p>
        </p:txBody>
      </p:sp>
      <p:sp>
        <p:nvSpPr>
          <p:cNvPr id="63" name="Right Arrow 62"/>
          <p:cNvSpPr/>
          <p:nvPr/>
        </p:nvSpPr>
        <p:spPr>
          <a:xfrm>
            <a:off x="9546336" y="2935224"/>
            <a:ext cx="237744" cy="457200"/>
          </a:xfrm>
          <a:prstGeom prst="rightArrow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9802368" y="1700784"/>
            <a:ext cx="2011680" cy="3246120"/>
          </a:xfrm>
          <a:prstGeom prst="roundRect">
            <a:avLst>
              <a:gd name="adj" fmla="val 6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9802368" y="1700784"/>
            <a:ext cx="2011680" cy="896112"/>
          </a:xfrm>
          <a:prstGeom prst="roundRect">
            <a:avLst>
              <a:gd name="adj" fmla="val 6000"/>
            </a:avLst>
          </a:prstGeom>
          <a:solidFill>
            <a:srgbClr val="1B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9802368" y="2157984"/>
            <a:ext cx="2011680" cy="438912"/>
          </a:xfrm>
          <a:prstGeom prst="rect">
            <a:avLst/>
          </a:prstGeom>
          <a:solidFill>
            <a:srgbClr val="1B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857232" y="1737360"/>
            <a:ext cx="54864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E07A2F"/>
                </a:solidFill>
                <a:latin typeface="PingFang SC"/>
                <a:ea typeface="PingFang SC"/>
                <a:cs typeface="PingFang SC"/>
              </a:rPr>
              <a:t>⑤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893808" y="2121408"/>
            <a:ext cx="1828800" cy="4206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参数高效微调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9985248" y="2688336"/>
            <a:ext cx="1645920" cy="310896"/>
          </a:xfrm>
          <a:prstGeom prst="roundRect">
            <a:avLst>
              <a:gd name="adj" fmla="val 6000"/>
            </a:avLst>
          </a:prstGeom>
          <a:solidFill>
            <a:srgbClr val="F8E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9985248" y="2688336"/>
            <a:ext cx="164592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i="0" dirty="0">
                <a:solidFill>
                  <a:srgbClr val="B55C18"/>
                </a:solidFill>
                <a:latin typeface="PingFang SC"/>
                <a:ea typeface="PingFang SC"/>
                <a:cs typeface="PingFang SC"/>
              </a:rPr>
              <a:t>2022–</a:t>
            </a:r>
            <a:r>
              <a:rPr lang="zh-CN" altLang="en-US" sz="1200" b="1" i="0" dirty="0">
                <a:solidFill>
                  <a:srgbClr val="B55C18"/>
                </a:solidFill>
                <a:latin typeface="PingFang SC"/>
                <a:ea typeface="PingFang SC"/>
                <a:cs typeface="PingFang SC"/>
              </a:rPr>
              <a:t>至今</a:t>
            </a:r>
            <a:endParaRPr sz="1200" b="1" i="0" dirty="0">
              <a:solidFill>
                <a:srgbClr val="B55C18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71" name="Diamond 70"/>
          <p:cNvSpPr/>
          <p:nvPr/>
        </p:nvSpPr>
        <p:spPr>
          <a:xfrm>
            <a:off x="9980676" y="3195096"/>
            <a:ext cx="100584" cy="100584"/>
          </a:xfrm>
          <a:prstGeom prst="diamond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10241280" y="3127248"/>
            <a:ext cx="1426464" cy="518281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LoRA 低秩旁路 dW = B·A</a:t>
            </a:r>
          </a:p>
        </p:txBody>
      </p:sp>
      <p:sp>
        <p:nvSpPr>
          <p:cNvPr id="73" name="Diamond 72"/>
          <p:cNvSpPr/>
          <p:nvPr/>
        </p:nvSpPr>
        <p:spPr>
          <a:xfrm>
            <a:off x="9980676" y="3841394"/>
            <a:ext cx="100584" cy="100584"/>
          </a:xfrm>
          <a:prstGeom prst="diamond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10241280" y="3773545"/>
            <a:ext cx="1426464" cy="518281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冻结主体、少参数适配</a:t>
            </a:r>
          </a:p>
        </p:txBody>
      </p:sp>
      <p:sp>
        <p:nvSpPr>
          <p:cNvPr id="75" name="Diamond 74"/>
          <p:cNvSpPr/>
          <p:nvPr/>
        </p:nvSpPr>
        <p:spPr>
          <a:xfrm>
            <a:off x="9980676" y="4487692"/>
            <a:ext cx="100584" cy="100584"/>
          </a:xfrm>
          <a:prstGeom prst="diamond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10241280" y="4419843"/>
            <a:ext cx="1426464" cy="2820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本工作集成落点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58368" y="5148072"/>
            <a:ext cx="11155680" cy="822960"/>
          </a:xfrm>
          <a:prstGeom prst="roundRect">
            <a:avLst>
              <a:gd name="adj" fmla="val 6000"/>
            </a:avLst>
          </a:prstGeom>
          <a:solidFill>
            <a:srgbClr val="EC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658368" y="5148072"/>
            <a:ext cx="100584" cy="822960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914400" y="5148072"/>
            <a:ext cx="10698480" cy="8229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本工作 = WavLM（SSL 前端）+ AASIST（图注意力后端）+ LoRA（参数高效微调）——处于上述脉络的集成落点，兼顾精度、训练成本与未知攻击泛化。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66928" y="6400800"/>
            <a:ext cx="11228832" cy="18288"/>
          </a:xfrm>
          <a:prstGeom prst="rect">
            <a:avLst/>
          </a:prstGeom>
          <a:solidFill>
            <a:srgbClr val="C9C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566928" y="6437376"/>
            <a:ext cx="8778240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子课题三 · 未知攻击与跨数据集泛化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058400" y="6437376"/>
            <a:ext cx="1737360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7 / 47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1417320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0424160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07A2F"/>
                </a:solidFill>
                <a:latin typeface="PingFang SC"/>
                <a:ea typeface="PingFang SC"/>
                <a:cs typeface="PingFang SC"/>
              </a:rPr>
              <a:t>LITERATURE ·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03504"/>
            <a:ext cx="10881360" cy="6766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i="0" dirty="0" err="1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相关工作对比：ASVspoof</a:t>
            </a:r>
            <a:r>
              <a:rPr sz="2600" b="1" i="0" dirty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 2019 LA </a:t>
            </a:r>
            <a:r>
              <a:rPr sz="2600" b="1" i="0" dirty="0" err="1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上的</a:t>
            </a:r>
            <a:r>
              <a:rPr sz="2600" b="1" i="0" dirty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 EER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35024"/>
            <a:ext cx="1417320" cy="5486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299448" y="402336"/>
            <a:ext cx="2496312" cy="420624"/>
          </a:xfrm>
          <a:prstGeom prst="roundRect">
            <a:avLst>
              <a:gd name="adj" fmla="val 30000"/>
            </a:avLst>
          </a:prstGeom>
          <a:solidFill>
            <a:srgbClr val="D9E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299448" y="402336"/>
            <a:ext cx="91440" cy="420624"/>
          </a:xfrm>
          <a:prstGeom prst="rect">
            <a:avLst/>
          </a:prstGeom>
          <a:solidFill>
            <a:srgbClr val="1B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64040" y="402336"/>
            <a:ext cx="2258568" cy="4206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文献数据 · 公开基准（已注明划分）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664208"/>
            <a:ext cx="11064239" cy="457200"/>
          </a:xfrm>
          <a:prstGeom prst="rect">
            <a:avLst/>
          </a:prstGeom>
          <a:solidFill>
            <a:srgbClr val="1B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3232" y="1664208"/>
            <a:ext cx="2679191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方法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02151" y="1664208"/>
            <a:ext cx="2770632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venue · 年份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1664208"/>
            <a:ext cx="3502152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ASVspoof 2019 LA EER（注明划分）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94392" y="1664208"/>
            <a:ext cx="1673352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出处(arXiv)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2121408"/>
            <a:ext cx="11064239" cy="342900"/>
          </a:xfrm>
          <a:prstGeom prst="rect">
            <a:avLst/>
          </a:prstGeom>
          <a:solidFill>
            <a:srgbClr val="F4F5F8"/>
          </a:solidFill>
          <a:ln w="9525">
            <a:solidFill>
              <a:srgbClr val="C9C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19" y="2121408"/>
            <a:ext cx="2642615" cy="3429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LFCC-GMM（官方基线 B2）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39" y="2121408"/>
            <a:ext cx="2734056" cy="3429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Computer Speech &amp; Language 2020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121408"/>
            <a:ext cx="3465576" cy="3429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dev 2.71% / eval 8.09%（pooled）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12680" y="2121408"/>
            <a:ext cx="1636776" cy="3429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1911.01601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2464308"/>
            <a:ext cx="11064239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19" y="2464308"/>
            <a:ext cx="2642615" cy="3429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CQCC-GMM（官方基线 B1）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39" y="2464308"/>
            <a:ext cx="2734056" cy="3429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Computer Speech &amp; Language 2020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64308"/>
            <a:ext cx="3465576" cy="3429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dev 0.43% / eval 9.57%（pooled）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12680" y="2464308"/>
            <a:ext cx="1636776" cy="3429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1911.01601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2807208"/>
            <a:ext cx="11064239" cy="342900"/>
          </a:xfrm>
          <a:prstGeom prst="rect">
            <a:avLst/>
          </a:prstGeom>
          <a:solidFill>
            <a:srgbClr val="F4F5F8"/>
          </a:solidFill>
          <a:ln w="9525">
            <a:solidFill>
              <a:srgbClr val="C9C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1519" y="2807208"/>
            <a:ext cx="2642615" cy="3429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LCNN + genuinization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20439" y="2807208"/>
            <a:ext cx="2734056" cy="3429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Interspeech 2020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807208"/>
            <a:ext cx="3465576" cy="3429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未核实具体数值（声称优于当时 SOTA）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12680" y="2807208"/>
            <a:ext cx="1636776" cy="3429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2009.09637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3150108"/>
            <a:ext cx="11064239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31519" y="3150108"/>
            <a:ext cx="2642615" cy="3429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HuBERT（SSL 前端）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0439" y="3150108"/>
            <a:ext cx="2734056" cy="3429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IEEE/ACM TASLP 2021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3150108"/>
            <a:ext cx="3465576" cy="3429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不适用（表征学习论文）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12680" y="3150108"/>
            <a:ext cx="1636776" cy="3429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2106.07447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3493008"/>
            <a:ext cx="11064239" cy="342900"/>
          </a:xfrm>
          <a:prstGeom prst="rect">
            <a:avLst/>
          </a:prstGeom>
          <a:solidFill>
            <a:srgbClr val="F4F5F8"/>
          </a:solidFill>
          <a:ln w="9525">
            <a:solidFill>
              <a:srgbClr val="C9C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31519" y="3493008"/>
            <a:ext cx="2642615" cy="3429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WavLM（本工作前端）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20439" y="3493008"/>
            <a:ext cx="2734056" cy="3429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IEEE JSTSP 2022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3493008"/>
            <a:ext cx="3465576" cy="3429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不适用（预训练表征论文）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12680" y="3493008"/>
            <a:ext cx="1636776" cy="3429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2110.13900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3835908"/>
            <a:ext cx="11064239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31519" y="3835908"/>
            <a:ext cx="2642615" cy="3429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AASIST（本工作后端）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20439" y="3835908"/>
            <a:ext cx="2734056" cy="3429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ICASSP 2022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3835908"/>
            <a:ext cx="3465576" cy="3429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eval 0.83%（min t-DCF 0.0275，pooled）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12680" y="3835908"/>
            <a:ext cx="1636776" cy="3429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2110.01200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" y="4178808"/>
            <a:ext cx="11064239" cy="342900"/>
          </a:xfrm>
          <a:prstGeom prst="rect">
            <a:avLst/>
          </a:prstGeom>
          <a:solidFill>
            <a:srgbClr val="F4F5F8"/>
          </a:solidFill>
          <a:ln w="9525">
            <a:solidFill>
              <a:srgbClr val="C9C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31519" y="4178808"/>
            <a:ext cx="2642615" cy="3429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SS-AASIST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20439" y="4178808"/>
            <a:ext cx="2734056" cy="3429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Odyssey 2022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0" y="4178808"/>
            <a:ext cx="3465576" cy="3429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未报告 2019 LA（报告 2021 LA/DF 最低）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012680" y="4178808"/>
            <a:ext cx="1636776" cy="3429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2202.12233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58368" y="4521708"/>
            <a:ext cx="11064239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31519" y="4521708"/>
            <a:ext cx="2642615" cy="3429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LoRA（本工作微调）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520439" y="4521708"/>
            <a:ext cx="2734056" cy="3429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ICLR 2022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0" y="4521708"/>
            <a:ext cx="3465576" cy="3429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不适用（通用 PEFT 方法论文）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012680" y="4521708"/>
            <a:ext cx="1636776" cy="3429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2106.09685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58368" y="4864608"/>
            <a:ext cx="11064239" cy="342900"/>
          </a:xfrm>
          <a:prstGeom prst="rect">
            <a:avLst/>
          </a:prstGeom>
          <a:solidFill>
            <a:srgbClr val="F8E9DA"/>
          </a:solidFill>
          <a:ln w="9525">
            <a:solidFill>
              <a:srgbClr val="C9C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658368" y="4864608"/>
            <a:ext cx="82296" cy="342900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31519" y="4864608"/>
            <a:ext cx="2642615" cy="3429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本工作（全量 71k eval）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520439" y="4864608"/>
            <a:ext cx="2734056" cy="3429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—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00800" y="4864608"/>
            <a:ext cx="3465576" cy="3429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eval 全未知 EER 2.03%（dev 0.46%）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012680" y="4864608"/>
            <a:ext cx="1636776" cy="3429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—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58368" y="5335524"/>
            <a:ext cx="11064239" cy="786384"/>
          </a:xfrm>
          <a:prstGeom prst="roundRect">
            <a:avLst>
              <a:gd name="adj" fmla="val 6000"/>
            </a:avLst>
          </a:prstGeom>
          <a:solidFill>
            <a:srgbClr val="EC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658368" y="5335524"/>
            <a:ext cx="100584" cy="78638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914400" y="5335524"/>
            <a:ext cx="10607039" cy="7863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14000"/>
              </a:lnSpc>
            </a:pPr>
            <a:r>
              <a:rPr sz="1200" b="1" i="0">
                <a:solidFill>
                  <a:srgbClr val="B55C18"/>
                </a:solidFill>
                <a:latin typeface="PingFang SC"/>
                <a:ea typeface="PingFang SC"/>
                <a:cs typeface="PingFang SC"/>
              </a:rPr>
              <a:t>口径提醒：本工作 dev 0.46%、AASIST eval 0.83%，划分不同不可直接判优；本工作 eval 2.03% 为全量 71,237 条（全部未知攻击 A07–A19），早期 5,000 条子集口径为 1.89%。基线均为 pooled 全部攻击口径。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66928" y="6400800"/>
            <a:ext cx="11228832" cy="18288"/>
          </a:xfrm>
          <a:prstGeom prst="rect">
            <a:avLst/>
          </a:prstGeom>
          <a:solidFill>
            <a:srgbClr val="C9C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66928" y="6437376"/>
            <a:ext cx="8778240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子课题三 · 未知攻击与跨数据集泛化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058400" y="6437376"/>
            <a:ext cx="1737360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8 / 47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1417320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0424160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07A2F"/>
                </a:solidFill>
                <a:latin typeface="PingFang SC"/>
                <a:ea typeface="PingFang SC"/>
                <a:cs typeface="PingFang SC"/>
              </a:rPr>
              <a:t>MODEL 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95364"/>
            <a:ext cx="4975228" cy="6766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i="0" dirty="0" err="1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模型总览：检测系统整体流水线</a:t>
            </a:r>
            <a:endParaRPr sz="2600" b="1" i="0" dirty="0">
              <a:solidFill>
                <a:srgbClr val="1B244E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83464" y="978408"/>
            <a:ext cx="11341608" cy="4654296"/>
          </a:xfrm>
          <a:prstGeom prst="roundRect">
            <a:avLst>
              <a:gd name="adj" fmla="val 6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model_architecture_21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557" y="1018775"/>
            <a:ext cx="10808897" cy="4272087"/>
          </a:xfrm>
          <a:prstGeom prst="roundRect">
            <a:avLst/>
          </a:prstGeom>
          <a:ln w="12700">
            <a:solidFill>
              <a:srgbClr val="C9CFDE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2621280" y="5379985"/>
            <a:ext cx="694944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>
              <a:lnSpc>
                <a:spcPct val="108000"/>
              </a:lnSpc>
            </a:pPr>
            <a:r>
              <a:rPr sz="1200" b="0" i="1" dirty="0" err="1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图</a:t>
            </a:r>
            <a:r>
              <a:rPr sz="1200" b="0" i="1" dirty="0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 A　</a:t>
            </a:r>
            <a:r>
              <a:rPr sz="1200" b="0" i="1" dirty="0" err="1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端到端整体流水线</a:t>
            </a:r>
            <a:endParaRPr sz="1200" b="0" i="1" dirty="0">
              <a:solidFill>
                <a:srgbClr val="5E6474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058400" y="6437376"/>
            <a:ext cx="1737360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9 / 47</a:t>
            </a:r>
          </a:p>
        </p:txBody>
      </p:sp>
      <p:sp>
        <p:nvSpPr>
          <p:cNvPr id="26" name="Rectangle 15">
            <a:extLst>
              <a:ext uri="{FF2B5EF4-FFF2-40B4-BE49-F238E27FC236}">
                <a16:creationId xmlns:a16="http://schemas.microsoft.com/office/drawing/2014/main" id="{9732F13C-778A-5258-0840-0EC997298BEA}"/>
              </a:ext>
            </a:extLst>
          </p:cNvPr>
          <p:cNvSpPr/>
          <p:nvPr/>
        </p:nvSpPr>
        <p:spPr>
          <a:xfrm>
            <a:off x="615695" y="5881938"/>
            <a:ext cx="77724" cy="7772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16">
            <a:extLst>
              <a:ext uri="{FF2B5EF4-FFF2-40B4-BE49-F238E27FC236}">
                <a16:creationId xmlns:a16="http://schemas.microsoft.com/office/drawing/2014/main" id="{59E35BCB-72F3-470F-C413-9A9128F9FE47}"/>
              </a:ext>
            </a:extLst>
          </p:cNvPr>
          <p:cNvSpPr txBox="1"/>
          <p:nvPr/>
        </p:nvSpPr>
        <p:spPr>
          <a:xfrm>
            <a:off x="871728" y="5792815"/>
            <a:ext cx="3547872" cy="813633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300" b="0" i="0" dirty="0" err="1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语音波形</a:t>
            </a:r>
            <a:r>
              <a:rPr sz="1300" b="0" i="0" dirty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 → </a:t>
            </a:r>
            <a:r>
              <a:rPr sz="1300" b="0" i="0" dirty="0" err="1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WavLM</a:t>
            </a:r>
            <a:r>
              <a:rPr sz="1300" b="0" i="0" dirty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300" b="0" i="0" dirty="0" err="1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前端得特征序列</a:t>
            </a:r>
            <a:r>
              <a:rPr sz="1300" b="0" i="0" dirty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 [B, T, D] → AASIST </a:t>
            </a:r>
            <a:r>
              <a:rPr sz="1300" b="0" i="0" dirty="0" err="1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后端建模时</a:t>
            </a:r>
            <a:r>
              <a:rPr sz="1300" b="0" i="0" dirty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/</a:t>
            </a:r>
            <a:r>
              <a:rPr sz="1300" b="0" i="0" dirty="0" err="1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频域伪影</a:t>
            </a:r>
            <a:r>
              <a:rPr sz="1300" b="0" i="0" dirty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 → </a:t>
            </a:r>
            <a:r>
              <a:rPr sz="1300" b="0" i="0" dirty="0" err="1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bonafide</a:t>
            </a:r>
            <a:r>
              <a:rPr sz="1300" b="0" i="0" dirty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/spoof </a:t>
            </a:r>
            <a:r>
              <a:rPr sz="1300" b="0" i="0" dirty="0" err="1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打分</a:t>
            </a:r>
            <a:r>
              <a:rPr sz="1300" b="0" i="0" dirty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  <p:sp>
        <p:nvSpPr>
          <p:cNvPr id="28" name="Rectangle 17">
            <a:extLst>
              <a:ext uri="{FF2B5EF4-FFF2-40B4-BE49-F238E27FC236}">
                <a16:creationId xmlns:a16="http://schemas.microsoft.com/office/drawing/2014/main" id="{5C4CC635-6ED3-AA4E-718C-F0B104CAB0E0}"/>
              </a:ext>
            </a:extLst>
          </p:cNvPr>
          <p:cNvSpPr/>
          <p:nvPr/>
        </p:nvSpPr>
        <p:spPr>
          <a:xfrm>
            <a:off x="4419600" y="5881938"/>
            <a:ext cx="77724" cy="7772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18">
            <a:extLst>
              <a:ext uri="{FF2B5EF4-FFF2-40B4-BE49-F238E27FC236}">
                <a16:creationId xmlns:a16="http://schemas.microsoft.com/office/drawing/2014/main" id="{3B705110-0E35-9A15-C587-4BC641026EC7}"/>
              </a:ext>
            </a:extLst>
          </p:cNvPr>
          <p:cNvSpPr txBox="1"/>
          <p:nvPr/>
        </p:nvSpPr>
        <p:spPr>
          <a:xfrm>
            <a:off x="4675633" y="5792815"/>
            <a:ext cx="3547872" cy="55766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300" b="0" i="0" dirty="0" err="1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LoRA</a:t>
            </a:r>
            <a:r>
              <a:rPr sz="1300" b="0" i="0" dirty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300" b="0" i="0" dirty="0" err="1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以旁路方式挂在前端做低成本微调；前端懂声音、后端辨真伪、花小钱办大事</a:t>
            </a:r>
            <a:r>
              <a:rPr sz="1300" b="0" i="0" dirty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  <p:sp>
        <p:nvSpPr>
          <p:cNvPr id="30" name="Rectangle 19">
            <a:extLst>
              <a:ext uri="{FF2B5EF4-FFF2-40B4-BE49-F238E27FC236}">
                <a16:creationId xmlns:a16="http://schemas.microsoft.com/office/drawing/2014/main" id="{F8C4AE5A-48DC-AECE-3EC9-CDC51E2255BB}"/>
              </a:ext>
            </a:extLst>
          </p:cNvPr>
          <p:cNvSpPr/>
          <p:nvPr/>
        </p:nvSpPr>
        <p:spPr>
          <a:xfrm>
            <a:off x="8223505" y="5881938"/>
            <a:ext cx="77724" cy="7772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20">
            <a:extLst>
              <a:ext uri="{FF2B5EF4-FFF2-40B4-BE49-F238E27FC236}">
                <a16:creationId xmlns:a16="http://schemas.microsoft.com/office/drawing/2014/main" id="{A1E2CB7D-1195-0464-42B9-1F323F06CF55}"/>
              </a:ext>
            </a:extLst>
          </p:cNvPr>
          <p:cNvSpPr txBox="1"/>
          <p:nvPr/>
        </p:nvSpPr>
        <p:spPr>
          <a:xfrm>
            <a:off x="8479538" y="5792815"/>
            <a:ext cx="3547872" cy="813633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3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零基础类比：验钞机——摄像头读纹理（前端）、比对模块判真伪（后端）、换个小芯片适配新版（LoRA）。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1417320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7785335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07A2F"/>
                </a:solidFill>
                <a:latin typeface="PingFang SC"/>
                <a:ea typeface="PingFang SC"/>
                <a:cs typeface="PingFang SC"/>
              </a:rPr>
              <a:t>MODEL 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8861"/>
            <a:ext cx="7031736" cy="6766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i="0" dirty="0" err="1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前端与后端：WavLM</a:t>
            </a:r>
            <a:r>
              <a:rPr sz="2600" b="1" i="0" dirty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2600" b="1" i="0" dirty="0" err="1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预训练</a:t>
            </a:r>
            <a:r>
              <a:rPr sz="2600" b="1" i="0" dirty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 · AASIST </a:t>
            </a:r>
            <a:r>
              <a:rPr sz="2600" b="1" i="0" dirty="0" err="1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图注意力</a:t>
            </a:r>
            <a:endParaRPr sz="2600" b="1" i="0" dirty="0">
              <a:solidFill>
                <a:srgbClr val="1B244E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66928" y="969045"/>
            <a:ext cx="6903720" cy="5797515"/>
          </a:xfrm>
          <a:prstGeom prst="roundRect">
            <a:avLst>
              <a:gd name="adj" fmla="val 6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frontend_comparison_21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704" y="1208994"/>
            <a:ext cx="5661877" cy="2688043"/>
          </a:xfrm>
          <a:prstGeom prst="roundRect">
            <a:avLst/>
          </a:prstGeom>
          <a:ln w="12700">
            <a:solidFill>
              <a:srgbClr val="C9CFDE"/>
            </a:solidFill>
          </a:ln>
        </p:spPr>
      </p:pic>
      <p:pic>
        <p:nvPicPr>
          <p:cNvPr id="13" name="Picture 12" descr="module_graph_attention_21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274" y="4259141"/>
            <a:ext cx="5456735" cy="2374978"/>
          </a:xfrm>
          <a:prstGeom prst="roundRect">
            <a:avLst/>
          </a:prstGeom>
          <a:ln w="12700">
            <a:solidFill>
              <a:srgbClr val="C9CFDE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2152777" y="969045"/>
            <a:ext cx="3323844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0" i="1" dirty="0" err="1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图</a:t>
            </a:r>
            <a:r>
              <a:rPr sz="1200" b="0" i="1" dirty="0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 B　SSL(</a:t>
            </a:r>
            <a:r>
              <a:rPr sz="1200" b="0" i="1" dirty="0" err="1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WavLM</a:t>
            </a:r>
            <a:r>
              <a:rPr sz="1200" b="0" i="1" dirty="0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) </a:t>
            </a:r>
            <a:r>
              <a:rPr sz="1200" b="0" i="1" dirty="0" err="1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前端</a:t>
            </a:r>
            <a:r>
              <a:rPr sz="1200" b="0" i="1" dirty="0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 vs </a:t>
            </a:r>
            <a:r>
              <a:rPr sz="1200" b="0" i="1" dirty="0" err="1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SincConv+ResBlock</a:t>
            </a:r>
            <a:endParaRPr sz="1200" b="0" i="1" dirty="0">
              <a:solidFill>
                <a:srgbClr val="5E6474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520351" y="3960813"/>
            <a:ext cx="4656582" cy="284989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0" i="1" dirty="0" err="1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图</a:t>
            </a:r>
            <a:r>
              <a:rPr sz="1200" b="0" i="1" dirty="0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 C　AASIST </a:t>
            </a:r>
            <a:r>
              <a:rPr sz="1200" b="0" i="1" dirty="0" err="1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多头图注意力层（GraphAttentionLayer</a:t>
            </a:r>
            <a:r>
              <a:rPr sz="1200" b="0" i="1" dirty="0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54696" y="1719072"/>
            <a:ext cx="3941064" cy="402336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要点解读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54696" y="2157984"/>
            <a:ext cx="868680" cy="50292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872983" y="2443353"/>
            <a:ext cx="77724" cy="7772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29016" y="2359152"/>
            <a:ext cx="3666744" cy="784097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25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WavLM：HuBERT 式掩码预测 + 重叠语音去噪预训练 + 门控相对位置偏置，对伪造/信道伪影更敏感（JSTSP 2022）。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72983" y="3392043"/>
            <a:ext cx="77724" cy="7772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29016" y="3307841"/>
            <a:ext cx="3666744" cy="784097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25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AASIST：特征序列拆为频域/时域图节点 → 异构堆叠图注意力(HGAT) → max-graph 竞争 + 扩展 readout → GraphPool 池化（ICASSP 2022）。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72983" y="4340732"/>
            <a:ext cx="77724" cy="7772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29016" y="4256531"/>
            <a:ext cx="3666744" cy="537971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25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轻量版 AASIST-L 仅约 85K 参数；图结构显式建模跨时/频依赖，比单纯堆卷积更能抓全局伪影。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72983" y="5043296"/>
            <a:ext cx="77724" cy="7772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129016" y="4959096"/>
            <a:ext cx="3666744" cy="537971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25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类比：嘈杂菜市场里练听清一个人（WavLM）；把可疑点连成关系网判真伪（AASIST）。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6437376"/>
            <a:ext cx="1737360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10 / 47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1417320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0424160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07A2F"/>
                </a:solidFill>
                <a:latin typeface="PingFang SC"/>
                <a:ea typeface="PingFang SC"/>
                <a:cs typeface="PingFang SC"/>
              </a:rPr>
              <a:t>MODEL 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03504"/>
            <a:ext cx="10881360" cy="6766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参数高效微调：LoRA 低秩旁路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35024"/>
            <a:ext cx="1417320" cy="5486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546336" y="402336"/>
            <a:ext cx="2249424" cy="420624"/>
          </a:xfrm>
          <a:prstGeom prst="roundRect">
            <a:avLst>
              <a:gd name="adj" fmla="val 30000"/>
            </a:avLst>
          </a:prstGeom>
          <a:solidFill>
            <a:srgbClr val="D9E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546336" y="402336"/>
            <a:ext cx="91440" cy="420624"/>
          </a:xfrm>
          <a:prstGeom prst="rect">
            <a:avLst/>
          </a:prstGeom>
          <a:solidFill>
            <a:srgbClr val="1B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710928" y="402336"/>
            <a:ext cx="2011680" cy="4206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论文级模型结构图 · 答辩讲解用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664208"/>
            <a:ext cx="6986016" cy="4526280"/>
          </a:xfrm>
          <a:prstGeom prst="roundRect">
            <a:avLst>
              <a:gd name="adj" fmla="val 6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module_layer_aggregation_21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2092060"/>
            <a:ext cx="6766560" cy="3341391"/>
          </a:xfrm>
          <a:prstGeom prst="roundRect">
            <a:avLst/>
          </a:prstGeom>
          <a:ln w="12700">
            <a:solidFill>
              <a:srgbClr val="C9CFDE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676656" y="5797296"/>
            <a:ext cx="676656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>
              <a:lnSpc>
                <a:spcPct val="108000"/>
              </a:lnSpc>
            </a:pPr>
            <a:r>
              <a:rPr sz="1200" b="0" i="1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图 D　SSL 前端加权层聚合（LoRA 适配器注入位置）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90688" y="1719072"/>
            <a:ext cx="4005072" cy="402336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要点解读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90688" y="2157984"/>
            <a:ext cx="868680" cy="50292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808975" y="2448275"/>
            <a:ext cx="77724" cy="7772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65008" y="2359152"/>
            <a:ext cx="3730752" cy="813633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3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冻结的预训练权重 W(d×d) 旁并联小矩阵 B(d×r)、A(r×d)，前向 h = Wx + BAx，秩 r 远小于 d。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08975" y="3435644"/>
            <a:ext cx="77724" cy="7772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65008" y="3346521"/>
            <a:ext cx="3730752" cy="813633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3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本项目 rank=8、alpha=16，可训练参数约占 0.5%；推理可将 BA 合并回 W，无额外延迟（LoRA，ICLR 2022）。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08975" y="4423013"/>
            <a:ext cx="77724" cy="7772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65008" y="4333890"/>
            <a:ext cx="3730752" cy="55766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3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避免全量微调的高显存与灾难性遗忘；类比：不重装整栋房子，只贴一张可拆卸智能壁纸。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6400800"/>
            <a:ext cx="11228832" cy="18288"/>
          </a:xfrm>
          <a:prstGeom prst="rect">
            <a:avLst/>
          </a:prstGeom>
          <a:solidFill>
            <a:srgbClr val="C9C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66928" y="6437376"/>
            <a:ext cx="8778240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子课题三 · 未知攻击与跨数据集泛化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6437376"/>
            <a:ext cx="1737360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11 / 47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1417320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0424160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07A2F"/>
                </a:solidFill>
                <a:latin typeface="PingFang SC"/>
                <a:ea typeface="PingFang SC"/>
                <a:cs typeface="PingFang SC"/>
              </a:rPr>
              <a:t>MODEL 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03504"/>
            <a:ext cx="10881360" cy="6766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核心概念：EER 指标 · 已知/未知攻击泛化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35024"/>
            <a:ext cx="1417320" cy="5486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830568" y="402336"/>
            <a:ext cx="4965192" cy="420624"/>
          </a:xfrm>
          <a:prstGeom prst="roundRect">
            <a:avLst>
              <a:gd name="adj" fmla="val 30000"/>
            </a:avLst>
          </a:prstGeom>
          <a:solidFill>
            <a:srgbClr val="DD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30568" y="402336"/>
            <a:ext cx="91440" cy="420624"/>
          </a:xfrm>
          <a:prstGeom prst="rect">
            <a:avLst/>
          </a:prstGeom>
          <a:solidFill>
            <a:srgbClr val="1E6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95159" y="402336"/>
            <a:ext cx="4727448" cy="4206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6B45"/>
                </a:solidFill>
                <a:latin typeface="PingFang SC"/>
                <a:ea typeface="PingFang SC"/>
                <a:cs typeface="PingFang SC"/>
              </a:rPr>
              <a:t>真实结果 · ASVspoof 2019 LA 全量 71k（A10 实测）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664208"/>
            <a:ext cx="6903720" cy="4526280"/>
          </a:xfrm>
          <a:prstGeom prst="roundRect">
            <a:avLst>
              <a:gd name="adj" fmla="val 6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02_score_distribution_21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3036615"/>
            <a:ext cx="3323844" cy="1351696"/>
          </a:xfrm>
          <a:prstGeom prst="roundRect">
            <a:avLst/>
          </a:prstGeom>
          <a:ln w="12700">
            <a:solidFill>
              <a:srgbClr val="C9CFDE"/>
            </a:solidFill>
          </a:ln>
        </p:spPr>
      </p:pic>
      <p:pic>
        <p:nvPicPr>
          <p:cNvPr id="13" name="Picture 12" descr="06_per_attack_heatmap_21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4596" y="1792224"/>
            <a:ext cx="3207715" cy="3840480"/>
          </a:xfrm>
          <a:prstGeom prst="roundRect">
            <a:avLst/>
          </a:prstGeom>
          <a:ln w="12700">
            <a:solidFill>
              <a:srgbClr val="C9CFDE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676656" y="5705856"/>
            <a:ext cx="3323844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0" i="1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图 E　真/伪打分分布与 EER 交叉点（全量 71k 实测）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6532" y="5705856"/>
            <a:ext cx="3323844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0" i="1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图 F　逐攻击指标热力图（未知攻击泛化，全量 71k）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54696" y="1719072"/>
            <a:ext cx="3941064" cy="402336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要点解读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54696" y="2157984"/>
            <a:ext cx="868680" cy="50292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872983" y="2443353"/>
            <a:ext cx="77724" cy="7772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29016" y="2359152"/>
            <a:ext cx="3666744" cy="784097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25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EER：真(bona fide)与伪(spoof)打分分布的交叉点，此时 FRR=FAR；越低说明两类分得越开、系统越可靠。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72983" y="3392043"/>
            <a:ext cx="77724" cy="7772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29016" y="3307841"/>
            <a:ext cx="3666744" cy="784097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25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子课题三问题：训练只见已知攻击 A01–A06，测试要应对未知攻击 A07–A19，乃至跨录音条件/跨语言的其他数据集。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72983" y="4340732"/>
            <a:ext cx="77724" cy="7772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29016" y="4256531"/>
            <a:ext cx="3666744" cy="784097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25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这正是 ASVspoof 2019 LA 官方设定（eval 不含 A01–A06），也是综述公认痛点「对未知攻击泛化差」。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72983" y="5289422"/>
            <a:ext cx="77724" cy="7772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129016" y="5205221"/>
            <a:ext cx="3666744" cy="784097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25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类比：调安检门灵敏度（EER）；只教过几种假币模板，考试却来全新工艺，靠共性而非背模板判断（未知泛化）。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6400800"/>
            <a:ext cx="11228832" cy="18288"/>
          </a:xfrm>
          <a:prstGeom prst="rect">
            <a:avLst/>
          </a:prstGeom>
          <a:solidFill>
            <a:srgbClr val="C9C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66928" y="6437376"/>
            <a:ext cx="8778240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子课题三 · 未知攻击与跨数据集泛化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6437376"/>
            <a:ext cx="1737360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12 / 47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1417320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0424160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07A2F"/>
                </a:solidFill>
                <a:latin typeface="PingFang SC"/>
                <a:ea typeface="PingFang SC"/>
                <a:cs typeface="PingFang SC"/>
              </a:rPr>
              <a:t>ARCHITECTURE ·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03504"/>
            <a:ext cx="10881360" cy="6766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总体技术路线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35024"/>
            <a:ext cx="1417320" cy="5486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546336" y="402336"/>
            <a:ext cx="2249424" cy="420624"/>
          </a:xfrm>
          <a:prstGeom prst="roundRect">
            <a:avLst>
              <a:gd name="adj" fmla="val 30000"/>
            </a:avLst>
          </a:prstGeom>
          <a:solidFill>
            <a:srgbClr val="D9E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546336" y="402336"/>
            <a:ext cx="91440" cy="420624"/>
          </a:xfrm>
          <a:prstGeom prst="rect">
            <a:avLst/>
          </a:prstGeom>
          <a:solidFill>
            <a:srgbClr val="1B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710928" y="402336"/>
            <a:ext cx="2011680" cy="4206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论文级模型结构图 · 答辩讲解用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664208"/>
            <a:ext cx="7168896" cy="4526280"/>
          </a:xfrm>
          <a:prstGeom prst="roundRect">
            <a:avLst>
              <a:gd name="adj" fmla="val 6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model_architecture_21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2389414"/>
            <a:ext cx="6949440" cy="2746683"/>
          </a:xfrm>
          <a:prstGeom prst="roundRect">
            <a:avLst/>
          </a:prstGeom>
          <a:ln w="12700">
            <a:solidFill>
              <a:srgbClr val="C9CFDE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676656" y="5797296"/>
            <a:ext cx="694944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>
              <a:lnSpc>
                <a:spcPct val="108000"/>
              </a:lnSpc>
            </a:pPr>
            <a:r>
              <a:rPr sz="1200" b="0" i="1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图 1　三层检测框架总体架构（端到端主线）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73567" y="1719072"/>
            <a:ext cx="3822192" cy="402336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架构解读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73567" y="2157984"/>
            <a:ext cx="868680" cy="50292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991855" y="2448275"/>
            <a:ext cx="77724" cy="7772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7888" y="2359152"/>
            <a:ext cx="3547872" cy="55766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3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采用「SSL 预训练前端 + AASIST 图注意力后端 + LoRA 高效微调」三层架构。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91855" y="3179673"/>
            <a:ext cx="77724" cy="7772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47888" y="3090550"/>
            <a:ext cx="3547872" cy="55766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3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前端 WavLM-Large 输出 [B, T, 1024] 隐状态，经加权层聚合融合 24 层信息。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91855" y="3911071"/>
            <a:ext cx="77724" cy="7772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47888" y="3821948"/>
            <a:ext cx="3547872" cy="55766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3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后端 AASIST 对频谱-时序建模，输出 [B, 2] logits（bonafide / spoof）。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91855" y="4642469"/>
            <a:ext cx="77724" cy="7772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47888" y="4553346"/>
            <a:ext cx="3547872" cy="55766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3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LoRA 仅在冻结前端上注入低秩适配器，后端全量训练，兼顾效果与开销。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91855" y="5373867"/>
            <a:ext cx="77724" cy="7772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47888" y="5284744"/>
            <a:ext cx="3547872" cy="55766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3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模块化设计：前端 / 后端 / 微调 / 泛化策略可独立替换，便于消融对比。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6400800"/>
            <a:ext cx="11228832" cy="18288"/>
          </a:xfrm>
          <a:prstGeom prst="rect">
            <a:avLst/>
          </a:prstGeom>
          <a:solidFill>
            <a:srgbClr val="C9C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66928" y="6437376"/>
            <a:ext cx="8778240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子课题三 · 未知攻击与跨数据集泛化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6437376"/>
            <a:ext cx="1737360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13 / 47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1417320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0424160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07A2F"/>
                </a:solidFill>
                <a:latin typeface="PingFang SC"/>
                <a:ea typeface="PingFang SC"/>
                <a:cs typeface="PingFang SC"/>
              </a:rPr>
              <a:t>ARCHITECTURE ·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03504"/>
            <a:ext cx="10881360" cy="6766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SSL 自监督前端原理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35024"/>
            <a:ext cx="1417320" cy="5486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546336" y="402336"/>
            <a:ext cx="2249424" cy="420624"/>
          </a:xfrm>
          <a:prstGeom prst="roundRect">
            <a:avLst>
              <a:gd name="adj" fmla="val 30000"/>
            </a:avLst>
          </a:prstGeom>
          <a:solidFill>
            <a:srgbClr val="D9E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546336" y="402336"/>
            <a:ext cx="91440" cy="420624"/>
          </a:xfrm>
          <a:prstGeom prst="rect">
            <a:avLst/>
          </a:prstGeom>
          <a:solidFill>
            <a:srgbClr val="1B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710928" y="402336"/>
            <a:ext cx="2011680" cy="4206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论文级模型结构图 · 答辩讲解用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664208"/>
            <a:ext cx="6620256" cy="4526280"/>
          </a:xfrm>
          <a:prstGeom prst="roundRect">
            <a:avLst>
              <a:gd name="adj" fmla="val 6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module_layer_aggregation_21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2182368"/>
            <a:ext cx="6400800" cy="3160776"/>
          </a:xfrm>
          <a:prstGeom prst="roundRect">
            <a:avLst/>
          </a:prstGeom>
          <a:ln w="12700">
            <a:solidFill>
              <a:srgbClr val="C9CFDE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676656" y="5797296"/>
            <a:ext cx="640080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>
              <a:lnSpc>
                <a:spcPct val="108000"/>
              </a:lnSpc>
            </a:pPr>
            <a:r>
              <a:rPr sz="1200" b="0" i="1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图 2　25 路 softmax 加权层聚合（Weighted Layer Aggregation）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24928" y="1719072"/>
            <a:ext cx="4370831" cy="402336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前端解读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24928" y="2157984"/>
            <a:ext cx="868680" cy="50292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443216" y="2438430"/>
            <a:ext cx="77724" cy="7772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99248" y="2359152"/>
            <a:ext cx="4096511" cy="518281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自监督预训练：在海量无标注语音上学习通用声学表征，迁移到伪造检测只需少量标注。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43216" y="3048152"/>
            <a:ext cx="77724" cy="7772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699248" y="2968873"/>
            <a:ext cx="4096511" cy="518281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WavLM-Large：24 层 Transformer、1024 维隐状态，在约 94k 小时语音上预训练。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43216" y="3657874"/>
            <a:ext cx="77724" cy="7772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699248" y="3578595"/>
            <a:ext cx="4096511" cy="518281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XLS-R-300M（备选）：Meta 跨语言模型，覆盖 128 种语言，利于跨语言泛化。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43216" y="4267596"/>
            <a:ext cx="77724" cy="7772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699248" y="4188317"/>
            <a:ext cx="4096511" cy="518281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浅层偏声学细节、深层偏语义，各层对伪造伪影判别力不同。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43216" y="4877318"/>
            <a:ext cx="77724" cy="7772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699248" y="4798039"/>
            <a:ext cx="4096511" cy="518281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加权层聚合：对所有隐层输出做可学习权重的加权求和，权重经 softmax 归一化，训练中自动分配。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43216" y="5487040"/>
            <a:ext cx="77724" cy="7772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699248" y="5407761"/>
            <a:ext cx="4096511" cy="518281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自动发现最具判别力的层级组合；相比只取最后一层，能同时利用低层伪影与高层语义。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43216" y="6096762"/>
            <a:ext cx="77724" cy="7772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699248" y="6017483"/>
            <a:ext cx="4096511" cy="518281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前端默认冻结，仅训练聚合权重 + LoRA，防止灾难性遗忘。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6400800"/>
            <a:ext cx="11228832" cy="18288"/>
          </a:xfrm>
          <a:prstGeom prst="rect">
            <a:avLst/>
          </a:prstGeom>
          <a:solidFill>
            <a:srgbClr val="C9C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66928" y="6437376"/>
            <a:ext cx="8778240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子课题三 · 未知攻击与跨数据集泛化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6437376"/>
            <a:ext cx="1737360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14 / 47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1417320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0424160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07A2F"/>
                </a:solidFill>
                <a:latin typeface="PingFang SC"/>
                <a:ea typeface="PingFang SC"/>
                <a:cs typeface="PingFang SC"/>
              </a:rPr>
              <a:t>ARCHITECTURE ·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03504"/>
            <a:ext cx="10881360" cy="6766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前端选型依据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35024"/>
            <a:ext cx="1417320" cy="5486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700784"/>
            <a:ext cx="11109960" cy="512064"/>
          </a:xfrm>
          <a:prstGeom prst="rect">
            <a:avLst/>
          </a:prstGeom>
          <a:solidFill>
            <a:srgbClr val="1B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0664" y="1700784"/>
            <a:ext cx="2633472" cy="51206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前端模型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83864" y="1700784"/>
            <a:ext cx="1764791" cy="51206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隐层维度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58383" y="1700784"/>
            <a:ext cx="2221991" cy="51206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语言覆盖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90104" y="1700784"/>
            <a:ext cx="1856231" cy="51206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预训练规模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6064" y="1700784"/>
            <a:ext cx="2084831" cy="51206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选用定位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2212848"/>
            <a:ext cx="11109960" cy="868680"/>
          </a:xfrm>
          <a:prstGeom prst="rect">
            <a:avLst/>
          </a:prstGeom>
          <a:solidFill>
            <a:srgbClr val="F4F5F8"/>
          </a:solidFill>
          <a:ln w="9525">
            <a:solidFill>
              <a:srgbClr val="C9C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8096" y="2212848"/>
            <a:ext cx="2578608" cy="8686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2000"/>
              </a:lnSpc>
            </a:pPr>
            <a:r>
              <a:rPr sz="1300" b="1" i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WavLM-Large（默认）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11296" y="2212848"/>
            <a:ext cx="1709928" cy="8686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3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1024 / 24 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85816" y="2212848"/>
            <a:ext cx="2167127" cy="8686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3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以英文为主、通用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17536" y="2212848"/>
            <a:ext cx="1801368" cy="8686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3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约 94k 小时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83496" y="2212848"/>
            <a:ext cx="2029967" cy="8686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3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中文主测默认前端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3081528"/>
            <a:ext cx="111099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9C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68096" y="3081528"/>
            <a:ext cx="2578608" cy="8686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2000"/>
              </a:lnSpc>
            </a:pPr>
            <a:r>
              <a:rPr sz="1300" b="1" i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XLS-R-300M（备选）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11296" y="3081528"/>
            <a:ext cx="1709928" cy="8686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3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1024 / 24 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85816" y="3081528"/>
            <a:ext cx="2167127" cy="8686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3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128 种语言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17536" y="3081528"/>
            <a:ext cx="1801368" cy="8686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3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大规模多语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83496" y="3081528"/>
            <a:ext cx="2029967" cy="8686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3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跨语言泛化对照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3950208"/>
            <a:ext cx="11109960" cy="868680"/>
          </a:xfrm>
          <a:prstGeom prst="rect">
            <a:avLst/>
          </a:prstGeom>
          <a:solidFill>
            <a:srgbClr val="F4F5F8"/>
          </a:solidFill>
          <a:ln w="9525">
            <a:solidFill>
              <a:srgbClr val="C9C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68096" y="3950208"/>
            <a:ext cx="2578608" cy="8686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2000"/>
              </a:lnSpc>
            </a:pPr>
            <a:r>
              <a:rPr sz="1300" b="1" i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HuBERT-Large（对照）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11296" y="3950208"/>
            <a:ext cx="1709928" cy="8686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3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1024 / 24 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85816" y="3950208"/>
            <a:ext cx="2167127" cy="8686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3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以英文为主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17536" y="3950208"/>
            <a:ext cx="1801368" cy="8686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3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60k 小时(LL60k)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83496" y="3950208"/>
            <a:ext cx="2029967" cy="8686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3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消融对照基线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5001768"/>
            <a:ext cx="11109960" cy="822960"/>
          </a:xfrm>
          <a:prstGeom prst="roundRect">
            <a:avLst>
              <a:gd name="adj" fmla="val 6000"/>
            </a:avLst>
          </a:prstGeom>
          <a:solidFill>
            <a:srgbClr val="F8E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85800" y="5001768"/>
            <a:ext cx="91440" cy="822960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41832" y="5001768"/>
            <a:ext cx="10652760" cy="8229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B55C18"/>
                </a:solidFill>
                <a:latin typeface="PingFang SC"/>
                <a:ea typeface="PingFang SC"/>
                <a:cs typeface="PingFang SC"/>
              </a:rPr>
              <a:t>选型依据：文献参考 Chen et al.(2022) WavLM 在 ASVspoof 2019 LA 达 EER≈1%；最终以跨数据集均值 EER 实测确定，属设计选型。本工作已在 ASVspoof 2019 LA 全量 71k eval（全未知攻击）上以 WavLM+LoRA+AASIST 取得 EER 2.03% / AUC 0.9890 的真实实测结果，验证该前端选型有效。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" y="6400800"/>
            <a:ext cx="11228832" cy="18288"/>
          </a:xfrm>
          <a:prstGeom prst="rect">
            <a:avLst/>
          </a:prstGeom>
          <a:solidFill>
            <a:srgbClr val="C9C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66928" y="6437376"/>
            <a:ext cx="8778240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子课题三 · 未知攻击与跨数据集泛化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6437376"/>
            <a:ext cx="1737360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15 / 47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1417320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69392" y="100585"/>
            <a:ext cx="1513890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07A2F"/>
                </a:solidFill>
                <a:latin typeface="PingFang SC"/>
                <a:ea typeface="PingFang SC"/>
                <a:cs typeface="PingFang SC"/>
              </a:rPr>
              <a:t>ARCHITECTURE ·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6516" y="291084"/>
            <a:ext cx="3219933" cy="6766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i="0" dirty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AASIST </a:t>
            </a:r>
            <a:r>
              <a:rPr sz="2600" b="1" i="0" dirty="0" err="1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图注意力后端</a:t>
            </a:r>
            <a:endParaRPr sz="2600" b="1" i="0" dirty="0">
              <a:solidFill>
                <a:srgbClr val="1B244E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74801" y="864870"/>
            <a:ext cx="6903720" cy="5702046"/>
          </a:xfrm>
          <a:prstGeom prst="roundRect">
            <a:avLst>
              <a:gd name="adj" fmla="val 6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module_graph_attention_21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739" y="1047928"/>
            <a:ext cx="5515808" cy="2400689"/>
          </a:xfrm>
          <a:prstGeom prst="roundRect">
            <a:avLst/>
          </a:prstGeom>
          <a:ln w="12700">
            <a:solidFill>
              <a:srgbClr val="C9CFDE"/>
            </a:solidFill>
          </a:ln>
        </p:spPr>
      </p:pic>
      <p:pic>
        <p:nvPicPr>
          <p:cNvPr id="13" name="Picture 12" descr="module_htrg_21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441" y="3755460"/>
            <a:ext cx="5539688" cy="2411082"/>
          </a:xfrm>
          <a:prstGeom prst="roundRect">
            <a:avLst/>
          </a:prstGeom>
          <a:ln w="12700">
            <a:solidFill>
              <a:srgbClr val="C9CFDE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2036482" y="3459861"/>
            <a:ext cx="3323844" cy="242316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0" i="1" dirty="0" err="1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图</a:t>
            </a:r>
            <a:r>
              <a:rPr sz="1200" b="0" i="1" dirty="0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 3　</a:t>
            </a:r>
            <a:r>
              <a:rPr sz="1200" b="0" i="1" dirty="0" err="1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GraphAttentionLayer</a:t>
            </a:r>
            <a:r>
              <a:rPr sz="1200" b="0" i="1" dirty="0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200" b="0" i="1" dirty="0" err="1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多头图注意力</a:t>
            </a:r>
            <a:endParaRPr sz="1200" b="0" i="1" dirty="0">
              <a:solidFill>
                <a:srgbClr val="5E6474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633468" y="6254496"/>
            <a:ext cx="4586385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0" i="1" dirty="0" err="1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图</a:t>
            </a:r>
            <a:r>
              <a:rPr sz="1200" b="0" i="1" dirty="0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 4　HTRG </a:t>
            </a:r>
            <a:r>
              <a:rPr sz="1200" b="0" i="1" dirty="0" err="1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异质跨分支图注意力（双向</a:t>
            </a:r>
            <a:r>
              <a:rPr sz="1200" b="0" i="1" dirty="0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200" b="0" i="1" dirty="0" err="1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spectral↔temporal</a:t>
            </a:r>
            <a:r>
              <a:rPr sz="1200" b="0" i="1" dirty="0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6135" y="1328779"/>
            <a:ext cx="3941064" cy="402336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 dirty="0" err="1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后端</a:t>
            </a:r>
            <a:endParaRPr sz="1500" b="1" i="0" dirty="0">
              <a:solidFill>
                <a:srgbClr val="1B244E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776135" y="1767691"/>
            <a:ext cx="868680" cy="50292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94422" y="2053060"/>
            <a:ext cx="77724" cy="7772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9" name="TextBox 18"/>
          <p:cNvSpPr txBox="1"/>
          <p:nvPr/>
        </p:nvSpPr>
        <p:spPr>
          <a:xfrm>
            <a:off x="8050455" y="1968859"/>
            <a:ext cx="3666744" cy="537971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4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AASIST（Jung et al., ICASSP 2022）：集成频谱-时序图注意力网络，是反欺骗强基线。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94422" y="2682472"/>
            <a:ext cx="77724" cy="7772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1" name="TextBox 20"/>
          <p:cNvSpPr txBox="1"/>
          <p:nvPr/>
        </p:nvSpPr>
        <p:spPr>
          <a:xfrm>
            <a:off x="8050455" y="2598271"/>
            <a:ext cx="3666744" cy="537971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4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前端 SincFilter 组 + ResNet 提取原始波形局部特征，构成图的节点表征。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94422" y="3311884"/>
            <a:ext cx="77724" cy="7772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3" name="TextBox 22"/>
          <p:cNvSpPr txBox="1"/>
          <p:nvPr/>
        </p:nvSpPr>
        <p:spPr>
          <a:xfrm>
            <a:off x="8050455" y="3227683"/>
            <a:ext cx="3666744" cy="537971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4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双分支建模：频谱图分支捕捉频域伪影，时序图分支捕捉时域不连续。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94422" y="3941296"/>
            <a:ext cx="77724" cy="7772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5" name="TextBox 24"/>
          <p:cNvSpPr txBox="1"/>
          <p:nvPr/>
        </p:nvSpPr>
        <p:spPr>
          <a:xfrm>
            <a:off x="8050455" y="3857095"/>
            <a:ext cx="3666744" cy="537971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4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异质图注意力(HTRG)：在 spectral↔temporal 节点间双向学习注意力，聚合邻域判别信息。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94422" y="4570708"/>
            <a:ext cx="77724" cy="7772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7" name="TextBox 26"/>
          <p:cNvSpPr txBox="1"/>
          <p:nvPr/>
        </p:nvSpPr>
        <p:spPr>
          <a:xfrm>
            <a:off x="8050455" y="4486507"/>
            <a:ext cx="3666744" cy="537971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4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图池化（Graph Pooling）逐层聚合节点到图级表示，最终输出二分类 logits。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94422" y="5200120"/>
            <a:ext cx="77724" cy="7772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9" name="TextBox 28"/>
          <p:cNvSpPr txBox="1"/>
          <p:nvPr/>
        </p:nvSpPr>
        <p:spPr>
          <a:xfrm>
            <a:off x="8050455" y="5115919"/>
            <a:ext cx="3666744" cy="537971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4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选用理由：图结构天然建模频谱-时序长程依赖，对未见生成器的伪影更敏感。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6437376"/>
            <a:ext cx="1737360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16 / 47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1417320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0424160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07A2F"/>
                </a:solidFill>
                <a:latin typeface="PingFang SC"/>
                <a:ea typeface="PingFang SC"/>
                <a:cs typeface="PingFang SC"/>
              </a:rPr>
              <a:t>ARCHITECTURE ·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03504"/>
            <a:ext cx="10881360" cy="6766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LoRA 参数高效微调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35024"/>
            <a:ext cx="1417320" cy="5486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546336" y="402336"/>
            <a:ext cx="2249424" cy="420624"/>
          </a:xfrm>
          <a:prstGeom prst="roundRect">
            <a:avLst>
              <a:gd name="adj" fmla="val 30000"/>
            </a:avLst>
          </a:prstGeom>
          <a:solidFill>
            <a:srgbClr val="D9E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546336" y="402336"/>
            <a:ext cx="91440" cy="420624"/>
          </a:xfrm>
          <a:prstGeom prst="rect">
            <a:avLst/>
          </a:prstGeom>
          <a:solidFill>
            <a:srgbClr val="1B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710928" y="402336"/>
            <a:ext cx="2011680" cy="4206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论文级模型结构图 · 答辩讲解用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37360"/>
            <a:ext cx="640080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LoRA 原理与注入位置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139696"/>
            <a:ext cx="777240" cy="45720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1520" y="2398334"/>
            <a:ext cx="77724" cy="7772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87552" y="2304288"/>
            <a:ext cx="6126480" cy="577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35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LoRA（Hu et al., ICLR 2022）：冻结预训练权重，在旁路注入低秩矩阵 A·B 学习增量。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158566"/>
            <a:ext cx="77724" cy="7772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87552" y="3064520"/>
            <a:ext cx="6126480" cy="311536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35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本系统仅在 SSL 前端注意力的 q_proj / v_proj 注入适配器。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652982"/>
            <a:ext cx="77724" cy="7772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87552" y="3558936"/>
            <a:ext cx="6126480" cy="311536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35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前向 h = Wx + (alpha/rank)·BAx；推理可将 BA 合并回 W，无额外延迟。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147398"/>
            <a:ext cx="77724" cy="7772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87552" y="4053352"/>
            <a:ext cx="6126480" cy="577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35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为何用它：小样本域自适应时，少量参数微调可减轻对预训练表征的破坏，抑制灾难性遗忘。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60920" y="1737360"/>
            <a:ext cx="4251960" cy="3968496"/>
          </a:xfrm>
          <a:prstGeom prst="roundRect">
            <a:avLst>
              <a:gd name="adj" fmla="val 6000"/>
            </a:avLst>
          </a:prstGeom>
          <a:solidFill>
            <a:srgbClr val="EC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360920" y="1737360"/>
            <a:ext cx="4251960" cy="566928"/>
          </a:xfrm>
          <a:prstGeom prst="roundRect">
            <a:avLst>
              <a:gd name="adj" fmla="val 6000"/>
            </a:avLst>
          </a:prstGeom>
          <a:solidFill>
            <a:srgbClr val="1B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360920" y="2011680"/>
            <a:ext cx="4251960" cy="292608"/>
          </a:xfrm>
          <a:prstGeom prst="rect">
            <a:avLst/>
          </a:prstGeom>
          <a:solidFill>
            <a:srgbClr val="1B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580376" y="1737360"/>
            <a:ext cx="3886200" cy="56692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配置与开销（真实）</a:t>
            </a:r>
          </a:p>
        </p:txBody>
      </p:sp>
      <p:sp>
        <p:nvSpPr>
          <p:cNvPr id="25" name="Diamond 24"/>
          <p:cNvSpPr/>
          <p:nvPr/>
        </p:nvSpPr>
        <p:spPr>
          <a:xfrm>
            <a:off x="7612380" y="2578227"/>
            <a:ext cx="100584" cy="100584"/>
          </a:xfrm>
          <a:prstGeom prst="diamond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872984" y="2505456"/>
            <a:ext cx="3520440" cy="537971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25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rank = 8，alpha = 16（实际缩放 alpha/rank = 2）。</a:t>
            </a:r>
          </a:p>
        </p:txBody>
      </p:sp>
      <p:sp>
        <p:nvSpPr>
          <p:cNvPr id="27" name="Diamond 26"/>
          <p:cNvSpPr/>
          <p:nvPr/>
        </p:nvSpPr>
        <p:spPr>
          <a:xfrm>
            <a:off x="7612380" y="3299079"/>
            <a:ext cx="100584" cy="100584"/>
          </a:xfrm>
          <a:prstGeom prst="diamond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872984" y="3226308"/>
            <a:ext cx="3520440" cy="291845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25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dropout = 0.05。</a:t>
            </a:r>
          </a:p>
        </p:txBody>
      </p:sp>
      <p:sp>
        <p:nvSpPr>
          <p:cNvPr id="29" name="Diamond 28"/>
          <p:cNvSpPr/>
          <p:nvPr/>
        </p:nvSpPr>
        <p:spPr>
          <a:xfrm>
            <a:off x="7612380" y="3773805"/>
            <a:ext cx="100584" cy="100584"/>
          </a:xfrm>
          <a:prstGeom prst="diamond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872984" y="3701033"/>
            <a:ext cx="3520440" cy="291845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25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可训练参数约 2M，仅占前端总参数约 0.5%。</a:t>
            </a:r>
          </a:p>
        </p:txBody>
      </p:sp>
      <p:sp>
        <p:nvSpPr>
          <p:cNvPr id="31" name="Diamond 30"/>
          <p:cNvSpPr/>
          <p:nvPr/>
        </p:nvSpPr>
        <p:spPr>
          <a:xfrm>
            <a:off x="7612380" y="4248531"/>
            <a:ext cx="100584" cy="100584"/>
          </a:xfrm>
          <a:prstGeom prst="diamond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872984" y="4175760"/>
            <a:ext cx="3520440" cy="291845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25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显著降低显存与训练开销。</a:t>
            </a:r>
          </a:p>
        </p:txBody>
      </p:sp>
      <p:sp>
        <p:nvSpPr>
          <p:cNvPr id="33" name="Diamond 32"/>
          <p:cNvSpPr/>
          <p:nvPr/>
        </p:nvSpPr>
        <p:spPr>
          <a:xfrm>
            <a:off x="7612380" y="4723257"/>
            <a:ext cx="100584" cy="100584"/>
          </a:xfrm>
          <a:prstGeom prst="diamond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872984" y="4650486"/>
            <a:ext cx="3520440" cy="291845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25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与加权层聚合权重联合训练，前端主体冻结。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5800" y="5705856"/>
            <a:ext cx="10972800" cy="621792"/>
          </a:xfrm>
          <a:prstGeom prst="roundRect">
            <a:avLst>
              <a:gd name="adj" fmla="val 6000"/>
            </a:avLst>
          </a:prstGeom>
          <a:solidFill>
            <a:srgbClr val="F8E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85800" y="5705856"/>
            <a:ext cx="91440" cy="621792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32688" y="5705856"/>
            <a:ext cx="10515600" cy="62179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B55C18"/>
                </a:solidFill>
                <a:latin typeface="PingFang SC"/>
                <a:ea typeface="PingFang SC"/>
                <a:cs typeface="PingFang SC"/>
              </a:rPr>
              <a:t>LoRA 是「五种泛化策略」中 MLDG + LoRA（mldg_lora.yaml）的核心组件，兼具参数高效与跨域泛化双重作用，详见方法章节。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6400800"/>
            <a:ext cx="11228832" cy="18288"/>
          </a:xfrm>
          <a:prstGeom prst="rect">
            <a:avLst/>
          </a:prstGeom>
          <a:solidFill>
            <a:srgbClr val="C9C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66928" y="6437376"/>
            <a:ext cx="8778240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子课题三 · 未知攻击与跨数据集泛化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0" y="6437376"/>
            <a:ext cx="1737360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17 / 47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1417320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0424160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07A2F"/>
                </a:solidFill>
                <a:latin typeface="PingFang SC"/>
                <a:ea typeface="PingFang SC"/>
                <a:cs typeface="PingFang SC"/>
              </a:rPr>
              <a:t>METHOD ·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03504"/>
            <a:ext cx="10881360" cy="6766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域泛化策略总览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35024"/>
            <a:ext cx="1417320" cy="5486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700784"/>
            <a:ext cx="11109959" cy="512064"/>
          </a:xfrm>
          <a:prstGeom prst="rect">
            <a:avLst/>
          </a:prstGeom>
          <a:solidFill>
            <a:srgbClr val="1B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0664" y="1700784"/>
            <a:ext cx="2039112" cy="51206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方法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9504" y="1700784"/>
            <a:ext cx="2999232" cy="51206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策略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8464" y="1700784"/>
            <a:ext cx="3410712" cy="51206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核心原理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18904" y="1700784"/>
            <a:ext cx="2221991" cy="51206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配置文件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212848"/>
            <a:ext cx="11109959" cy="749808"/>
          </a:xfrm>
          <a:prstGeom prst="rect">
            <a:avLst/>
          </a:prstGeom>
          <a:solidFill>
            <a:srgbClr val="F4F5F8"/>
          </a:solidFill>
          <a:ln w="9525">
            <a:solidFill>
              <a:srgbClr val="C9C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8096" y="2212848"/>
            <a:ext cx="1984248" cy="7498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2000"/>
              </a:lnSpc>
            </a:pPr>
            <a:r>
              <a:rPr sz="1300" b="1" i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Single ERM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16936" y="2212848"/>
            <a:ext cx="2944368" cy="7498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3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单数据集经验风险最小化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25896" y="2212848"/>
            <a:ext cx="3355848" cy="7498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3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基线方法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46336" y="2212848"/>
            <a:ext cx="2167127" cy="7498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3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single_erm.yaml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2962656"/>
            <a:ext cx="11109959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C9C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68096" y="2962656"/>
            <a:ext cx="1984248" cy="7498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2000"/>
              </a:lnSpc>
            </a:pPr>
            <a:r>
              <a:rPr sz="1300" b="1" i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Multi ERM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16936" y="2962656"/>
            <a:ext cx="2944368" cy="7498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3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多数据集混合训练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25896" y="2962656"/>
            <a:ext cx="3355848" cy="7498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3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增加训练域多样性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46336" y="2962656"/>
            <a:ext cx="2167127" cy="7498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3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multi_erm.yaml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3712463"/>
            <a:ext cx="11109959" cy="749808"/>
          </a:xfrm>
          <a:prstGeom prst="rect">
            <a:avLst/>
          </a:prstGeom>
          <a:solidFill>
            <a:srgbClr val="F4F5F8"/>
          </a:solidFill>
          <a:ln w="9525">
            <a:solidFill>
              <a:srgbClr val="C9C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68096" y="3712463"/>
            <a:ext cx="1984248" cy="7498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2000"/>
              </a:lnSpc>
            </a:pPr>
            <a:r>
              <a:rPr sz="1300" b="1" i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RawBoost 增强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16936" y="3712463"/>
            <a:ext cx="2944368" cy="7498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3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原始波形域数据增强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25896" y="3712463"/>
            <a:ext cx="3355848" cy="7498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3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编解码 / 加噪 / 混响模拟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46336" y="3712463"/>
            <a:ext cx="2167127" cy="7498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3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augmentation.yaml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4462272"/>
            <a:ext cx="11109959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C9C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68096" y="4462272"/>
            <a:ext cx="1984248" cy="7498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2000"/>
              </a:lnSpc>
            </a:pPr>
            <a:r>
              <a:rPr sz="1300" b="1" i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MLDG + LoRA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16936" y="4462272"/>
            <a:ext cx="2944368" cy="7498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3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元学习域泛化 + LoRA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25896" y="4462272"/>
            <a:ext cx="3355848" cy="7498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3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一阶 MLDG 优化泛化梯度方向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46336" y="4462272"/>
            <a:ext cx="2167127" cy="7498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3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mldg_lora.yaml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" y="5212080"/>
            <a:ext cx="11109959" cy="749808"/>
          </a:xfrm>
          <a:prstGeom prst="rect">
            <a:avLst/>
          </a:prstGeom>
          <a:solidFill>
            <a:srgbClr val="F4F5F8"/>
          </a:solidFill>
          <a:ln w="9525">
            <a:solidFill>
              <a:srgbClr val="C9C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68096" y="5212080"/>
            <a:ext cx="1984248" cy="7498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2000"/>
              </a:lnSpc>
            </a:pPr>
            <a:r>
              <a:rPr sz="1300" b="1" i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SAM 优化器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16936" y="5212080"/>
            <a:ext cx="2944368" cy="7498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3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尖锐度感知最小化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25896" y="5212080"/>
            <a:ext cx="3355848" cy="7498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3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寻找平坦极小值提升泛化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46336" y="5212080"/>
            <a:ext cx="2167127" cy="7498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3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sam_multi.yaml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5800" y="5669280"/>
            <a:ext cx="11109959" cy="658367"/>
          </a:xfrm>
          <a:prstGeom prst="roundRect">
            <a:avLst>
              <a:gd name="adj" fmla="val 6000"/>
            </a:avLst>
          </a:prstGeom>
          <a:solidFill>
            <a:srgbClr val="F8E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85800" y="5669280"/>
            <a:ext cx="91440" cy="658367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41832" y="5669280"/>
            <a:ext cx="10652759" cy="658367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B55C18"/>
                </a:solidFill>
                <a:latin typeface="PingFang SC"/>
                <a:ea typeface="PingFang SC"/>
                <a:cs typeface="PingFang SC"/>
              </a:rPr>
              <a:t>五种策略构成消融梯度：从单域基线 → 多域混合 → 数据增强 → 元学习 / 平坦极小值，逐步逼近跨域鲁棒。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8" y="6400800"/>
            <a:ext cx="11228832" cy="18288"/>
          </a:xfrm>
          <a:prstGeom prst="rect">
            <a:avLst/>
          </a:prstGeom>
          <a:solidFill>
            <a:srgbClr val="C9C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66928" y="6437376"/>
            <a:ext cx="8778240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子课题三 · 未知攻击与跨数据集泛化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0" y="6437376"/>
            <a:ext cx="1737360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18 / 47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1417320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0424160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07A2F"/>
                </a:solidFill>
                <a:latin typeface="PingFang SC"/>
                <a:ea typeface="PingFang SC"/>
                <a:cs typeface="PingFang SC"/>
              </a:rPr>
              <a:t>METHOD ·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03504"/>
            <a:ext cx="10881360" cy="6766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MLDG 元学习域泛化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35024"/>
            <a:ext cx="1417320" cy="5486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546336" y="402336"/>
            <a:ext cx="2249424" cy="420624"/>
          </a:xfrm>
          <a:prstGeom prst="roundRect">
            <a:avLst>
              <a:gd name="adj" fmla="val 30000"/>
            </a:avLst>
          </a:prstGeom>
          <a:solidFill>
            <a:srgbClr val="D9E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546336" y="402336"/>
            <a:ext cx="91440" cy="420624"/>
          </a:xfrm>
          <a:prstGeom prst="rect">
            <a:avLst/>
          </a:prstGeom>
          <a:solidFill>
            <a:srgbClr val="1B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710928" y="402336"/>
            <a:ext cx="2011680" cy="4206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论文级模型结构图 · 答辩讲解用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664208"/>
            <a:ext cx="6894576" cy="4526280"/>
          </a:xfrm>
          <a:prstGeom prst="roundRect">
            <a:avLst>
              <a:gd name="adj" fmla="val 6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method_mldg_21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2069822"/>
            <a:ext cx="6675120" cy="3385866"/>
          </a:xfrm>
          <a:prstGeom prst="roundRect">
            <a:avLst/>
          </a:prstGeom>
          <a:ln w="12700">
            <a:solidFill>
              <a:srgbClr val="C9CFDE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676656" y="5797296"/>
            <a:ext cx="667512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>
              <a:lnSpc>
                <a:spcPct val="108000"/>
              </a:lnSpc>
            </a:pPr>
            <a:r>
              <a:rPr sz="1200" b="0" i="1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图 5　MLDG 元学习训练流程（一阶近似）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99248" y="1719072"/>
            <a:ext cx="4096512" cy="402336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方法解读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99248" y="2157984"/>
            <a:ext cx="868680" cy="50292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717536" y="2448275"/>
            <a:ext cx="77724" cy="7772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73568" y="2359152"/>
            <a:ext cx="3822192" cy="55766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3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MLDG（Li et al., AAAI 2018）：Meta-Learning via Deep Gradient Descent。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17536" y="3179673"/>
            <a:ext cx="77724" cy="7772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73568" y="3090550"/>
            <a:ext cx="3822192" cy="55766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3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每个 batch 把域划分为「元训练域」与「元测试域」，模拟训练/未见域的迁移。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17536" y="3911071"/>
            <a:ext cx="77724" cy="7772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73568" y="3821948"/>
            <a:ext cx="3822192" cy="55766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3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在元训练域上做梯度步，要求该步同时降低元测试域损失，即优化泛化梯度方向。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17536" y="4642469"/>
            <a:ext cx="77724" cy="7772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973568" y="4553346"/>
            <a:ext cx="3822192" cy="55766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3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本系统实现其一阶近似版本，避免二阶梯度开销，配合 LoRA 在多数据集上联合训练。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17536" y="5373867"/>
            <a:ext cx="77724" cy="7772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973568" y="5284744"/>
            <a:ext cx="3822192" cy="55766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3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目标：让模型学到跨域共享的伪造伪影，而非单一数据集的捷径特征。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6400800"/>
            <a:ext cx="11228832" cy="18288"/>
          </a:xfrm>
          <a:prstGeom prst="rect">
            <a:avLst/>
          </a:prstGeom>
          <a:solidFill>
            <a:srgbClr val="C9C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66928" y="6437376"/>
            <a:ext cx="8778240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子课题三 · 未知攻击与跨数据集泛化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6437376"/>
            <a:ext cx="1737360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19 / 47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1417320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0424160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07A2F"/>
                </a:solidFill>
                <a:latin typeface="PingFang SC"/>
                <a:ea typeface="PingFang SC"/>
                <a:cs typeface="PingFang SC"/>
              </a:rPr>
              <a:t>METHOD ·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03504"/>
            <a:ext cx="10881360" cy="6766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SAM 尖锐度感知最小化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35024"/>
            <a:ext cx="1417320" cy="5486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546336" y="402336"/>
            <a:ext cx="2249424" cy="420624"/>
          </a:xfrm>
          <a:prstGeom prst="roundRect">
            <a:avLst>
              <a:gd name="adj" fmla="val 30000"/>
            </a:avLst>
          </a:prstGeom>
          <a:solidFill>
            <a:srgbClr val="D9E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546336" y="402336"/>
            <a:ext cx="91440" cy="420624"/>
          </a:xfrm>
          <a:prstGeom prst="rect">
            <a:avLst/>
          </a:prstGeom>
          <a:solidFill>
            <a:srgbClr val="1B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710928" y="402336"/>
            <a:ext cx="2011680" cy="4206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论文级模型结构图 · 答辩讲解用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664208"/>
            <a:ext cx="6894576" cy="4526280"/>
          </a:xfrm>
          <a:prstGeom prst="roundRect">
            <a:avLst>
              <a:gd name="adj" fmla="val 6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method_sam_21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2068328"/>
            <a:ext cx="6675120" cy="3388854"/>
          </a:xfrm>
          <a:prstGeom prst="roundRect">
            <a:avLst/>
          </a:prstGeom>
          <a:ln w="12700">
            <a:solidFill>
              <a:srgbClr val="C9CFDE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676656" y="5797296"/>
            <a:ext cx="667512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>
              <a:lnSpc>
                <a:spcPct val="108000"/>
              </a:lnSpc>
            </a:pPr>
            <a:r>
              <a:rPr sz="1200" b="0" i="1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图 6　SAM 平坦极小值优化示意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99248" y="1719072"/>
            <a:ext cx="4096512" cy="402336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方法解读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99248" y="2157984"/>
            <a:ext cx="868680" cy="50292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717536" y="2448275"/>
            <a:ext cx="77724" cy="7772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73568" y="2359152"/>
            <a:ext cx="3822192" cy="55766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3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SAM（Foret et al., ICLR 2021）：Sharpness-Aware Minimization。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17536" y="3179673"/>
            <a:ext cx="77724" cy="7772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73568" y="3090550"/>
            <a:ext cx="3822192" cy="55766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3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同时最小化损失值与损失曲面尖锐度，寻找邻域内都较低的「平坦极小值」。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17536" y="3911071"/>
            <a:ext cx="77724" cy="7772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73568" y="3821948"/>
            <a:ext cx="3822192" cy="55766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3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两步梯度：先在 ρ 邻域内求最坏扰动点，再在该点计算梯度更新原参数。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17536" y="4642469"/>
            <a:ext cx="77724" cy="7772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973568" y="4553346"/>
            <a:ext cx="3822192" cy="55766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3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平坦极小值对分布偏移更不敏感，从而提升跨数据集泛化。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17536" y="5373867"/>
            <a:ext cx="77724" cy="7772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973568" y="5284744"/>
            <a:ext cx="3822192" cy="55766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3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本系统作为单数据集 ERM 的替代训练策略（sam_multi.yaml）。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6400800"/>
            <a:ext cx="11228832" cy="18288"/>
          </a:xfrm>
          <a:prstGeom prst="rect">
            <a:avLst/>
          </a:prstGeom>
          <a:solidFill>
            <a:srgbClr val="C9C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66928" y="6437376"/>
            <a:ext cx="8778240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子课题三 · 未知攻击与跨数据集泛化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6437376"/>
            <a:ext cx="1737360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20 / 47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1417320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0424160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07A2F"/>
                </a:solidFill>
                <a:latin typeface="PingFang SC"/>
                <a:ea typeface="PingFang SC"/>
                <a:cs typeface="PingFang SC"/>
              </a:rPr>
              <a:t>METHOD ·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03504"/>
            <a:ext cx="10881360" cy="6766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数据增强策略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35024"/>
            <a:ext cx="1417320" cy="5486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546336" y="402336"/>
            <a:ext cx="2249424" cy="420624"/>
          </a:xfrm>
          <a:prstGeom prst="roundRect">
            <a:avLst>
              <a:gd name="adj" fmla="val 30000"/>
            </a:avLst>
          </a:prstGeom>
          <a:solidFill>
            <a:srgbClr val="D9E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546336" y="402336"/>
            <a:ext cx="91440" cy="420624"/>
          </a:xfrm>
          <a:prstGeom prst="rect">
            <a:avLst/>
          </a:prstGeom>
          <a:solidFill>
            <a:srgbClr val="1B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710928" y="402336"/>
            <a:ext cx="2011680" cy="4206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论文级模型结构图 · 答辩讲解用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664208"/>
            <a:ext cx="6894576" cy="4526280"/>
          </a:xfrm>
          <a:prstGeom prst="roundRect">
            <a:avLst>
              <a:gd name="adj" fmla="val 6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method_augment_21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2120599"/>
            <a:ext cx="6675120" cy="3284312"/>
          </a:xfrm>
          <a:prstGeom prst="roundRect">
            <a:avLst/>
          </a:prstGeom>
          <a:ln w="12700">
            <a:solidFill>
              <a:srgbClr val="C9CFDE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676656" y="5797296"/>
            <a:ext cx="667512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>
              <a:lnSpc>
                <a:spcPct val="108000"/>
              </a:lnSpc>
            </a:pPr>
            <a:r>
              <a:rPr sz="1200" b="0" i="1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图 7　波形域 / 频谱域数据增强流水线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99248" y="1719072"/>
            <a:ext cx="4096512" cy="402336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方法解读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99248" y="2157984"/>
            <a:ext cx="868680" cy="50292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717536" y="2448275"/>
            <a:ext cx="77724" cy="7772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73568" y="2359152"/>
            <a:ext cx="3822192" cy="55766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3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RawBoost（Tak et al., ICASSP 2022）：在原始波形域做增强，直接对抗生成器差异。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17536" y="3179673"/>
            <a:ext cx="77724" cy="7772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73568" y="3090550"/>
            <a:ext cx="3822192" cy="55766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3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编解码增强：模拟不同编码器/比特率留下的信道痕迹，提升对设备/信道未知的鲁棒性。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17536" y="3911071"/>
            <a:ext cx="77724" cy="7772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73568" y="3821948"/>
            <a:ext cx="3822192" cy="55766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3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噪声注入 + RIR 混响：覆盖多样声学环境，缓解「环境未知」下的性能塌陷。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17536" y="4642469"/>
            <a:ext cx="77724" cy="7772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973568" y="4553346"/>
            <a:ext cx="3822192" cy="55766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3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SpecAugment：频谱时频掩码，正则化后端、抑制对固定频段捷径的依赖。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17536" y="5373867"/>
            <a:ext cx="77724" cy="7772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973568" y="5284744"/>
            <a:ext cx="3822192" cy="55766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3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作用：在无法穷举真实攻击时，用增强扩充训练分布，逼近未知场景。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6400800"/>
            <a:ext cx="11228832" cy="18288"/>
          </a:xfrm>
          <a:prstGeom prst="rect">
            <a:avLst/>
          </a:prstGeom>
          <a:solidFill>
            <a:srgbClr val="C9C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66928" y="6437376"/>
            <a:ext cx="8778240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子课题三 · 未知攻击与跨数据集泛化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6437376"/>
            <a:ext cx="1737360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21 / 47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1417320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0424160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07A2F"/>
                </a:solidFill>
                <a:latin typeface="PingFang SC"/>
                <a:ea typeface="PingFang SC"/>
                <a:cs typeface="PingFang SC"/>
              </a:rPr>
              <a:t>DATA ·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03504"/>
            <a:ext cx="10881360" cy="6766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研究数据集与用途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35024"/>
            <a:ext cx="1417320" cy="5486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700784"/>
            <a:ext cx="11109960" cy="512064"/>
          </a:xfrm>
          <a:prstGeom prst="rect">
            <a:avLst/>
          </a:prstGeom>
          <a:solidFill>
            <a:srgbClr val="1B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0664" y="1700784"/>
            <a:ext cx="2267712" cy="51206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数据集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18104" y="1700784"/>
            <a:ext cx="1261872" cy="51206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语言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9703" y="1700784"/>
            <a:ext cx="3182112" cy="51206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攻击类型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81544" y="1700784"/>
            <a:ext cx="1078992" cy="51206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分类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70264" y="1700784"/>
            <a:ext cx="2770632" cy="51206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用途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2212848"/>
            <a:ext cx="11109960" cy="822960"/>
          </a:xfrm>
          <a:prstGeom prst="rect">
            <a:avLst/>
          </a:prstGeom>
          <a:solidFill>
            <a:srgbClr val="F4F5F8"/>
          </a:solidFill>
          <a:ln w="9525">
            <a:solidFill>
              <a:srgbClr val="C9C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8096" y="2212848"/>
            <a:ext cx="2212848" cy="8229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2000"/>
              </a:lnSpc>
            </a:pPr>
            <a:r>
              <a:rPr sz="1300" b="1" i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CFAD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45536" y="2212848"/>
            <a:ext cx="1207008" cy="8229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3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中文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7136" y="2212848"/>
            <a:ext cx="3127248" cy="8229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3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12 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8975" y="2212848"/>
            <a:ext cx="1024128" cy="8229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3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DF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97696" y="2212848"/>
            <a:ext cx="2715768" cy="8229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3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主训练集 · 中文核心评估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3035808"/>
            <a:ext cx="111099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C9C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68096" y="3035808"/>
            <a:ext cx="2212848" cy="8229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2000"/>
              </a:lnSpc>
            </a:pPr>
            <a:r>
              <a:rPr sz="1300" b="1" i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ADD 2023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45536" y="3035808"/>
            <a:ext cx="1207008" cy="8229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3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中文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17136" y="3035808"/>
            <a:ext cx="3127248" cy="8229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3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多种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08975" y="3035808"/>
            <a:ext cx="1024128" cy="8229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3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DF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97696" y="3035808"/>
            <a:ext cx="2715768" cy="8229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3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中文跨域验证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3858768"/>
            <a:ext cx="11109960" cy="822960"/>
          </a:xfrm>
          <a:prstGeom prst="rect">
            <a:avLst/>
          </a:prstGeom>
          <a:solidFill>
            <a:srgbClr val="F4F5F8"/>
          </a:solidFill>
          <a:ln w="9525">
            <a:solidFill>
              <a:srgbClr val="C9C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68096" y="3858768"/>
            <a:ext cx="2212848" cy="8229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2000"/>
              </a:lnSpc>
            </a:pPr>
            <a:r>
              <a:rPr sz="1300" b="1" i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ASVspoof 2019 LA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45536" y="3858768"/>
            <a:ext cx="1207008" cy="8229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3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英文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17136" y="3858768"/>
            <a:ext cx="3127248" cy="8229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3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19 种（6 已知 + 13 未知）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08975" y="3858768"/>
            <a:ext cx="1024128" cy="8229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3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LA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97696" y="3858768"/>
            <a:ext cx="2715768" cy="8229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3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跨语言泛化评估 · 本次全量实测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" y="4681728"/>
            <a:ext cx="111099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C9C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68096" y="4681728"/>
            <a:ext cx="2212848" cy="8229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2000"/>
              </a:lnSpc>
            </a:pPr>
            <a:r>
              <a:rPr sz="1300" b="1" i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VoiceWukong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45536" y="4681728"/>
            <a:ext cx="1207008" cy="8229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3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中英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17136" y="4681728"/>
            <a:ext cx="3127248" cy="8229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3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大规模多场景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08975" y="4681728"/>
            <a:ext cx="1024128" cy="8229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3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DF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97696" y="4681728"/>
            <a:ext cx="2715768" cy="8229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3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补充评估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5800" y="5669280"/>
            <a:ext cx="11109960" cy="658367"/>
          </a:xfrm>
          <a:prstGeom prst="roundRect">
            <a:avLst>
              <a:gd name="adj" fmla="val 6000"/>
            </a:avLst>
          </a:prstGeom>
          <a:solidFill>
            <a:srgbClr val="F8E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85800" y="5669280"/>
            <a:ext cx="91440" cy="658367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41832" y="5669280"/>
            <a:ext cx="10652760" cy="658367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B55C18"/>
                </a:solidFill>
                <a:latin typeface="PingFang SC"/>
                <a:ea typeface="PingFang SC"/>
                <a:cs typeface="PingFang SC"/>
              </a:rPr>
              <a:t>统一预处理：ffmpeg 转 16 kHz 单声道 WAV，复制 protocol 文件；特征写入 FeatureCache，支持多卡分片提取。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8" y="6400800"/>
            <a:ext cx="11228832" cy="18288"/>
          </a:xfrm>
          <a:prstGeom prst="rect">
            <a:avLst/>
          </a:prstGeom>
          <a:solidFill>
            <a:srgbClr val="C9C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66928" y="6437376"/>
            <a:ext cx="8778240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子课题三 · 未知攻击与跨数据集泛化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0" y="6437376"/>
            <a:ext cx="1737360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22 / 47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1417320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0424160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07A2F"/>
                </a:solidFill>
                <a:latin typeface="PingFang SC"/>
                <a:ea typeface="PingFang SC"/>
                <a:cs typeface="PingFang SC"/>
              </a:rPr>
              <a:t>DATA ·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03504"/>
            <a:ext cx="10881360" cy="6766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音频数据集介绍：ASVspoof 2019 LA 与四配置数据集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35024"/>
            <a:ext cx="1417320" cy="5486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226808" y="210312"/>
            <a:ext cx="4965192" cy="420624"/>
          </a:xfrm>
          <a:prstGeom prst="roundRect">
            <a:avLst>
              <a:gd name="adj" fmla="val 30000"/>
            </a:avLst>
          </a:prstGeom>
          <a:solidFill>
            <a:srgbClr val="DD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226808" y="210312"/>
            <a:ext cx="91440" cy="420624"/>
          </a:xfrm>
          <a:prstGeom prst="rect">
            <a:avLst/>
          </a:prstGeom>
          <a:solidFill>
            <a:srgbClr val="1E6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91399" y="210312"/>
            <a:ext cx="4727448" cy="4206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6B45"/>
                </a:solidFill>
                <a:latin typeface="PingFang SC"/>
                <a:ea typeface="PingFang SC"/>
                <a:cs typeface="PingFang SC"/>
              </a:rPr>
              <a:t>真实结果 · ASVspoof 2019 LA 全量 71k（A10 实测）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627632"/>
            <a:ext cx="73152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ASVspoof 2019 LA · eval 全量（本次实测口径）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048256"/>
            <a:ext cx="1691639" cy="1170432"/>
          </a:xfrm>
          <a:prstGeom prst="roundRect">
            <a:avLst>
              <a:gd name="adj" fmla="val 6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8368" y="2048256"/>
            <a:ext cx="1691639" cy="82296"/>
          </a:xfrm>
          <a:prstGeom prst="rect">
            <a:avLst/>
          </a:prstGeom>
          <a:solidFill>
            <a:srgbClr val="1B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2" y="2231136"/>
            <a:ext cx="1581912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71,237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2798064"/>
            <a:ext cx="1581912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eval 总条数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51176" y="2048256"/>
            <a:ext cx="1691639" cy="1170432"/>
          </a:xfrm>
          <a:prstGeom prst="roundRect">
            <a:avLst>
              <a:gd name="adj" fmla="val 6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551176" y="2048256"/>
            <a:ext cx="1691639" cy="82296"/>
          </a:xfrm>
          <a:prstGeom prst="rect">
            <a:avLst/>
          </a:prstGeom>
          <a:solidFill>
            <a:srgbClr val="1E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606040" y="2231136"/>
            <a:ext cx="1581912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1E7A4C"/>
                </a:solidFill>
                <a:latin typeface="PingFang SC"/>
                <a:ea typeface="PingFang SC"/>
                <a:cs typeface="PingFang SC"/>
              </a:rPr>
              <a:t>7,355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06040" y="2798064"/>
            <a:ext cx="1581912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bonafide 真人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43983" y="2048256"/>
            <a:ext cx="1691639" cy="1170432"/>
          </a:xfrm>
          <a:prstGeom prst="roundRect">
            <a:avLst>
              <a:gd name="adj" fmla="val 6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443983" y="2048256"/>
            <a:ext cx="1691639" cy="82296"/>
          </a:xfrm>
          <a:prstGeom prst="rect">
            <a:avLst/>
          </a:prstGeom>
          <a:solidFill>
            <a:srgbClr val="B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98847" y="2231136"/>
            <a:ext cx="1581912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B02A2A"/>
                </a:solidFill>
                <a:latin typeface="PingFang SC"/>
                <a:ea typeface="PingFang SC"/>
                <a:cs typeface="PingFang SC"/>
              </a:rPr>
              <a:t>63,882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98847" y="2798064"/>
            <a:ext cx="1581912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spoof 伪造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36791" y="2048256"/>
            <a:ext cx="1691639" cy="1170432"/>
          </a:xfrm>
          <a:prstGeom prst="roundRect">
            <a:avLst>
              <a:gd name="adj" fmla="val 6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336791" y="2048256"/>
            <a:ext cx="1691639" cy="82296"/>
          </a:xfrm>
          <a:prstGeom prst="rect">
            <a:avLst/>
          </a:prstGeom>
          <a:solidFill>
            <a:srgbClr val="B55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91655" y="2231136"/>
            <a:ext cx="1581912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B55C18"/>
                </a:solidFill>
                <a:latin typeface="PingFang SC"/>
                <a:ea typeface="PingFang SC"/>
                <a:cs typeface="PingFang SC"/>
              </a:rPr>
              <a:t>13 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91655" y="2798064"/>
            <a:ext cx="1581912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未知攻击 A07–A19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0" y="2048256"/>
            <a:ext cx="1691639" cy="1170432"/>
          </a:xfrm>
          <a:prstGeom prst="roundRect">
            <a:avLst>
              <a:gd name="adj" fmla="val 6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229600" y="2048256"/>
            <a:ext cx="1691639" cy="82296"/>
          </a:xfrm>
          <a:prstGeom prst="rect">
            <a:avLst/>
          </a:prstGeom>
          <a:solidFill>
            <a:srgbClr val="B55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84464" y="2231136"/>
            <a:ext cx="1581912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B55C18"/>
                </a:solidFill>
                <a:latin typeface="PingFang SC"/>
                <a:ea typeface="PingFang SC"/>
                <a:cs typeface="PingFang SC"/>
              </a:rPr>
              <a:t>4,914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84464" y="2798064"/>
            <a:ext cx="1581912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每种攻击条数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122408" y="2048256"/>
            <a:ext cx="1691639" cy="1170432"/>
          </a:xfrm>
          <a:prstGeom prst="roundRect">
            <a:avLst>
              <a:gd name="adj" fmla="val 6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0122408" y="2048256"/>
            <a:ext cx="1691639" cy="82296"/>
          </a:xfrm>
          <a:prstGeom prst="rect">
            <a:avLst/>
          </a:prstGeom>
          <a:solidFill>
            <a:srgbClr val="1F5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177272" y="2231136"/>
            <a:ext cx="1581912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1F5F8B"/>
                </a:solidFill>
                <a:latin typeface="PingFang SC"/>
                <a:ea typeface="PingFang SC"/>
                <a:cs typeface="PingFang SC"/>
              </a:rPr>
              <a:t>16 kHz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77272" y="2798064"/>
            <a:ext cx="1581912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采样率 · 单声道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3310128"/>
            <a:ext cx="11155680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单条时长 ≤ 4 秒；eval 不含已知攻击 A01–A06（官方设定），known_attacks 为空属正常而非缺陷。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3730752"/>
            <a:ext cx="7315200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configs/dataset 四数据集角色分工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" y="4114800"/>
            <a:ext cx="2624327" cy="2194560"/>
          </a:xfrm>
          <a:prstGeom prst="roundRect">
            <a:avLst>
              <a:gd name="adj" fmla="val 6000"/>
            </a:avLst>
          </a:prstGeom>
          <a:solidFill>
            <a:srgbClr val="EC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658368" y="4114800"/>
            <a:ext cx="2624327" cy="566928"/>
          </a:xfrm>
          <a:prstGeom prst="roundRect">
            <a:avLst>
              <a:gd name="adj" fmla="val 6000"/>
            </a:avLst>
          </a:prstGeom>
          <a:solidFill>
            <a:srgbClr val="1B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58368" y="4407408"/>
            <a:ext cx="2624327" cy="274320"/>
          </a:xfrm>
          <a:prstGeom prst="rect">
            <a:avLst/>
          </a:prstGeom>
          <a:solidFill>
            <a:srgbClr val="1B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04672" y="4114800"/>
            <a:ext cx="2350008" cy="56692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CFAD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4672" y="4736592"/>
            <a:ext cx="2350008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B55C18"/>
                </a:solidFill>
                <a:latin typeface="PingFang SC"/>
                <a:ea typeface="PingFang SC"/>
                <a:cs typeface="PingFang SC"/>
              </a:rPr>
              <a:t>中文主训练集</a:t>
            </a:r>
          </a:p>
        </p:txBody>
      </p:sp>
      <p:sp>
        <p:nvSpPr>
          <p:cNvPr id="43" name="Diamond 42"/>
          <p:cNvSpPr/>
          <p:nvPr/>
        </p:nvSpPr>
        <p:spPr>
          <a:xfrm>
            <a:off x="818387" y="5151912"/>
            <a:ext cx="100584" cy="100584"/>
          </a:xfrm>
          <a:prstGeom prst="diamond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78992" y="5084064"/>
            <a:ext cx="2057400" cy="2820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中文伪造核心训练</a:t>
            </a:r>
          </a:p>
        </p:txBody>
      </p:sp>
      <p:sp>
        <p:nvSpPr>
          <p:cNvPr id="45" name="Diamond 44"/>
          <p:cNvSpPr/>
          <p:nvPr/>
        </p:nvSpPr>
        <p:spPr>
          <a:xfrm>
            <a:off x="818387" y="5525353"/>
            <a:ext cx="100584" cy="100584"/>
          </a:xfrm>
          <a:prstGeom prst="diamond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078992" y="5457504"/>
            <a:ext cx="2057400" cy="2820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域内主测 · 12 种攻击</a:t>
            </a:r>
          </a:p>
        </p:txBody>
      </p:sp>
      <p:sp>
        <p:nvSpPr>
          <p:cNvPr id="47" name="Diamond 46"/>
          <p:cNvSpPr/>
          <p:nvPr/>
        </p:nvSpPr>
        <p:spPr>
          <a:xfrm>
            <a:off x="818387" y="5898794"/>
            <a:ext cx="100584" cy="100584"/>
          </a:xfrm>
          <a:prstGeom prst="diamond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078992" y="5830945"/>
            <a:ext cx="2057400" cy="2820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DF 逻辑接入场景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502151" y="4114800"/>
            <a:ext cx="2624327" cy="2194560"/>
          </a:xfrm>
          <a:prstGeom prst="roundRect">
            <a:avLst>
              <a:gd name="adj" fmla="val 6000"/>
            </a:avLst>
          </a:prstGeom>
          <a:solidFill>
            <a:srgbClr val="EC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3502151" y="4114800"/>
            <a:ext cx="2624327" cy="566928"/>
          </a:xfrm>
          <a:prstGeom prst="roundRect">
            <a:avLst>
              <a:gd name="adj" fmla="val 6000"/>
            </a:avLst>
          </a:prstGeom>
          <a:solidFill>
            <a:srgbClr val="1B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3502151" y="4407408"/>
            <a:ext cx="2624327" cy="274320"/>
          </a:xfrm>
          <a:prstGeom prst="rect">
            <a:avLst/>
          </a:prstGeom>
          <a:solidFill>
            <a:srgbClr val="1B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648455" y="4114800"/>
            <a:ext cx="2350008" cy="56692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ASVspoof 2019 LA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48455" y="4736592"/>
            <a:ext cx="2350008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B55C18"/>
                </a:solidFill>
                <a:latin typeface="PingFang SC"/>
                <a:ea typeface="PingFang SC"/>
                <a:cs typeface="PingFang SC"/>
              </a:rPr>
              <a:t>跨语言泛化评估</a:t>
            </a:r>
          </a:p>
        </p:txBody>
      </p:sp>
      <p:sp>
        <p:nvSpPr>
          <p:cNvPr id="54" name="Diamond 53"/>
          <p:cNvSpPr/>
          <p:nvPr/>
        </p:nvSpPr>
        <p:spPr>
          <a:xfrm>
            <a:off x="3662172" y="5151912"/>
            <a:ext cx="100584" cy="100584"/>
          </a:xfrm>
          <a:prstGeom prst="diamond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922775" y="5084064"/>
            <a:ext cx="2057400" cy="2820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英文 LA 权威基准</a:t>
            </a:r>
          </a:p>
        </p:txBody>
      </p:sp>
      <p:sp>
        <p:nvSpPr>
          <p:cNvPr id="56" name="Diamond 55"/>
          <p:cNvSpPr/>
          <p:nvPr/>
        </p:nvSpPr>
        <p:spPr>
          <a:xfrm>
            <a:off x="3662172" y="5525353"/>
            <a:ext cx="100584" cy="100584"/>
          </a:xfrm>
          <a:prstGeom prst="diamond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922775" y="5457504"/>
            <a:ext cx="2057400" cy="2820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eval 全未知 A07–A19</a:t>
            </a:r>
          </a:p>
        </p:txBody>
      </p:sp>
      <p:sp>
        <p:nvSpPr>
          <p:cNvPr id="58" name="Diamond 57"/>
          <p:cNvSpPr/>
          <p:nvPr/>
        </p:nvSpPr>
        <p:spPr>
          <a:xfrm>
            <a:off x="3662172" y="5898794"/>
            <a:ext cx="100584" cy="100584"/>
          </a:xfrm>
          <a:prstGeom prst="diamond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922775" y="5830945"/>
            <a:ext cx="2057400" cy="2820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本次全量 71k 实测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345935" y="4114800"/>
            <a:ext cx="2624327" cy="2194560"/>
          </a:xfrm>
          <a:prstGeom prst="roundRect">
            <a:avLst>
              <a:gd name="adj" fmla="val 6000"/>
            </a:avLst>
          </a:prstGeom>
          <a:solidFill>
            <a:srgbClr val="EC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6345935" y="4114800"/>
            <a:ext cx="2624327" cy="566928"/>
          </a:xfrm>
          <a:prstGeom prst="roundRect">
            <a:avLst>
              <a:gd name="adj" fmla="val 6000"/>
            </a:avLst>
          </a:prstGeom>
          <a:solidFill>
            <a:srgbClr val="1B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6345935" y="4407408"/>
            <a:ext cx="2624327" cy="274320"/>
          </a:xfrm>
          <a:prstGeom prst="rect">
            <a:avLst/>
          </a:prstGeom>
          <a:solidFill>
            <a:srgbClr val="1B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492239" y="4114800"/>
            <a:ext cx="2350008" cy="56692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ADD 2023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92239" y="4736592"/>
            <a:ext cx="2350008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B55C18"/>
                </a:solidFill>
                <a:latin typeface="PingFang SC"/>
                <a:ea typeface="PingFang SC"/>
                <a:cs typeface="PingFang SC"/>
              </a:rPr>
              <a:t>中文跨域验证</a:t>
            </a:r>
          </a:p>
        </p:txBody>
      </p:sp>
      <p:sp>
        <p:nvSpPr>
          <p:cNvPr id="65" name="Diamond 64"/>
          <p:cNvSpPr/>
          <p:nvPr/>
        </p:nvSpPr>
        <p:spPr>
          <a:xfrm>
            <a:off x="6505955" y="5151912"/>
            <a:ext cx="100584" cy="100584"/>
          </a:xfrm>
          <a:prstGeom prst="diamond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766559" y="5084064"/>
            <a:ext cx="2057400" cy="2820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中文对话深伪</a:t>
            </a:r>
          </a:p>
        </p:txBody>
      </p:sp>
      <p:sp>
        <p:nvSpPr>
          <p:cNvPr id="67" name="Diamond 66"/>
          <p:cNvSpPr/>
          <p:nvPr/>
        </p:nvSpPr>
        <p:spPr>
          <a:xfrm>
            <a:off x="6505955" y="5525353"/>
            <a:ext cx="100584" cy="100584"/>
          </a:xfrm>
          <a:prstGeom prst="diamond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766559" y="5457504"/>
            <a:ext cx="2057400" cy="2820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跨录音条件验证</a:t>
            </a:r>
          </a:p>
        </p:txBody>
      </p:sp>
      <p:sp>
        <p:nvSpPr>
          <p:cNvPr id="69" name="Diamond 68"/>
          <p:cNvSpPr/>
          <p:nvPr/>
        </p:nvSpPr>
        <p:spPr>
          <a:xfrm>
            <a:off x="6505955" y="5898794"/>
            <a:ext cx="100584" cy="100584"/>
          </a:xfrm>
          <a:prstGeom prst="diamond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766559" y="5830945"/>
            <a:ext cx="2057400" cy="2820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补充中文泛化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189719" y="4114800"/>
            <a:ext cx="2624327" cy="2194560"/>
          </a:xfrm>
          <a:prstGeom prst="roundRect">
            <a:avLst>
              <a:gd name="adj" fmla="val 6000"/>
            </a:avLst>
          </a:prstGeom>
          <a:solidFill>
            <a:srgbClr val="EC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ounded Rectangle 71"/>
          <p:cNvSpPr/>
          <p:nvPr/>
        </p:nvSpPr>
        <p:spPr>
          <a:xfrm>
            <a:off x="9189719" y="4114800"/>
            <a:ext cx="2624327" cy="566928"/>
          </a:xfrm>
          <a:prstGeom prst="roundRect">
            <a:avLst>
              <a:gd name="adj" fmla="val 6000"/>
            </a:avLst>
          </a:prstGeom>
          <a:solidFill>
            <a:srgbClr val="1B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9189719" y="4407408"/>
            <a:ext cx="2624327" cy="274320"/>
          </a:xfrm>
          <a:prstGeom prst="rect">
            <a:avLst/>
          </a:prstGeom>
          <a:solidFill>
            <a:srgbClr val="1B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9336024" y="4114800"/>
            <a:ext cx="2350008" cy="56692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VoiceWukong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336024" y="4736592"/>
            <a:ext cx="2350008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B55C18"/>
                </a:solidFill>
                <a:latin typeface="PingFang SC"/>
                <a:ea typeface="PingFang SC"/>
                <a:cs typeface="PingFang SC"/>
              </a:rPr>
              <a:t>大规模补充评估</a:t>
            </a:r>
          </a:p>
        </p:txBody>
      </p:sp>
      <p:sp>
        <p:nvSpPr>
          <p:cNvPr id="76" name="Diamond 75"/>
          <p:cNvSpPr/>
          <p:nvPr/>
        </p:nvSpPr>
        <p:spPr>
          <a:xfrm>
            <a:off x="9349740" y="5151912"/>
            <a:ext cx="100584" cy="100584"/>
          </a:xfrm>
          <a:prstGeom prst="diamond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9610344" y="5084064"/>
            <a:ext cx="2057400" cy="2820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中英多场景</a:t>
            </a:r>
          </a:p>
        </p:txBody>
      </p:sp>
      <p:sp>
        <p:nvSpPr>
          <p:cNvPr id="78" name="Diamond 77"/>
          <p:cNvSpPr/>
          <p:nvPr/>
        </p:nvSpPr>
        <p:spPr>
          <a:xfrm>
            <a:off x="9349740" y="5525353"/>
            <a:ext cx="100584" cy="100584"/>
          </a:xfrm>
          <a:prstGeom prst="diamond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9610344" y="5457504"/>
            <a:ext cx="2057400" cy="2820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大规模多样化</a:t>
            </a:r>
          </a:p>
        </p:txBody>
      </p:sp>
      <p:sp>
        <p:nvSpPr>
          <p:cNvPr id="80" name="Diamond 79"/>
          <p:cNvSpPr/>
          <p:nvPr/>
        </p:nvSpPr>
        <p:spPr>
          <a:xfrm>
            <a:off x="9349740" y="5898794"/>
            <a:ext cx="100584" cy="100584"/>
          </a:xfrm>
          <a:prstGeom prst="diamond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9610344" y="5830945"/>
            <a:ext cx="2057400" cy="2820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泛化稳健性对照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66928" y="6400800"/>
            <a:ext cx="11228832" cy="18288"/>
          </a:xfrm>
          <a:prstGeom prst="rect">
            <a:avLst/>
          </a:prstGeom>
          <a:solidFill>
            <a:srgbClr val="C9C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566928" y="6437376"/>
            <a:ext cx="8778240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子课题三 · 未知攻击与跨数据集泛化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058400" y="6437376"/>
            <a:ext cx="1737360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23 / 47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1417320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86746"/>
            <a:ext cx="857032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 i="0" dirty="0">
                <a:solidFill>
                  <a:srgbClr val="E07A2F"/>
                </a:solidFill>
                <a:latin typeface="PingFang SC"/>
                <a:ea typeface="PingFang SC"/>
                <a:cs typeface="PingFang SC"/>
              </a:rPr>
              <a:t>DATA ·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29606"/>
            <a:ext cx="5231706" cy="6766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i="0" dirty="0" err="1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音频时频解析：STFT</a:t>
            </a:r>
            <a:r>
              <a:rPr sz="2600" b="1" i="0" dirty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2600" b="1" i="0" dirty="0" err="1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真伪配对对比</a:t>
            </a:r>
            <a:endParaRPr sz="2600" b="1" i="0" dirty="0">
              <a:solidFill>
                <a:srgbClr val="1B244E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66928" y="861766"/>
            <a:ext cx="6236208" cy="5904794"/>
          </a:xfrm>
          <a:prstGeom prst="roundRect">
            <a:avLst>
              <a:gd name="adj" fmla="val 6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10_stft_paired_comparison_21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146" y="969046"/>
            <a:ext cx="5820088" cy="5426538"/>
          </a:xfrm>
          <a:prstGeom prst="roundRect">
            <a:avLst/>
          </a:prstGeom>
          <a:ln w="12700">
            <a:solidFill>
              <a:srgbClr val="C9CFDE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658368" y="6462937"/>
            <a:ext cx="5760720" cy="219437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>
              <a:lnSpc>
                <a:spcPct val="108000"/>
              </a:lnSpc>
            </a:pPr>
            <a:r>
              <a:rPr sz="1200" b="0" i="1" dirty="0" err="1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图</a:t>
            </a:r>
            <a:r>
              <a:rPr sz="1200" b="0" i="1" dirty="0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　</a:t>
            </a:r>
            <a:r>
              <a:rPr sz="1200" b="0" i="1" dirty="0" err="1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bonafide</a:t>
            </a:r>
            <a:r>
              <a:rPr sz="1200" b="0" i="1" dirty="0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 vs spoof STFT </a:t>
            </a:r>
            <a:r>
              <a:rPr sz="1200" b="0" i="1" dirty="0" err="1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时频配对对比</a:t>
            </a:r>
            <a:endParaRPr sz="1200" b="0" i="1" dirty="0">
              <a:solidFill>
                <a:srgbClr val="5E6474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829452" y="1685619"/>
            <a:ext cx="998704" cy="402336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1" i="0" dirty="0" err="1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时频解读</a:t>
            </a:r>
            <a:endParaRPr b="1" i="0" dirty="0">
              <a:solidFill>
                <a:srgbClr val="1B244E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894464" y="1984584"/>
            <a:ext cx="868680" cy="50292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6" name="Rectangle 15"/>
          <p:cNvSpPr/>
          <p:nvPr/>
        </p:nvSpPr>
        <p:spPr>
          <a:xfrm>
            <a:off x="6847740" y="2414822"/>
            <a:ext cx="77724" cy="7772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7" name="TextBox 16"/>
          <p:cNvSpPr txBox="1"/>
          <p:nvPr/>
        </p:nvSpPr>
        <p:spPr>
          <a:xfrm>
            <a:off x="7103772" y="2325699"/>
            <a:ext cx="4736592" cy="55766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4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STFT 短时傅里叶变换把波形展开为时频二维能量图，是伪造伪影最直观的观测面。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47740" y="3146220"/>
            <a:ext cx="77724" cy="7772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9" name="TextBox 18"/>
          <p:cNvSpPr txBox="1"/>
          <p:nvPr/>
        </p:nvSpPr>
        <p:spPr>
          <a:xfrm>
            <a:off x="7103772" y="3057097"/>
            <a:ext cx="4736592" cy="55766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4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合成语音常在高频段出现能量截断、周期性纹理缺失或谐波断裂等规律性伪影。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47740" y="3877618"/>
            <a:ext cx="77724" cy="7772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1" name="TextBox 20"/>
          <p:cNvSpPr txBox="1"/>
          <p:nvPr/>
        </p:nvSpPr>
        <p:spPr>
          <a:xfrm>
            <a:off x="7103772" y="3788495"/>
            <a:ext cx="4736592" cy="55766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4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bonafide 与 spoof 配对对比可肉眼定位差异频段，为前端/后端建模提供动机。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47740" y="4609016"/>
            <a:ext cx="77724" cy="7772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3" name="TextBox 22"/>
          <p:cNvSpPr txBox="1"/>
          <p:nvPr/>
        </p:nvSpPr>
        <p:spPr>
          <a:xfrm>
            <a:off x="7103772" y="4519893"/>
            <a:ext cx="4736592" cy="55766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4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诚实标注：本页为合成演示信号（bonafide vs spoof）；真实 ASVspoof 语音数据在远端阿里云 DSW。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6437376"/>
            <a:ext cx="1737360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24 / 47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1417320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0424160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07A2F"/>
                </a:solidFill>
                <a:latin typeface="PingFang SC"/>
                <a:ea typeface="PingFang SC"/>
                <a:cs typeface="PingFang SC"/>
              </a:rPr>
              <a:t>DATA ·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3639" y="374053"/>
            <a:ext cx="5435369" cy="6766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b="1" i="0" dirty="0" err="1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音频时频解析：梅尔</a:t>
            </a:r>
            <a:r>
              <a:rPr b="1" i="0" dirty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 / </a:t>
            </a:r>
            <a:r>
              <a:rPr b="1" i="0" dirty="0" err="1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频谱差</a:t>
            </a:r>
            <a:r>
              <a:rPr b="1" i="0" dirty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 / MFCC / </a:t>
            </a:r>
            <a:r>
              <a:rPr b="1" i="0" dirty="0" err="1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前端流水线</a:t>
            </a:r>
            <a:endParaRPr b="1" i="0" dirty="0">
              <a:solidFill>
                <a:srgbClr val="1B244E"/>
              </a:solidFill>
              <a:latin typeface="PingFang SC"/>
              <a:ea typeface="PingFang SC"/>
              <a:cs typeface="PingFang SC"/>
            </a:endParaRPr>
          </a:p>
        </p:txBody>
      </p:sp>
      <p:pic>
        <p:nvPicPr>
          <p:cNvPr id="12" name="Picture 11" descr="11_mel_overview_grid_17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856" y="1317534"/>
            <a:ext cx="3244501" cy="3543354"/>
          </a:xfrm>
          <a:prstGeom prst="roundRect">
            <a:avLst/>
          </a:prstGeom>
          <a:ln w="12700">
            <a:solidFill>
              <a:srgbClr val="C9CFDE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941928" y="1083755"/>
            <a:ext cx="1997182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1" dirty="0" err="1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梅尔频谱总览网格</a:t>
            </a:r>
            <a:endParaRPr sz="1200" b="0" i="1" dirty="0">
              <a:solidFill>
                <a:srgbClr val="5E6474"/>
              </a:solidFill>
              <a:latin typeface="PingFang SC"/>
              <a:ea typeface="PingFang SC"/>
              <a:cs typeface="PingFang SC"/>
            </a:endParaRPr>
          </a:p>
        </p:txBody>
      </p:sp>
      <p:pic>
        <p:nvPicPr>
          <p:cNvPr id="15" name="Picture 14" descr="07_avg_spectrum_diff_17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0738" y="1250553"/>
            <a:ext cx="8132260" cy="4960675"/>
          </a:xfrm>
          <a:prstGeom prst="roundRect">
            <a:avLst/>
          </a:prstGeom>
          <a:ln w="12700">
            <a:solidFill>
              <a:srgbClr val="C9CFDE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7355118" y="884644"/>
            <a:ext cx="1585485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1" dirty="0" err="1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真</a:t>
            </a:r>
            <a:r>
              <a:rPr sz="1200" b="0" i="1" dirty="0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/</a:t>
            </a:r>
            <a:r>
              <a:rPr sz="1200" b="0" i="1" dirty="0" err="1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伪平均频谱差异</a:t>
            </a:r>
            <a:endParaRPr sz="1200" b="0" i="1" dirty="0">
              <a:solidFill>
                <a:srgbClr val="5E6474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0058400" y="6437376"/>
            <a:ext cx="1737360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25 / 47</a:t>
            </a:r>
          </a:p>
        </p:txBody>
      </p:sp>
      <p:pic>
        <p:nvPicPr>
          <p:cNvPr id="30" name="Picture 17" descr="04_mfcc_heatmap_1700.jpg">
            <a:extLst>
              <a:ext uri="{FF2B5EF4-FFF2-40B4-BE49-F238E27FC236}">
                <a16:creationId xmlns:a16="http://schemas.microsoft.com/office/drawing/2014/main" id="{9ABC4C49-270E-79B5-6D76-5A8C22FB76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932" y="5230627"/>
            <a:ext cx="3244501" cy="1372232"/>
          </a:xfrm>
          <a:prstGeom prst="roundRect">
            <a:avLst/>
          </a:prstGeom>
          <a:ln w="12700">
            <a:solidFill>
              <a:srgbClr val="C9CFDE"/>
            </a:solidFill>
          </a:ln>
        </p:spPr>
      </p:pic>
      <p:sp>
        <p:nvSpPr>
          <p:cNvPr id="31" name="TextBox 18">
            <a:extLst>
              <a:ext uri="{FF2B5EF4-FFF2-40B4-BE49-F238E27FC236}">
                <a16:creationId xmlns:a16="http://schemas.microsoft.com/office/drawing/2014/main" id="{B34192E2-6549-6FDC-043B-8907D32975B8}"/>
              </a:ext>
            </a:extLst>
          </p:cNvPr>
          <p:cNvSpPr txBox="1"/>
          <p:nvPr/>
        </p:nvSpPr>
        <p:spPr>
          <a:xfrm>
            <a:off x="1288894" y="4948363"/>
            <a:ext cx="1539254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1" dirty="0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MFCC </a:t>
            </a:r>
            <a:r>
              <a:rPr sz="1200" b="0" i="1" dirty="0" err="1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系数热力图</a:t>
            </a:r>
            <a:endParaRPr sz="1200" b="0" i="1" dirty="0">
              <a:solidFill>
                <a:srgbClr val="5E6474"/>
              </a:solidFill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8C5E3-3BAC-7A81-06B3-D8466CBE2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54CF8C4-F046-32B3-5252-676B107D2CA7}"/>
              </a:ext>
            </a:extLst>
          </p:cNvPr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82B8BF-9667-1943-00BB-08981E991F29}"/>
              </a:ext>
            </a:extLst>
          </p:cNvPr>
          <p:cNvSpPr/>
          <p:nvPr/>
        </p:nvSpPr>
        <p:spPr>
          <a:xfrm>
            <a:off x="0" y="0"/>
            <a:ext cx="146304" cy="1417320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D624F2-3E19-65CE-A601-8EDD3FD7B80D}"/>
              </a:ext>
            </a:extLst>
          </p:cNvPr>
          <p:cNvSpPr txBox="1"/>
          <p:nvPr/>
        </p:nvSpPr>
        <p:spPr>
          <a:xfrm>
            <a:off x="566928" y="310896"/>
            <a:ext cx="10424160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07A2F"/>
                </a:solidFill>
                <a:latin typeface="PingFang SC"/>
                <a:ea typeface="PingFang SC"/>
                <a:cs typeface="PingFang SC"/>
              </a:rPr>
              <a:t>DATA · 03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79CAA6-160E-6C88-53C6-F42ABD3E13AD}"/>
              </a:ext>
            </a:extLst>
          </p:cNvPr>
          <p:cNvSpPr txBox="1"/>
          <p:nvPr/>
        </p:nvSpPr>
        <p:spPr>
          <a:xfrm>
            <a:off x="343639" y="374053"/>
            <a:ext cx="5435369" cy="6766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b="1" i="0" dirty="0" err="1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音频时频解析：梅尔</a:t>
            </a:r>
            <a:r>
              <a:rPr b="1" i="0" dirty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 / </a:t>
            </a:r>
            <a:r>
              <a:rPr b="1" i="0" dirty="0" err="1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频谱差</a:t>
            </a:r>
            <a:r>
              <a:rPr b="1" i="0" dirty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 / MFCC / </a:t>
            </a:r>
            <a:r>
              <a:rPr b="1" i="0" dirty="0" err="1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前端流水线</a:t>
            </a:r>
            <a:endParaRPr b="1" i="0" dirty="0">
              <a:solidFill>
                <a:srgbClr val="1B244E"/>
              </a:solidFill>
              <a:latin typeface="PingFang SC"/>
              <a:ea typeface="PingFang SC"/>
              <a:cs typeface="PingFang SC"/>
            </a:endParaRPr>
          </a:p>
        </p:txBody>
      </p:sp>
      <p:pic>
        <p:nvPicPr>
          <p:cNvPr id="21" name="Picture 20" descr="08_frontend_pipeline_1700.jpg">
            <a:extLst>
              <a:ext uri="{FF2B5EF4-FFF2-40B4-BE49-F238E27FC236}">
                <a16:creationId xmlns:a16="http://schemas.microsoft.com/office/drawing/2014/main" id="{0B8FCFF1-1D6B-540E-C2A2-1C3BE29F6E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668" y="1417320"/>
            <a:ext cx="9747096" cy="5481305"/>
          </a:xfrm>
          <a:prstGeom prst="roundRect">
            <a:avLst/>
          </a:prstGeom>
          <a:ln w="12700">
            <a:solidFill>
              <a:srgbClr val="C9CFDE"/>
            </a:solidFill>
          </a:ln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965491E0-D8F7-7E31-2877-C53D259A436E}"/>
              </a:ext>
            </a:extLst>
          </p:cNvPr>
          <p:cNvSpPr txBox="1"/>
          <p:nvPr/>
        </p:nvSpPr>
        <p:spPr>
          <a:xfrm>
            <a:off x="3013001" y="1050709"/>
            <a:ext cx="5276088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1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前端特征提取流水线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212164C-CFAD-B848-EC2F-8A5A0B9439FE}"/>
              </a:ext>
            </a:extLst>
          </p:cNvPr>
          <p:cNvSpPr txBox="1"/>
          <p:nvPr/>
        </p:nvSpPr>
        <p:spPr>
          <a:xfrm>
            <a:off x="10058400" y="6437376"/>
            <a:ext cx="1737360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25 / 47</a:t>
            </a:r>
          </a:p>
        </p:txBody>
      </p:sp>
    </p:spTree>
    <p:extLst>
      <p:ext uri="{BB962C8B-B14F-4D97-AF65-F5344CB8AC3E}">
        <p14:creationId xmlns:p14="http://schemas.microsoft.com/office/powerpoint/2010/main" val="25281697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1417320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0424160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07A2F"/>
                </a:solidFill>
                <a:latin typeface="PingFang SC"/>
                <a:ea typeface="PingFang SC"/>
                <a:cs typeface="PingFang SC"/>
              </a:rPr>
              <a:t>EVALUATION ·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03504"/>
            <a:ext cx="10881360" cy="6766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跨数据集评估矩阵设计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35024"/>
            <a:ext cx="1417320" cy="5486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66928" y="1664208"/>
            <a:ext cx="6894576" cy="4526280"/>
          </a:xfrm>
          <a:prstGeom prst="roundRect">
            <a:avLst>
              <a:gd name="adj" fmla="val 6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eval_cross_matrix_21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2069822"/>
            <a:ext cx="6675120" cy="3385866"/>
          </a:xfrm>
          <a:prstGeom prst="roundRect">
            <a:avLst/>
          </a:prstGeom>
          <a:ln w="12700">
            <a:solidFill>
              <a:srgbClr val="C9CFDE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676656" y="5797296"/>
            <a:ext cx="667512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>
              <a:lnSpc>
                <a:spcPct val="108000"/>
              </a:lnSpc>
            </a:pPr>
            <a:r>
              <a:rPr sz="1200" b="0" i="1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图 8　N × N 跨数据集交叉评估矩阵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99248" y="1719072"/>
            <a:ext cx="4096512" cy="402336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矩阵解读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99248" y="2157984"/>
            <a:ext cx="868680" cy="50292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717536" y="2448275"/>
            <a:ext cx="77724" cy="7772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73568" y="2359152"/>
            <a:ext cx="3822192" cy="55766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3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CrossDatasetEvaluator 自动发现 results/*/best_model.pt，构建 N×N 交叉矩阵。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17536" y="3179673"/>
            <a:ext cx="77724" cy="7772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73568" y="3090550"/>
            <a:ext cx="3822192" cy="55766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3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行 = 训练集、列 = 测试集；对角线为域内，非对角线为跨域迁移。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17536" y="3911071"/>
            <a:ext cx="77724" cy="7772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73568" y="3821948"/>
            <a:ext cx="3822192" cy="55766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3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设计规划为 4×4：CFAD / ADD2023 / ASVspoof2019LA / VoiceWukong 两两交叉。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17536" y="4642469"/>
            <a:ext cx="77724" cy="7772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973568" y="4553346"/>
            <a:ext cx="3822192" cy="55766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3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同时输出退化分析（域内→跨域的 ΔEER 与退化倍数），量化泛化损失。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17536" y="5373867"/>
            <a:ext cx="77724" cy="7772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973568" y="5284744"/>
            <a:ext cx="3822192" cy="55766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3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本次冒烟以合成 Dataset A/B 构成 2×2 子矩阵，验证矩阵流水线正确性。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6400800"/>
            <a:ext cx="11228832" cy="18288"/>
          </a:xfrm>
          <a:prstGeom prst="rect">
            <a:avLst/>
          </a:prstGeom>
          <a:solidFill>
            <a:srgbClr val="C9C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66928" y="6437376"/>
            <a:ext cx="8778240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子课题三 · 未知攻击与跨数据集泛化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6437376"/>
            <a:ext cx="1737360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26 / 47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1417320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0424160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07A2F"/>
                </a:solidFill>
                <a:latin typeface="PingFang SC"/>
                <a:ea typeface="PingFang SC"/>
                <a:cs typeface="PingFang SC"/>
              </a:rPr>
              <a:t>EVALUATION ·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03504"/>
            <a:ext cx="10881360" cy="6766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评估指标体系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35024"/>
            <a:ext cx="1417320" cy="5486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85800" y="1700784"/>
            <a:ext cx="3520440" cy="2194560"/>
          </a:xfrm>
          <a:prstGeom prst="roundRect">
            <a:avLst>
              <a:gd name="adj" fmla="val 6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85800" y="1700784"/>
            <a:ext cx="3520440" cy="530352"/>
          </a:xfrm>
          <a:prstGeom prst="roundRect">
            <a:avLst>
              <a:gd name="adj" fmla="val 6000"/>
            </a:avLst>
          </a:prstGeom>
          <a:solidFill>
            <a:srgbClr val="1B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1975104"/>
            <a:ext cx="3520440" cy="256032"/>
          </a:xfrm>
          <a:prstGeom prst="rect">
            <a:avLst/>
          </a:prstGeom>
          <a:solidFill>
            <a:srgbClr val="1B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5800" y="1700784"/>
            <a:ext cx="100584" cy="2194560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41832" y="1700784"/>
            <a:ext cx="3108960" cy="53035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EER · 等错误率</a:t>
            </a:r>
          </a:p>
        </p:txBody>
      </p:sp>
      <p:sp>
        <p:nvSpPr>
          <p:cNvPr id="13" name="Diamond 12"/>
          <p:cNvSpPr/>
          <p:nvPr/>
        </p:nvSpPr>
        <p:spPr>
          <a:xfrm>
            <a:off x="973836" y="2427000"/>
            <a:ext cx="100584" cy="100584"/>
          </a:xfrm>
          <a:prstGeom prst="diamond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34440" y="2359152"/>
            <a:ext cx="2743200" cy="2820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假正率 = 假负率时的错误率。</a:t>
            </a:r>
          </a:p>
        </p:txBody>
      </p:sp>
      <p:sp>
        <p:nvSpPr>
          <p:cNvPr id="15" name="Diamond 14"/>
          <p:cNvSpPr/>
          <p:nvPr/>
        </p:nvSpPr>
        <p:spPr>
          <a:xfrm>
            <a:off x="973836" y="2837017"/>
            <a:ext cx="100584" cy="100584"/>
          </a:xfrm>
          <a:prstGeom prst="diamond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34440" y="2769168"/>
            <a:ext cx="2743200" cy="2820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语音反欺骗核心指标，越低越好。</a:t>
            </a:r>
          </a:p>
        </p:txBody>
      </p:sp>
      <p:sp>
        <p:nvSpPr>
          <p:cNvPr id="17" name="Diamond 16"/>
          <p:cNvSpPr/>
          <p:nvPr/>
        </p:nvSpPr>
        <p:spPr>
          <a:xfrm>
            <a:off x="973836" y="3247034"/>
            <a:ext cx="100584" cy="100584"/>
          </a:xfrm>
          <a:prstGeom prst="diamond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234440" y="3179185"/>
            <a:ext cx="2743200" cy="2820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阈值无关，便于跨系统比较。</a:t>
            </a:r>
          </a:p>
        </p:txBody>
      </p:sp>
      <p:sp>
        <p:nvSpPr>
          <p:cNvPr id="19" name="Diamond 18"/>
          <p:cNvSpPr/>
          <p:nvPr/>
        </p:nvSpPr>
        <p:spPr>
          <a:xfrm>
            <a:off x="973836" y="3657051"/>
            <a:ext cx="100584" cy="100584"/>
          </a:xfrm>
          <a:prstGeom prst="diamond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234440" y="3589202"/>
            <a:ext cx="2743200" cy="2820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全量 71k 实测：2.03%。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60" y="1700784"/>
            <a:ext cx="3520440" cy="2194560"/>
          </a:xfrm>
          <a:prstGeom prst="roundRect">
            <a:avLst>
              <a:gd name="adj" fmla="val 6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480560" y="1700784"/>
            <a:ext cx="3520440" cy="530352"/>
          </a:xfrm>
          <a:prstGeom prst="roundRect">
            <a:avLst>
              <a:gd name="adj" fmla="val 6000"/>
            </a:avLst>
          </a:prstGeom>
          <a:solidFill>
            <a:srgbClr val="1B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480560" y="1975104"/>
            <a:ext cx="3520440" cy="256032"/>
          </a:xfrm>
          <a:prstGeom prst="rect">
            <a:avLst/>
          </a:prstGeom>
          <a:solidFill>
            <a:srgbClr val="1B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480560" y="1700784"/>
            <a:ext cx="100584" cy="2194560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736592" y="1700784"/>
            <a:ext cx="3108960" cy="53035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AUC · ROC 曲线下面积</a:t>
            </a:r>
          </a:p>
        </p:txBody>
      </p:sp>
      <p:sp>
        <p:nvSpPr>
          <p:cNvPr id="26" name="Diamond 25"/>
          <p:cNvSpPr/>
          <p:nvPr/>
        </p:nvSpPr>
        <p:spPr>
          <a:xfrm>
            <a:off x="4768596" y="2427000"/>
            <a:ext cx="100584" cy="100584"/>
          </a:xfrm>
          <a:prstGeom prst="diamond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29200" y="2359152"/>
            <a:ext cx="2743200" cy="2820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衡量整体排序判别能力。</a:t>
            </a:r>
          </a:p>
        </p:txBody>
      </p:sp>
      <p:sp>
        <p:nvSpPr>
          <p:cNvPr id="28" name="Diamond 27"/>
          <p:cNvSpPr/>
          <p:nvPr/>
        </p:nvSpPr>
        <p:spPr>
          <a:xfrm>
            <a:off x="4768596" y="2837017"/>
            <a:ext cx="100584" cy="100584"/>
          </a:xfrm>
          <a:prstGeom prst="diamond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29200" y="2769168"/>
            <a:ext cx="2743200" cy="2820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取值 0.5（随机）~ 1.0（完美）。</a:t>
            </a:r>
          </a:p>
        </p:txBody>
      </p:sp>
      <p:sp>
        <p:nvSpPr>
          <p:cNvPr id="30" name="Diamond 29"/>
          <p:cNvSpPr/>
          <p:nvPr/>
        </p:nvSpPr>
        <p:spPr>
          <a:xfrm>
            <a:off x="4768596" y="3247034"/>
            <a:ext cx="100584" cy="100584"/>
          </a:xfrm>
          <a:prstGeom prst="diamond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029200" y="3179185"/>
            <a:ext cx="2743200" cy="2820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对类别不平衡较稳健。</a:t>
            </a:r>
          </a:p>
        </p:txBody>
      </p:sp>
      <p:sp>
        <p:nvSpPr>
          <p:cNvPr id="32" name="Diamond 31"/>
          <p:cNvSpPr/>
          <p:nvPr/>
        </p:nvSpPr>
        <p:spPr>
          <a:xfrm>
            <a:off x="4768596" y="3657051"/>
            <a:ext cx="100584" cy="100584"/>
          </a:xfrm>
          <a:prstGeom prst="diamond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029200" y="3589202"/>
            <a:ext cx="2743200" cy="2820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全量 71k 实测：0.9890。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75320" y="1700784"/>
            <a:ext cx="3520440" cy="2194560"/>
          </a:xfrm>
          <a:prstGeom prst="roundRect">
            <a:avLst>
              <a:gd name="adj" fmla="val 6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8275320" y="1700784"/>
            <a:ext cx="3520440" cy="530352"/>
          </a:xfrm>
          <a:prstGeom prst="roundRect">
            <a:avLst>
              <a:gd name="adj" fmla="val 6000"/>
            </a:avLst>
          </a:prstGeom>
          <a:solidFill>
            <a:srgbClr val="1B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275320" y="1975104"/>
            <a:ext cx="3520440" cy="256032"/>
          </a:xfrm>
          <a:prstGeom prst="rect">
            <a:avLst/>
          </a:prstGeom>
          <a:solidFill>
            <a:srgbClr val="1B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275320" y="1700784"/>
            <a:ext cx="100584" cy="2194560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531352" y="1700784"/>
            <a:ext cx="3108960" cy="53035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Macro-F1</a:t>
            </a:r>
          </a:p>
        </p:txBody>
      </p:sp>
      <p:sp>
        <p:nvSpPr>
          <p:cNvPr id="39" name="Diamond 38"/>
          <p:cNvSpPr/>
          <p:nvPr/>
        </p:nvSpPr>
        <p:spPr>
          <a:xfrm>
            <a:off x="8563356" y="2427000"/>
            <a:ext cx="100584" cy="100584"/>
          </a:xfrm>
          <a:prstGeom prst="diamond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823960" y="2359152"/>
            <a:ext cx="2743200" cy="2820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各类 F1 的宏平均。</a:t>
            </a:r>
          </a:p>
        </p:txBody>
      </p:sp>
      <p:sp>
        <p:nvSpPr>
          <p:cNvPr id="41" name="Diamond 40"/>
          <p:cNvSpPr/>
          <p:nvPr/>
        </p:nvSpPr>
        <p:spPr>
          <a:xfrm>
            <a:off x="8563356" y="2837017"/>
            <a:ext cx="100584" cy="100584"/>
          </a:xfrm>
          <a:prstGeom prst="diamond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823960" y="2769168"/>
            <a:ext cx="2743200" cy="518281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bonafide / spoof 等权，抑制不平衡掩盖。</a:t>
            </a:r>
          </a:p>
        </p:txBody>
      </p:sp>
      <p:sp>
        <p:nvSpPr>
          <p:cNvPr id="43" name="Diamond 42"/>
          <p:cNvSpPr/>
          <p:nvPr/>
        </p:nvSpPr>
        <p:spPr>
          <a:xfrm>
            <a:off x="8563356" y="3483315"/>
            <a:ext cx="100584" cy="100584"/>
          </a:xfrm>
          <a:prstGeom prst="diamond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823960" y="3415466"/>
            <a:ext cx="2743200" cy="2820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与 Accuracy 互补。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85800" y="4133088"/>
            <a:ext cx="3520440" cy="2194560"/>
          </a:xfrm>
          <a:prstGeom prst="roundRect">
            <a:avLst>
              <a:gd name="adj" fmla="val 6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685800" y="4133088"/>
            <a:ext cx="3520440" cy="530352"/>
          </a:xfrm>
          <a:prstGeom prst="roundRect">
            <a:avLst>
              <a:gd name="adj" fmla="val 6000"/>
            </a:avLst>
          </a:prstGeom>
          <a:solidFill>
            <a:srgbClr val="1B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685800" y="4407408"/>
            <a:ext cx="3520440" cy="256032"/>
          </a:xfrm>
          <a:prstGeom prst="rect">
            <a:avLst/>
          </a:prstGeom>
          <a:solidFill>
            <a:srgbClr val="1B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685800" y="4133088"/>
            <a:ext cx="100584" cy="2194560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41832" y="4133088"/>
            <a:ext cx="3108960" cy="53035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min t-DCF</a:t>
            </a:r>
          </a:p>
        </p:txBody>
      </p:sp>
      <p:sp>
        <p:nvSpPr>
          <p:cNvPr id="50" name="Diamond 49"/>
          <p:cNvSpPr/>
          <p:nvPr/>
        </p:nvSpPr>
        <p:spPr>
          <a:xfrm>
            <a:off x="973836" y="4859304"/>
            <a:ext cx="100584" cy="100584"/>
          </a:xfrm>
          <a:prstGeom prst="diamond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234440" y="4791456"/>
            <a:ext cx="2743200" cy="2820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最小串联检测代价函数。</a:t>
            </a:r>
          </a:p>
        </p:txBody>
      </p:sp>
      <p:sp>
        <p:nvSpPr>
          <p:cNvPr id="52" name="Diamond 51"/>
          <p:cNvSpPr/>
          <p:nvPr/>
        </p:nvSpPr>
        <p:spPr>
          <a:xfrm>
            <a:off x="973836" y="5269321"/>
            <a:ext cx="100584" cy="100584"/>
          </a:xfrm>
          <a:prstGeom prst="diamond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234440" y="5201472"/>
            <a:ext cx="2743200" cy="2820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综合假正、假负与拒绝成本。</a:t>
            </a:r>
          </a:p>
        </p:txBody>
      </p:sp>
      <p:sp>
        <p:nvSpPr>
          <p:cNvPr id="54" name="Diamond 53"/>
          <p:cNvSpPr/>
          <p:nvPr/>
        </p:nvSpPr>
        <p:spPr>
          <a:xfrm>
            <a:off x="973836" y="5679338"/>
            <a:ext cx="100584" cy="100584"/>
          </a:xfrm>
          <a:prstGeom prst="diamond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234440" y="5611489"/>
            <a:ext cx="2743200" cy="2820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反欺骗标准化评测指标，越低越好。</a:t>
            </a:r>
          </a:p>
        </p:txBody>
      </p:sp>
      <p:sp>
        <p:nvSpPr>
          <p:cNvPr id="56" name="Diamond 55"/>
          <p:cNvSpPr/>
          <p:nvPr/>
        </p:nvSpPr>
        <p:spPr>
          <a:xfrm>
            <a:off x="973836" y="6089355"/>
            <a:ext cx="100584" cy="100584"/>
          </a:xfrm>
          <a:prstGeom prst="diamond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234440" y="6021506"/>
            <a:ext cx="2743200" cy="2820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全量 71k 实测：0.266。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480560" y="4133088"/>
            <a:ext cx="3520440" cy="2194560"/>
          </a:xfrm>
          <a:prstGeom prst="roundRect">
            <a:avLst>
              <a:gd name="adj" fmla="val 6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4480560" y="4133088"/>
            <a:ext cx="3520440" cy="530352"/>
          </a:xfrm>
          <a:prstGeom prst="roundRect">
            <a:avLst>
              <a:gd name="adj" fmla="val 6000"/>
            </a:avLst>
          </a:prstGeom>
          <a:solidFill>
            <a:srgbClr val="1B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4480560" y="4407408"/>
            <a:ext cx="3520440" cy="256032"/>
          </a:xfrm>
          <a:prstGeom prst="rect">
            <a:avLst/>
          </a:prstGeom>
          <a:solidFill>
            <a:srgbClr val="1B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4480560" y="4133088"/>
            <a:ext cx="100584" cy="2194560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736592" y="4133088"/>
            <a:ext cx="3108960" cy="53035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Accuracy · 准确率</a:t>
            </a:r>
          </a:p>
        </p:txBody>
      </p:sp>
      <p:sp>
        <p:nvSpPr>
          <p:cNvPr id="63" name="Diamond 62"/>
          <p:cNvSpPr/>
          <p:nvPr/>
        </p:nvSpPr>
        <p:spPr>
          <a:xfrm>
            <a:off x="4768596" y="4859304"/>
            <a:ext cx="100584" cy="100584"/>
          </a:xfrm>
          <a:prstGeom prst="diamond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029200" y="4791456"/>
            <a:ext cx="2743200" cy="2820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预测正确样本占比。</a:t>
            </a:r>
          </a:p>
        </p:txBody>
      </p:sp>
      <p:sp>
        <p:nvSpPr>
          <p:cNvPr id="65" name="Diamond 64"/>
          <p:cNvSpPr/>
          <p:nvPr/>
        </p:nvSpPr>
        <p:spPr>
          <a:xfrm>
            <a:off x="4768596" y="5269321"/>
            <a:ext cx="100584" cy="100584"/>
          </a:xfrm>
          <a:prstGeom prst="diamond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029200" y="5201472"/>
            <a:ext cx="2743200" cy="2820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类别极不平衡时需谨慎解读。</a:t>
            </a:r>
          </a:p>
        </p:txBody>
      </p:sp>
      <p:sp>
        <p:nvSpPr>
          <p:cNvPr id="67" name="Diamond 66"/>
          <p:cNvSpPr/>
          <p:nvPr/>
        </p:nvSpPr>
        <p:spPr>
          <a:xfrm>
            <a:off x="4768596" y="5679338"/>
            <a:ext cx="100584" cy="100584"/>
          </a:xfrm>
          <a:prstGeom prst="diamond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5029200" y="5611489"/>
            <a:ext cx="2743200" cy="2820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与 Macro-F1 联合报告。</a:t>
            </a:r>
          </a:p>
        </p:txBody>
      </p:sp>
      <p:sp>
        <p:nvSpPr>
          <p:cNvPr id="69" name="Diamond 68"/>
          <p:cNvSpPr/>
          <p:nvPr/>
        </p:nvSpPr>
        <p:spPr>
          <a:xfrm>
            <a:off x="4768596" y="6089355"/>
            <a:ext cx="100584" cy="100584"/>
          </a:xfrm>
          <a:prstGeom prst="diamond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5029200" y="6021506"/>
            <a:ext cx="2743200" cy="2820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全量 71k 实测：98.08%。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275320" y="4133088"/>
            <a:ext cx="3520440" cy="2194560"/>
          </a:xfrm>
          <a:prstGeom prst="roundRect">
            <a:avLst>
              <a:gd name="adj" fmla="val 6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ounded Rectangle 71"/>
          <p:cNvSpPr/>
          <p:nvPr/>
        </p:nvSpPr>
        <p:spPr>
          <a:xfrm>
            <a:off x="8275320" y="4133088"/>
            <a:ext cx="3520440" cy="530352"/>
          </a:xfrm>
          <a:prstGeom prst="roundRect">
            <a:avLst>
              <a:gd name="adj" fmla="val 6000"/>
            </a:avLst>
          </a:prstGeom>
          <a:solidFill>
            <a:srgbClr val="1B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8275320" y="4407408"/>
            <a:ext cx="3520440" cy="256032"/>
          </a:xfrm>
          <a:prstGeom prst="rect">
            <a:avLst/>
          </a:prstGeom>
          <a:solidFill>
            <a:srgbClr val="1B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8275320" y="4133088"/>
            <a:ext cx="100584" cy="2194560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8531352" y="4133088"/>
            <a:ext cx="3108960" cy="53035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校准 · ECE / Brier</a:t>
            </a:r>
          </a:p>
        </p:txBody>
      </p:sp>
      <p:sp>
        <p:nvSpPr>
          <p:cNvPr id="76" name="Diamond 75"/>
          <p:cNvSpPr/>
          <p:nvPr/>
        </p:nvSpPr>
        <p:spPr>
          <a:xfrm>
            <a:off x="8563356" y="4859304"/>
            <a:ext cx="100584" cy="100584"/>
          </a:xfrm>
          <a:prstGeom prst="diamond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8823960" y="4791456"/>
            <a:ext cx="2743200" cy="2820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ECE 衡量预测概率与真实频率偏差。</a:t>
            </a:r>
          </a:p>
        </p:txBody>
      </p:sp>
      <p:sp>
        <p:nvSpPr>
          <p:cNvPr id="78" name="Diamond 77"/>
          <p:cNvSpPr/>
          <p:nvPr/>
        </p:nvSpPr>
        <p:spPr>
          <a:xfrm>
            <a:off x="8563356" y="5269321"/>
            <a:ext cx="100584" cy="100584"/>
          </a:xfrm>
          <a:prstGeom prst="diamond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8823960" y="5201472"/>
            <a:ext cx="2743200" cy="2820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Brier 分数度量概率均方误差。</a:t>
            </a:r>
          </a:p>
        </p:txBody>
      </p:sp>
      <p:sp>
        <p:nvSpPr>
          <p:cNvPr id="80" name="Diamond 79"/>
          <p:cNvSpPr/>
          <p:nvPr/>
        </p:nvSpPr>
        <p:spPr>
          <a:xfrm>
            <a:off x="8563356" y="5679338"/>
            <a:ext cx="100584" cy="100584"/>
          </a:xfrm>
          <a:prstGeom prst="diamond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8823960" y="5611489"/>
            <a:ext cx="2743200" cy="2820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阈值决策可靠性的关键。</a:t>
            </a:r>
          </a:p>
        </p:txBody>
      </p:sp>
      <p:sp>
        <p:nvSpPr>
          <p:cNvPr id="82" name="Diamond 81"/>
          <p:cNvSpPr/>
          <p:nvPr/>
        </p:nvSpPr>
        <p:spPr>
          <a:xfrm>
            <a:off x="8563356" y="6089355"/>
            <a:ext cx="100584" cy="100584"/>
          </a:xfrm>
          <a:prstGeom prst="diamond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8823960" y="6021506"/>
            <a:ext cx="2743200" cy="518281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全量 71k：ECE 0.181 / Brier 0.167。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66928" y="6400800"/>
            <a:ext cx="11228832" cy="18288"/>
          </a:xfrm>
          <a:prstGeom prst="rect">
            <a:avLst/>
          </a:prstGeom>
          <a:solidFill>
            <a:srgbClr val="C9C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566928" y="6437376"/>
            <a:ext cx="8778240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子课题三 · 未知攻击与跨数据集泛化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058400" y="6437376"/>
            <a:ext cx="1737360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27 / 47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1417320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0424160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07A2F"/>
                </a:solidFill>
                <a:latin typeface="PingFang SC"/>
                <a:ea typeface="PingFang SC"/>
                <a:cs typeface="PingFang SC"/>
              </a:rPr>
              <a:t>EVALUATION ·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03504"/>
            <a:ext cx="10881360" cy="6766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偏差与捷径检测方案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35024"/>
            <a:ext cx="1417320" cy="5486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66928" y="1664208"/>
            <a:ext cx="6894576" cy="4526280"/>
          </a:xfrm>
          <a:prstGeom prst="roundRect">
            <a:avLst>
              <a:gd name="adj" fmla="val 6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eval_bias_check_2100.png"/>
          <p:cNvPicPr>
            <a:picLocks noChangeAspect="1"/>
          </p:cNvPicPr>
          <p:nvPr/>
        </p:nvPicPr>
        <p:blipFill>
          <a:blip r:embed="rId2"/>
          <a:srcRect t="11177"/>
          <a:stretch>
            <a:fillRect/>
          </a:stretch>
        </p:blipFill>
        <p:spPr>
          <a:xfrm>
            <a:off x="658368" y="2171815"/>
            <a:ext cx="6675120" cy="3007413"/>
          </a:xfrm>
          <a:prstGeom prst="roundRect">
            <a:avLst>
              <a:gd name="adj" fmla="val 0"/>
            </a:avLst>
          </a:prstGeom>
          <a:ln w="12700">
            <a:solidFill>
              <a:srgbClr val="C9CFDE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676656" y="5797296"/>
            <a:ext cx="667512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>
              <a:lnSpc>
                <a:spcPct val="108000"/>
              </a:lnSpc>
            </a:pPr>
            <a:r>
              <a:rPr sz="1200" b="0" i="1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图 9　BiasChecker 五项偏差检测工具链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99248" y="1719072"/>
            <a:ext cx="4096512" cy="402336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五项检测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99248" y="2157984"/>
            <a:ext cx="868680" cy="50292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717536" y="2448275"/>
            <a:ext cx="77724" cy="7772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73568" y="2359152"/>
            <a:ext cx="3822192" cy="55766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3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静音偏差：计算语音活动比(VAD)，检查真/伪音频是否存在系统性静音差异。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17536" y="3179673"/>
            <a:ext cx="77724" cy="7772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73568" y="3090550"/>
            <a:ext cx="3822192" cy="55766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3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说话人泄露：分析说话人 ID 在 train/test 的交集，防止靠身份走捷径。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17536" y="3911071"/>
            <a:ext cx="77724" cy="7772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73568" y="3821948"/>
            <a:ext cx="3822192" cy="55766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3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编码器伪影：频谱包络/高频能量分析，识别编码器留下的规律性痕迹。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17536" y="4642469"/>
            <a:ext cx="77724" cy="7772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973568" y="4553346"/>
            <a:ext cx="3822192" cy="55766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3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t-SNE 数据集指纹：对 SSL 特征降维，检查不同数据集是否异常聚类。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17536" y="5373867"/>
            <a:ext cx="77724" cy="7772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973568" y="5284744"/>
            <a:ext cx="3822192" cy="55766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3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Grad-CAM 归因：梯度加权类激活映射，核查模型关注频域是否合理。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6400800"/>
            <a:ext cx="11228832" cy="18288"/>
          </a:xfrm>
          <a:prstGeom prst="rect">
            <a:avLst/>
          </a:prstGeom>
          <a:solidFill>
            <a:srgbClr val="C9C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66928" y="6437376"/>
            <a:ext cx="8778240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子课题三 · 未知攻击与跨数据集泛化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6437376"/>
            <a:ext cx="1737360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28 / 47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1417320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0424160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07A2F"/>
                </a:solidFill>
                <a:latin typeface="PingFang SC"/>
                <a:ea typeface="PingFang SC"/>
                <a:cs typeface="PingFang SC"/>
              </a:rPr>
              <a:t>REAL RESULTS ·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03504"/>
            <a:ext cx="10881360" cy="6766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训练收敛与验证 EER 曲线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35024"/>
            <a:ext cx="1417320" cy="5486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66928" y="1664208"/>
            <a:ext cx="6903720" cy="4526280"/>
          </a:xfrm>
          <a:prstGeom prst="roundRect">
            <a:avLst>
              <a:gd name="adj" fmla="val 6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01_training_loss_21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2624735"/>
            <a:ext cx="3159252" cy="2072591"/>
          </a:xfrm>
          <a:prstGeom prst="roundRect">
            <a:avLst/>
          </a:prstGeom>
          <a:ln w="12700">
            <a:solidFill>
              <a:srgbClr val="C9CFDE"/>
            </a:solidFill>
          </a:ln>
        </p:spPr>
      </p:pic>
      <p:pic>
        <p:nvPicPr>
          <p:cNvPr id="13" name="Picture 12" descr="02_val_eer_curve_21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6532" y="2633644"/>
            <a:ext cx="3126903" cy="2029796"/>
          </a:xfrm>
          <a:prstGeom prst="roundRect">
            <a:avLst/>
          </a:prstGeom>
          <a:ln w="12700">
            <a:solidFill>
              <a:srgbClr val="C9CFDE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676656" y="5705856"/>
            <a:ext cx="3323844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0" i="1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图 10　训练损失曲线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6532" y="5705856"/>
            <a:ext cx="3323844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0" i="1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图 11　验证集 EER 曲线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54696" y="1719072"/>
            <a:ext cx="3941064" cy="402336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要点解读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54696" y="2157984"/>
            <a:ext cx="868680" cy="50292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872983" y="2443353"/>
            <a:ext cx="77724" cy="7772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9" name="TextBox 18"/>
          <p:cNvSpPr txBox="1"/>
          <p:nvPr/>
        </p:nvSpPr>
        <p:spPr>
          <a:xfrm>
            <a:off x="8129016" y="2359152"/>
            <a:ext cx="3666744" cy="537971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400" b="0" i="0" dirty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Dataset A </a:t>
            </a:r>
            <a:r>
              <a:rPr sz="1400" b="0" i="0" dirty="0" err="1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损失快速收敛：epoch</a:t>
            </a:r>
            <a:r>
              <a:rPr sz="1400" b="0" i="0" dirty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 1 </a:t>
            </a:r>
            <a:r>
              <a:rPr sz="1400" b="0" i="0" dirty="0" err="1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的</a:t>
            </a:r>
            <a:r>
              <a:rPr sz="1400" b="0" i="0" dirty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 0.795 → epoch 10 </a:t>
            </a:r>
            <a:r>
              <a:rPr sz="1400" b="0" i="0" dirty="0" err="1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的</a:t>
            </a:r>
            <a:r>
              <a:rPr sz="1400" b="0" i="0" dirty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 0.000267。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72983" y="3145917"/>
            <a:ext cx="77724" cy="7772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1" name="TextBox 20"/>
          <p:cNvSpPr txBox="1"/>
          <p:nvPr/>
        </p:nvSpPr>
        <p:spPr>
          <a:xfrm>
            <a:off x="8129016" y="3061716"/>
            <a:ext cx="3666744" cy="537971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4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Dataset B 收敛稍慢且有波动，epoch 10 损失为 0.206。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72983" y="3848481"/>
            <a:ext cx="77724" cy="7772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3" name="TextBox 22"/>
          <p:cNvSpPr txBox="1"/>
          <p:nvPr/>
        </p:nvSpPr>
        <p:spPr>
          <a:xfrm>
            <a:off x="8129016" y="3764280"/>
            <a:ext cx="3666744" cy="291845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4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A 在 epoch 3 即达 EER=0% 并保持稳定。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72983" y="4304919"/>
            <a:ext cx="77724" cy="7772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5" name="TextBox 24"/>
          <p:cNvSpPr txBox="1"/>
          <p:nvPr/>
        </p:nvSpPr>
        <p:spPr>
          <a:xfrm>
            <a:off x="8129016" y="4220718"/>
            <a:ext cx="3666744" cy="537971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4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B 在 epoch 5 达最优 EER=0%，随后小幅回弹至 6.7%，显示轻微过拟合。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72983" y="5007483"/>
            <a:ext cx="77724" cy="7772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7" name="TextBox 26"/>
          <p:cNvSpPr txBox="1"/>
          <p:nvPr/>
        </p:nvSpPr>
        <p:spPr>
          <a:xfrm>
            <a:off x="8129016" y="4923282"/>
            <a:ext cx="3666744" cy="537971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4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两域均在 10 epoch 内有效收敛，验证训练流水线正确。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6400800"/>
            <a:ext cx="11228832" cy="18288"/>
          </a:xfrm>
          <a:prstGeom prst="rect">
            <a:avLst/>
          </a:prstGeom>
          <a:solidFill>
            <a:srgbClr val="C9C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66928" y="6437376"/>
            <a:ext cx="8778240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子课题三 · 未知攻击与跨数据集泛化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6437376"/>
            <a:ext cx="1737360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30 / 47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1417320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0424160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07A2F"/>
                </a:solidFill>
                <a:latin typeface="PingFang SC"/>
                <a:ea typeface="PingFang SC"/>
                <a:cs typeface="PingFang SC"/>
              </a:rPr>
              <a:t>REAL RESULTS ·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03504"/>
            <a:ext cx="10881360" cy="6766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验证集多指标变化曲线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35024"/>
            <a:ext cx="1417320" cy="5486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66928" y="1627632"/>
            <a:ext cx="11228832" cy="2788920"/>
          </a:xfrm>
          <a:prstGeom prst="roundRect">
            <a:avLst>
              <a:gd name="adj" fmla="val 6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03_val_metrics_curves_21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0196" y="1719072"/>
            <a:ext cx="8942294" cy="2606040"/>
          </a:xfrm>
          <a:prstGeom prst="roundRect">
            <a:avLst/>
          </a:prstGeom>
          <a:ln w="12700">
            <a:solidFill>
              <a:srgbClr val="C9CFDE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566928" y="4453128"/>
            <a:ext cx="11228832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1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图 12　AUC / Accuracy / Macro-F1 随 epoch 变化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782312"/>
            <a:ext cx="11228832" cy="1545335"/>
          </a:xfrm>
          <a:prstGeom prst="roundRect">
            <a:avLst>
              <a:gd name="adj" fmla="val 6000"/>
            </a:avLst>
          </a:prstGeom>
          <a:solidFill>
            <a:srgbClr val="EC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66928" y="4782312"/>
            <a:ext cx="100584" cy="1545335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2" y="4855464"/>
            <a:ext cx="2011680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要点解读</a:t>
            </a:r>
          </a:p>
        </p:txBody>
      </p:sp>
      <p:sp>
        <p:nvSpPr>
          <p:cNvPr id="17" name="Diamond 16"/>
          <p:cNvSpPr/>
          <p:nvPr/>
        </p:nvSpPr>
        <p:spPr>
          <a:xfrm>
            <a:off x="854964" y="5312283"/>
            <a:ext cx="100584" cy="100584"/>
          </a:xfrm>
          <a:prstGeom prst="diamond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8" name="TextBox 17"/>
          <p:cNvSpPr txBox="1"/>
          <p:nvPr/>
        </p:nvSpPr>
        <p:spPr>
          <a:xfrm>
            <a:off x="1115568" y="5239512"/>
            <a:ext cx="5161788" cy="537971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400" b="0" i="0" dirty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A </a:t>
            </a:r>
            <a:r>
              <a:rPr sz="1400" b="0" i="0" dirty="0" err="1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域：AUC</a:t>
            </a:r>
            <a:r>
              <a:rPr sz="1400" b="0" i="0" dirty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/Accuracy/Macro-F1 </a:t>
            </a:r>
            <a:r>
              <a:rPr sz="1400" b="0" i="0" dirty="0" err="1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自</a:t>
            </a:r>
            <a:r>
              <a:rPr sz="1400" b="0" i="0" dirty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 epoch 3 </a:t>
            </a:r>
            <a:r>
              <a:rPr sz="1400" b="0" i="0" dirty="0" err="1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起稳定</a:t>
            </a:r>
            <a:r>
              <a:rPr sz="1400" b="0" i="0" dirty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 1.0/100%/1.000。</a:t>
            </a:r>
          </a:p>
        </p:txBody>
      </p:sp>
      <p:sp>
        <p:nvSpPr>
          <p:cNvPr id="19" name="Diamond 18"/>
          <p:cNvSpPr/>
          <p:nvPr/>
        </p:nvSpPr>
        <p:spPr>
          <a:xfrm>
            <a:off x="845819" y="5654421"/>
            <a:ext cx="100584" cy="100584"/>
          </a:xfrm>
          <a:prstGeom prst="diamond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0" name="TextBox 19"/>
          <p:cNvSpPr txBox="1"/>
          <p:nvPr/>
        </p:nvSpPr>
        <p:spPr>
          <a:xfrm>
            <a:off x="1124711" y="5581650"/>
            <a:ext cx="5761180" cy="537971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lang="en-US" altLang="zh-CN" sz="1400" dirty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B</a:t>
            </a:r>
            <a:r>
              <a:rPr lang="zh-CN" altLang="en-US" sz="1400" dirty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400" b="0" i="0" dirty="0" err="1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域：三指标随</a:t>
            </a:r>
            <a:r>
              <a:rPr sz="1400" b="0" i="0" dirty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 epoch </a:t>
            </a:r>
            <a:r>
              <a:rPr sz="1400" b="0" i="0" dirty="0" err="1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波动，最优达</a:t>
            </a:r>
            <a:r>
              <a:rPr sz="1400" b="0" i="0" dirty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 1.0，末轮 AUC≈0.956、Accuracy≈96.7%、F1≈0.967。</a:t>
            </a:r>
          </a:p>
        </p:txBody>
      </p:sp>
      <p:sp>
        <p:nvSpPr>
          <p:cNvPr id="21" name="Diamond 20"/>
          <p:cNvSpPr/>
          <p:nvPr/>
        </p:nvSpPr>
        <p:spPr>
          <a:xfrm>
            <a:off x="6885891" y="5312283"/>
            <a:ext cx="100584" cy="100584"/>
          </a:xfrm>
          <a:prstGeom prst="diamond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2" name="TextBox 21"/>
          <p:cNvSpPr txBox="1"/>
          <p:nvPr/>
        </p:nvSpPr>
        <p:spPr>
          <a:xfrm>
            <a:off x="7146494" y="5239512"/>
            <a:ext cx="4983480" cy="291845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4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指标同向变化，说明 EER/AUC/F1 计算一致、无异常。</a:t>
            </a:r>
          </a:p>
        </p:txBody>
      </p:sp>
      <p:sp>
        <p:nvSpPr>
          <p:cNvPr id="23" name="Diamond 22"/>
          <p:cNvSpPr/>
          <p:nvPr/>
        </p:nvSpPr>
        <p:spPr>
          <a:xfrm>
            <a:off x="6885891" y="5695569"/>
            <a:ext cx="100584" cy="100584"/>
          </a:xfrm>
          <a:prstGeom prst="diamond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4" name="TextBox 23"/>
          <p:cNvSpPr txBox="1"/>
          <p:nvPr/>
        </p:nvSpPr>
        <p:spPr>
          <a:xfrm>
            <a:off x="7146494" y="5622798"/>
            <a:ext cx="4983480" cy="291845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4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B 域波动提示小样本下轻微过拟合，与损失曲线相互印证。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6400800"/>
            <a:ext cx="11228832" cy="18288"/>
          </a:xfrm>
          <a:prstGeom prst="rect">
            <a:avLst/>
          </a:prstGeom>
          <a:solidFill>
            <a:srgbClr val="C9C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66928" y="6437376"/>
            <a:ext cx="8778240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子课题三 · 未知攻击与跨数据集泛化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6437376"/>
            <a:ext cx="1737360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31 / 47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1417320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0424160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07A2F"/>
                </a:solidFill>
                <a:latin typeface="PingFang SC"/>
                <a:ea typeface="PingFang SC"/>
                <a:cs typeface="PingFang SC"/>
              </a:rPr>
              <a:t>REAL RESULTS ·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03504"/>
            <a:ext cx="10881360" cy="6766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跨数据集 EER 热力图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35024"/>
            <a:ext cx="1417320" cy="5486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66928" y="1664208"/>
            <a:ext cx="6620256" cy="4526280"/>
          </a:xfrm>
          <a:prstGeom prst="roundRect">
            <a:avLst>
              <a:gd name="adj" fmla="val 6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04_heatmap_eer_21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0410" y="1773936"/>
            <a:ext cx="4593290" cy="3977639"/>
          </a:xfrm>
          <a:prstGeom prst="roundRect">
            <a:avLst/>
          </a:prstGeom>
          <a:ln w="12700">
            <a:solidFill>
              <a:srgbClr val="C9CFDE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676656" y="5797296"/>
            <a:ext cx="640080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>
              <a:lnSpc>
                <a:spcPct val="108000"/>
              </a:lnSpc>
            </a:pPr>
            <a:r>
              <a:rPr sz="1200" b="0" i="1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图 13　2×2 跨数据集 EER 热力图（合成 A/B）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24928" y="1719072"/>
            <a:ext cx="4370831" cy="402336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真实数值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24928" y="2157984"/>
            <a:ext cx="868680" cy="50292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443216" y="2448275"/>
            <a:ext cx="77724" cy="7772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99248" y="2359152"/>
            <a:ext cx="4096511" cy="301691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3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A→A（域内）：EER = 0.0%，近乎完美。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43216" y="2923702"/>
            <a:ext cx="77724" cy="7772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699248" y="2834579"/>
            <a:ext cx="4096511" cy="301691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3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B→B（域内）：EER = 6.7%。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43216" y="3399129"/>
            <a:ext cx="77724" cy="7772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699248" y="3310006"/>
            <a:ext cx="4096511" cy="301691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3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A→B（跨域）：EER = 26.7%，显著退化。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43216" y="3874556"/>
            <a:ext cx="77724" cy="7772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699248" y="3785433"/>
            <a:ext cx="4096511" cy="301691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3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B→A（跨域）：EER = 33.3%，退化最严重。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43216" y="4349983"/>
            <a:ext cx="77724" cy="7772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699248" y="4260860"/>
            <a:ext cx="4096511" cy="55766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3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对角线明显优于非对角线，直观复现「域内强、跨域弱」的迁移退化模式。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6400800"/>
            <a:ext cx="11228832" cy="18288"/>
          </a:xfrm>
          <a:prstGeom prst="rect">
            <a:avLst/>
          </a:prstGeom>
          <a:solidFill>
            <a:srgbClr val="C9C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66928" y="6437376"/>
            <a:ext cx="8778240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子课题三 · 未知攻击与跨数据集泛化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6437376"/>
            <a:ext cx="1737360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32 / 47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1417320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0424160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07A2F"/>
                </a:solidFill>
                <a:latin typeface="PingFang SC"/>
                <a:ea typeface="PingFang SC"/>
                <a:cs typeface="PingFang SC"/>
              </a:rPr>
              <a:t>REAL RESULTS ·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03504"/>
            <a:ext cx="10881360" cy="6766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AUC 与 min t-DCF 热力图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35024"/>
            <a:ext cx="1417320" cy="5486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66928" y="1664208"/>
            <a:ext cx="7120498" cy="4526280"/>
          </a:xfrm>
          <a:prstGeom prst="roundRect">
            <a:avLst>
              <a:gd name="adj" fmla="val 6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05_heatmap_auc_21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2306952"/>
            <a:ext cx="3323844" cy="2811022"/>
          </a:xfrm>
          <a:prstGeom prst="roundRect">
            <a:avLst/>
          </a:prstGeom>
          <a:ln w="12700">
            <a:solidFill>
              <a:srgbClr val="C9CFDE"/>
            </a:solidFill>
          </a:ln>
        </p:spPr>
      </p:pic>
      <p:pic>
        <p:nvPicPr>
          <p:cNvPr id="13" name="Picture 12" descr="09_heatmap_tdcf_21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7086" y="2287408"/>
            <a:ext cx="3323844" cy="2850109"/>
          </a:xfrm>
          <a:prstGeom prst="roundRect">
            <a:avLst/>
          </a:prstGeom>
          <a:ln w="12700">
            <a:solidFill>
              <a:srgbClr val="C9CFDE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676656" y="5705856"/>
            <a:ext cx="3323844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0" i="1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图 14　AUC 热力图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6532" y="5705856"/>
            <a:ext cx="3323844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0" i="1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图 15　min t-DCF 热力图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0252" y="1830584"/>
            <a:ext cx="497567" cy="402336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1500" b="1" i="0" dirty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分析</a:t>
            </a:r>
            <a:endParaRPr sz="1500" b="1" i="0" dirty="0">
              <a:solidFill>
                <a:srgbClr val="1B244E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854696" y="2157984"/>
            <a:ext cx="868680" cy="50292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872983" y="2443353"/>
            <a:ext cx="77724" cy="7772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29016" y="2359152"/>
            <a:ext cx="3666744" cy="537971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25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AUC：A→A=1.000、B→B=0.996（域内近满分）；A→B=0.796、B→A=0.822（跨域下降）。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72983" y="3145917"/>
            <a:ext cx="77724" cy="7772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29016" y="3061716"/>
            <a:ext cx="3666744" cy="537971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25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min t-DCF：A→A=0.000、B→B=0.067（域内低）；A→B=0.733、B→A=0.467（跨域高）。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72983" y="3848481"/>
            <a:ext cx="77724" cy="7772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29016" y="3764280"/>
            <a:ext cx="3666744" cy="537971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25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两指标与 EER 趋势一致，交叉印证跨域退化真实存在。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72983" y="4551045"/>
            <a:ext cx="77724" cy="7772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129016" y="4466844"/>
            <a:ext cx="3666744" cy="537971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25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t-DCF 上升说明跨域时综合检测代价（漏检+误检）显著增大。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6400800"/>
            <a:ext cx="11228832" cy="18288"/>
          </a:xfrm>
          <a:prstGeom prst="rect">
            <a:avLst/>
          </a:prstGeom>
          <a:solidFill>
            <a:srgbClr val="C9C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66928" y="6437376"/>
            <a:ext cx="8778240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子课题三 · 未知攻击与跨数据集泛化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6437376"/>
            <a:ext cx="1737360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33 / 47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1417320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0424160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07A2F"/>
                </a:solidFill>
                <a:latin typeface="PingFang SC"/>
                <a:ea typeface="PingFang SC"/>
                <a:cs typeface="PingFang SC"/>
              </a:rPr>
              <a:t>REAL RESULTS ·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03504"/>
            <a:ext cx="10881360" cy="6766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域内 vs 跨域退化分析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35024"/>
            <a:ext cx="1417320" cy="5486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66928" y="1664208"/>
            <a:ext cx="6903720" cy="4526280"/>
          </a:xfrm>
          <a:prstGeom prst="roundRect">
            <a:avLst>
              <a:gd name="adj" fmla="val 6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06_indomain_vs_cross_eer_21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2548892"/>
            <a:ext cx="3323844" cy="2290189"/>
          </a:xfrm>
          <a:prstGeom prst="roundRect">
            <a:avLst/>
          </a:prstGeom>
          <a:ln w="12700">
            <a:solidFill>
              <a:srgbClr val="C9CFDE"/>
            </a:solidFill>
          </a:ln>
        </p:spPr>
      </p:pic>
      <p:pic>
        <p:nvPicPr>
          <p:cNvPr id="13" name="Picture 12" descr="07_degradation_analysis_21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00" y="2899791"/>
            <a:ext cx="3323844" cy="1437539"/>
          </a:xfrm>
          <a:prstGeom prst="roundRect">
            <a:avLst/>
          </a:prstGeom>
          <a:ln w="12700">
            <a:solidFill>
              <a:srgbClr val="C9CFDE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676656" y="5705856"/>
            <a:ext cx="3323844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0" i="1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图 16　域内 vs 跨域 EER 对比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6532" y="5705856"/>
            <a:ext cx="3323844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0" i="1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图 17　退化幅度分析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3525" y="1865376"/>
            <a:ext cx="531021" cy="402336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1500" b="1" i="0" dirty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分析</a:t>
            </a:r>
            <a:endParaRPr sz="1500" b="1" i="0" dirty="0">
              <a:solidFill>
                <a:srgbClr val="1B244E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854696" y="2157984"/>
            <a:ext cx="868680" cy="50292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872983" y="2443353"/>
            <a:ext cx="77724" cy="7772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9" name="TextBox 18"/>
          <p:cNvSpPr txBox="1"/>
          <p:nvPr/>
        </p:nvSpPr>
        <p:spPr>
          <a:xfrm>
            <a:off x="8129016" y="2359152"/>
            <a:ext cx="3666744" cy="291845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4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域内 EER：0.0% ~ 6.7%（近乎完美）。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72983" y="2899791"/>
            <a:ext cx="77724" cy="7772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1" name="TextBox 20"/>
          <p:cNvSpPr txBox="1"/>
          <p:nvPr/>
        </p:nvSpPr>
        <p:spPr>
          <a:xfrm>
            <a:off x="8129016" y="2815590"/>
            <a:ext cx="3666744" cy="291845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4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跨域 EER：26.7% ~ 33.3%（严重退化）。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72983" y="3356229"/>
            <a:ext cx="77724" cy="7772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3" name="TextBox 22"/>
          <p:cNvSpPr txBox="1"/>
          <p:nvPr/>
        </p:nvSpPr>
        <p:spPr>
          <a:xfrm>
            <a:off x="8129016" y="3272028"/>
            <a:ext cx="3666744" cy="537971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4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A→A vs A→B：EER 0.0% → 26.7%，ΔEER = +26.7 pp。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72983" y="4058793"/>
            <a:ext cx="77724" cy="7772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5" name="TextBox 24"/>
          <p:cNvSpPr txBox="1"/>
          <p:nvPr/>
        </p:nvSpPr>
        <p:spPr>
          <a:xfrm>
            <a:off x="8129016" y="3974592"/>
            <a:ext cx="3666744" cy="537971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4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B→B vs B→A：EER 6.7% → 33.3%，ΔEER = +26.7 pp，退化约 5.0×。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72983" y="4761357"/>
            <a:ext cx="77724" cy="7772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7" name="TextBox 26"/>
          <p:cNvSpPr txBox="1"/>
          <p:nvPr/>
        </p:nvSpPr>
        <p:spPr>
          <a:xfrm>
            <a:off x="8129016" y="4677156"/>
            <a:ext cx="3666744" cy="537971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4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退化模式提示捷径学习风险：模型可能依赖数据集特有录音/编码特征。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6400800"/>
            <a:ext cx="11228832" cy="18288"/>
          </a:xfrm>
          <a:prstGeom prst="rect">
            <a:avLst/>
          </a:prstGeom>
          <a:solidFill>
            <a:srgbClr val="C9C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66928" y="6437376"/>
            <a:ext cx="8778240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子课题三 · 未知攻击与跨数据集泛化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6437376"/>
            <a:ext cx="1737360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34 / 47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1417320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0424160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07A2F"/>
                </a:solidFill>
                <a:latin typeface="PingFang SC"/>
                <a:ea typeface="PingFang SC"/>
                <a:cs typeface="PingFang SC"/>
              </a:rPr>
              <a:t>REAL RESULTS ·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03504"/>
            <a:ext cx="10881360" cy="6766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多指标综合对比与雷达图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35024"/>
            <a:ext cx="1417320" cy="5486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66927" y="1664208"/>
            <a:ext cx="7109459" cy="4526280"/>
          </a:xfrm>
          <a:prstGeom prst="roundRect">
            <a:avLst>
              <a:gd name="adj" fmla="val 6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08_multi_metric_comparison_21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2707976"/>
            <a:ext cx="3323844" cy="2008974"/>
          </a:xfrm>
          <a:prstGeom prst="roundRect">
            <a:avLst>
              <a:gd name="adj" fmla="val 0"/>
            </a:avLst>
          </a:prstGeom>
          <a:ln w="12700">
            <a:solidFill>
              <a:srgbClr val="C9CFDE"/>
            </a:solidFill>
          </a:ln>
        </p:spPr>
      </p:pic>
      <p:pic>
        <p:nvPicPr>
          <p:cNvPr id="13" name="Picture 12" descr="11_radar_comparison_21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0228" y="2087917"/>
            <a:ext cx="3323844" cy="3191535"/>
          </a:xfrm>
          <a:prstGeom prst="roundRect">
            <a:avLst>
              <a:gd name="adj" fmla="val 0"/>
            </a:avLst>
          </a:prstGeom>
          <a:ln w="12700">
            <a:solidFill>
              <a:srgbClr val="C9CFDE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676656" y="5705856"/>
            <a:ext cx="3323844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0" i="1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图 18　多指标综合对比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6532" y="5705856"/>
            <a:ext cx="3323844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0" i="1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图 19　四方向雷达对比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54696" y="1719072"/>
            <a:ext cx="3941064" cy="402336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要点解读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54696" y="2157984"/>
            <a:ext cx="868680" cy="50292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872983" y="2443353"/>
            <a:ext cx="77724" cy="7772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29016" y="2359152"/>
            <a:ext cx="3666744" cy="537971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25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Accuracy：域内 96.7%~100% → 跨域 73.3%~80.0%。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72983" y="3145917"/>
            <a:ext cx="77724" cy="7772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29016" y="3061716"/>
            <a:ext cx="3666744" cy="537971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25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Macro-F1：域内 0.967~1.000 → 跨域 0.732~0.799。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72983" y="3848481"/>
            <a:ext cx="77724" cy="7772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29016" y="3764280"/>
            <a:ext cx="3666744" cy="537971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25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雷达图显示 A→A 各指标全面外扩，跨域方向明显内缩。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72983" y="4551045"/>
            <a:ext cx="77724" cy="7772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129016" y="4466844"/>
            <a:ext cx="3666744" cy="537971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25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多指标一致退化，排除单一指标偶然性，佐证结论稳健。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6400800"/>
            <a:ext cx="11228832" cy="18288"/>
          </a:xfrm>
          <a:prstGeom prst="rect">
            <a:avLst/>
          </a:prstGeom>
          <a:solidFill>
            <a:srgbClr val="C9C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66928" y="6437376"/>
            <a:ext cx="8778240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子课题三 · 未知攻击与跨数据集泛化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6437376"/>
            <a:ext cx="1737360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35 / 47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1417320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0424160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07A2F"/>
                </a:solidFill>
                <a:latin typeface="PingFang SC"/>
                <a:ea typeface="PingFang SC"/>
                <a:cs typeface="PingFang SC"/>
              </a:rPr>
              <a:t>REAL RESULTS ·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03504"/>
            <a:ext cx="10881360" cy="6766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关键发现小结（真实 · 合成数据）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35024"/>
            <a:ext cx="1417320" cy="5486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052560" y="402336"/>
            <a:ext cx="2743200" cy="420624"/>
          </a:xfrm>
          <a:prstGeom prst="roundRect">
            <a:avLst>
              <a:gd name="adj" fmla="val 30000"/>
            </a:avLst>
          </a:prstGeom>
          <a:solidFill>
            <a:srgbClr val="DE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052560" y="402336"/>
            <a:ext cx="91440" cy="420624"/>
          </a:xfrm>
          <a:prstGeom prst="rect">
            <a:avLst/>
          </a:prstGeom>
          <a:solidFill>
            <a:srgbClr val="1F5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217152" y="402336"/>
            <a:ext cx="2505456" cy="4206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F5F8B"/>
                </a:solidFill>
                <a:latin typeface="PingFang SC"/>
                <a:ea typeface="PingFang SC"/>
                <a:cs typeface="PingFang SC"/>
              </a:rPr>
              <a:t>真实结果 · 系统端到端验证（合成数据）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737360"/>
            <a:ext cx="11109959" cy="512064"/>
          </a:xfrm>
          <a:prstGeom prst="rect">
            <a:avLst/>
          </a:prstGeom>
          <a:solidFill>
            <a:srgbClr val="1B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0664" y="1737360"/>
            <a:ext cx="1627631" cy="51206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方向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78024" y="1737360"/>
            <a:ext cx="1170431" cy="51206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类型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58183" y="1737360"/>
            <a:ext cx="1490472" cy="51206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EER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58383" y="1737360"/>
            <a:ext cx="1490472" cy="51206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AUC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58583" y="1737360"/>
            <a:ext cx="1627631" cy="51206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Accuracy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95944" y="1737360"/>
            <a:ext cx="1581912" cy="51206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Macro-F1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737360"/>
            <a:ext cx="1353312" cy="51206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min t-DCF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2249424"/>
            <a:ext cx="11109959" cy="658368"/>
          </a:xfrm>
          <a:prstGeom prst="rect">
            <a:avLst/>
          </a:prstGeom>
          <a:solidFill>
            <a:srgbClr val="F4F5F8"/>
          </a:solidFill>
          <a:ln w="9525">
            <a:solidFill>
              <a:srgbClr val="C9C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85800" y="2249424"/>
            <a:ext cx="82296" cy="658368"/>
          </a:xfrm>
          <a:prstGeom prst="rect">
            <a:avLst/>
          </a:prstGeom>
          <a:solidFill>
            <a:srgbClr val="1E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68096" y="2249424"/>
            <a:ext cx="1572768" cy="6583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2000"/>
              </a:lnSpc>
            </a:pPr>
            <a:r>
              <a:rPr sz="1300" b="1" i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A → 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05456" y="2249424"/>
            <a:ext cx="1115568" cy="6583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3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域内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85615" y="2249424"/>
            <a:ext cx="1435608" cy="6583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3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0.0%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85816" y="2249424"/>
            <a:ext cx="1435608" cy="6583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3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1.000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86016" y="2249424"/>
            <a:ext cx="1572768" cy="6583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3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100.0%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23376" y="2249424"/>
            <a:ext cx="1527048" cy="6583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3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1.000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15015" y="2249424"/>
            <a:ext cx="1298448" cy="6583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3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0.000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2907791"/>
            <a:ext cx="11109959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9C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85800" y="2907791"/>
            <a:ext cx="82296" cy="658368"/>
          </a:xfrm>
          <a:prstGeom prst="rect">
            <a:avLst/>
          </a:prstGeom>
          <a:solidFill>
            <a:srgbClr val="B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68096" y="2907791"/>
            <a:ext cx="1572768" cy="6583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2000"/>
              </a:lnSpc>
            </a:pPr>
            <a:r>
              <a:rPr sz="1300" b="1" i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A → 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05456" y="2907791"/>
            <a:ext cx="1115568" cy="6583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3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跨域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85615" y="2907791"/>
            <a:ext cx="1435608" cy="6583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3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26.7%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85816" y="2907791"/>
            <a:ext cx="1435608" cy="6583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3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0.796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86016" y="2907791"/>
            <a:ext cx="1572768" cy="6583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3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80.0%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23376" y="2907791"/>
            <a:ext cx="1527048" cy="6583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3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0.799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15015" y="2907791"/>
            <a:ext cx="1298448" cy="6583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3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0.733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" y="3566159"/>
            <a:ext cx="11109959" cy="658368"/>
          </a:xfrm>
          <a:prstGeom prst="rect">
            <a:avLst/>
          </a:prstGeom>
          <a:solidFill>
            <a:srgbClr val="F4F5F8"/>
          </a:solidFill>
          <a:ln w="9525">
            <a:solidFill>
              <a:srgbClr val="C9C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85800" y="3566159"/>
            <a:ext cx="82296" cy="658368"/>
          </a:xfrm>
          <a:prstGeom prst="rect">
            <a:avLst/>
          </a:prstGeom>
          <a:solidFill>
            <a:srgbClr val="B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68096" y="3566159"/>
            <a:ext cx="1572768" cy="6583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2000"/>
              </a:lnSpc>
            </a:pPr>
            <a:r>
              <a:rPr sz="1300" b="1" i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B → 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05456" y="3566159"/>
            <a:ext cx="1115568" cy="6583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3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跨域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85615" y="3566159"/>
            <a:ext cx="1435608" cy="6583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3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33.3%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85816" y="3566159"/>
            <a:ext cx="1435608" cy="6583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3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0.822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86016" y="3566159"/>
            <a:ext cx="1572768" cy="6583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3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73.3%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23376" y="3566159"/>
            <a:ext cx="1527048" cy="6583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3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0.732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415015" y="3566159"/>
            <a:ext cx="1298448" cy="6583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3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0.467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85800" y="4224527"/>
            <a:ext cx="11109959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9C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685800" y="4224527"/>
            <a:ext cx="82296" cy="658368"/>
          </a:xfrm>
          <a:prstGeom prst="rect">
            <a:avLst/>
          </a:prstGeom>
          <a:solidFill>
            <a:srgbClr val="1E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68096" y="4224527"/>
            <a:ext cx="1572768" cy="6583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2000"/>
              </a:lnSpc>
            </a:pPr>
            <a:r>
              <a:rPr sz="1300" b="1" i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B → 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505456" y="4224527"/>
            <a:ext cx="1115568" cy="6583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3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域内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785615" y="4224527"/>
            <a:ext cx="1435608" cy="6583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3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6.7%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85816" y="4224527"/>
            <a:ext cx="1435608" cy="6583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3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0.996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86016" y="4224527"/>
            <a:ext cx="1572768" cy="6583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3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96.7%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723376" y="4224527"/>
            <a:ext cx="1527048" cy="6583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3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0.967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415015" y="4224527"/>
            <a:ext cx="1298448" cy="6583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3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0.067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85800" y="5065775"/>
            <a:ext cx="11109959" cy="822960"/>
          </a:xfrm>
          <a:prstGeom prst="roundRect">
            <a:avLst>
              <a:gd name="adj" fmla="val 6000"/>
            </a:avLst>
          </a:prstGeom>
          <a:solidFill>
            <a:srgbClr val="F8E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685800" y="5065775"/>
            <a:ext cx="91440" cy="822960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41832" y="5065775"/>
            <a:ext cx="10652759" cy="8229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B55C18"/>
                </a:solidFill>
                <a:latin typeface="PingFang SC"/>
                <a:ea typeface="PingFang SC"/>
                <a:cs typeface="PingFang SC"/>
              </a:rPr>
              <a:t>结论：全链路（加载→训练→域内/跨域评估→指标计算→序列化）验证通过；域迁移退化现象成功复现，为后续泛化方法提供量化基线。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66928" y="6400800"/>
            <a:ext cx="11228832" cy="18288"/>
          </a:xfrm>
          <a:prstGeom prst="rect">
            <a:avLst/>
          </a:prstGeom>
          <a:solidFill>
            <a:srgbClr val="C9C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566928" y="6437376"/>
            <a:ext cx="8778240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子课题三 · 未知攻击与跨数据集泛化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058400" y="6437376"/>
            <a:ext cx="1737360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36 / 47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1417320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0424160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07A2F"/>
                </a:solidFill>
                <a:latin typeface="PingFang SC"/>
                <a:ea typeface="PingFang SC"/>
                <a:cs typeface="PingFang SC"/>
              </a:rPr>
              <a:t>REAL RESULTS ·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03504"/>
            <a:ext cx="10881360" cy="6766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ASVspoof 2019 LA · 全量 71k 实测总览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35024"/>
            <a:ext cx="1417320" cy="5486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830568" y="402336"/>
            <a:ext cx="4965192" cy="420624"/>
          </a:xfrm>
          <a:prstGeom prst="roundRect">
            <a:avLst>
              <a:gd name="adj" fmla="val 30000"/>
            </a:avLst>
          </a:prstGeom>
          <a:solidFill>
            <a:srgbClr val="DD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30568" y="402336"/>
            <a:ext cx="91440" cy="420624"/>
          </a:xfrm>
          <a:prstGeom prst="rect">
            <a:avLst/>
          </a:prstGeom>
          <a:solidFill>
            <a:srgbClr val="1E6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95159" y="402336"/>
            <a:ext cx="4727448" cy="4206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6B45"/>
                </a:solidFill>
                <a:latin typeface="PingFang SC"/>
                <a:ea typeface="PingFang SC"/>
                <a:cs typeface="PingFang SC"/>
              </a:rPr>
              <a:t>真实结果 · ASVspoof 2019 LA 全量 71k（A10 实测）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627632"/>
            <a:ext cx="2624327" cy="1170432"/>
          </a:xfrm>
          <a:prstGeom prst="roundRect">
            <a:avLst>
              <a:gd name="adj" fmla="val 6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58368" y="1627632"/>
            <a:ext cx="2624327" cy="82296"/>
          </a:xfrm>
          <a:prstGeom prst="rect">
            <a:avLst/>
          </a:prstGeom>
          <a:solidFill>
            <a:srgbClr val="1E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19" y="1773936"/>
            <a:ext cx="2478023" cy="60350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1E7A4C"/>
                </a:solidFill>
                <a:latin typeface="PingFang SC"/>
                <a:ea typeface="PingFang SC"/>
                <a:cs typeface="PingFang SC"/>
              </a:rPr>
              <a:t>2.03%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19" y="2395728"/>
            <a:ext cx="2478023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EER 等错误率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02151" y="1627632"/>
            <a:ext cx="2624327" cy="1170432"/>
          </a:xfrm>
          <a:prstGeom prst="roundRect">
            <a:avLst>
              <a:gd name="adj" fmla="val 6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502151" y="1627632"/>
            <a:ext cx="2624327" cy="82296"/>
          </a:xfrm>
          <a:prstGeom prst="rect">
            <a:avLst/>
          </a:prstGeom>
          <a:solidFill>
            <a:srgbClr val="1E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575303" y="1773936"/>
            <a:ext cx="2478023" cy="60350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1E7A4C"/>
                </a:solidFill>
                <a:latin typeface="PingFang SC"/>
                <a:ea typeface="PingFang SC"/>
                <a:cs typeface="PingFang SC"/>
              </a:rPr>
              <a:t>0.9890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75303" y="2395728"/>
            <a:ext cx="2478023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AUC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5" y="1627632"/>
            <a:ext cx="2624327" cy="1170432"/>
          </a:xfrm>
          <a:prstGeom prst="roundRect">
            <a:avLst>
              <a:gd name="adj" fmla="val 6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345935" y="1627632"/>
            <a:ext cx="2624327" cy="82296"/>
          </a:xfrm>
          <a:prstGeom prst="rect">
            <a:avLst/>
          </a:prstGeom>
          <a:solidFill>
            <a:srgbClr val="1B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19087" y="1773936"/>
            <a:ext cx="2478023" cy="60350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98.08%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7" y="2395728"/>
            <a:ext cx="2478023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Accuracy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89719" y="1627632"/>
            <a:ext cx="2624327" cy="1170432"/>
          </a:xfrm>
          <a:prstGeom prst="roundRect">
            <a:avLst>
              <a:gd name="adj" fmla="val 6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89719" y="1627632"/>
            <a:ext cx="2624327" cy="82296"/>
          </a:xfrm>
          <a:prstGeom prst="rect">
            <a:avLst/>
          </a:prstGeom>
          <a:solidFill>
            <a:srgbClr val="1B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62872" y="1773936"/>
            <a:ext cx="2478023" cy="60350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0.952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62872" y="2395728"/>
            <a:ext cx="2478023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Macro-F1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2980944"/>
            <a:ext cx="2624327" cy="1170432"/>
          </a:xfrm>
          <a:prstGeom prst="roundRect">
            <a:avLst>
              <a:gd name="adj" fmla="val 6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58368" y="2980944"/>
            <a:ext cx="2624327" cy="82296"/>
          </a:xfrm>
          <a:prstGeom prst="rect">
            <a:avLst/>
          </a:prstGeom>
          <a:solidFill>
            <a:srgbClr val="B55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31519" y="3127248"/>
            <a:ext cx="2478023" cy="60350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B55C18"/>
                </a:solidFill>
                <a:latin typeface="PingFang SC"/>
                <a:ea typeface="PingFang SC"/>
                <a:cs typeface="PingFang SC"/>
              </a:rPr>
              <a:t>0.266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19" y="3749039"/>
            <a:ext cx="2478023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min t-DCF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502151" y="2980944"/>
            <a:ext cx="2624327" cy="1170432"/>
          </a:xfrm>
          <a:prstGeom prst="roundRect">
            <a:avLst>
              <a:gd name="adj" fmla="val 6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502151" y="2980944"/>
            <a:ext cx="2624327" cy="82296"/>
          </a:xfrm>
          <a:prstGeom prst="rect">
            <a:avLst/>
          </a:prstGeom>
          <a:solidFill>
            <a:srgbClr val="B55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575303" y="3127248"/>
            <a:ext cx="2478023" cy="60350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B55C18"/>
                </a:solidFill>
                <a:latin typeface="PingFang SC"/>
                <a:ea typeface="PingFang SC"/>
                <a:cs typeface="PingFang SC"/>
              </a:rPr>
              <a:t>0.181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75303" y="3749039"/>
            <a:ext cx="2478023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ECE 校准误差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45935" y="2980944"/>
            <a:ext cx="2624327" cy="1170432"/>
          </a:xfrm>
          <a:prstGeom prst="roundRect">
            <a:avLst>
              <a:gd name="adj" fmla="val 6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345935" y="2980944"/>
            <a:ext cx="2624327" cy="82296"/>
          </a:xfrm>
          <a:prstGeom prst="rect">
            <a:avLst/>
          </a:prstGeom>
          <a:solidFill>
            <a:srgbClr val="B55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19087" y="3127248"/>
            <a:ext cx="2478023" cy="60350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B55C18"/>
                </a:solidFill>
                <a:latin typeface="PingFang SC"/>
                <a:ea typeface="PingFang SC"/>
                <a:cs typeface="PingFang SC"/>
              </a:rPr>
              <a:t>0.167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19087" y="3749039"/>
            <a:ext cx="2478023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Brier 分数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89719" y="2980944"/>
            <a:ext cx="2624327" cy="1170432"/>
          </a:xfrm>
          <a:prstGeom prst="roundRect">
            <a:avLst>
              <a:gd name="adj" fmla="val 6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89719" y="2980944"/>
            <a:ext cx="2624327" cy="82296"/>
          </a:xfrm>
          <a:prstGeom prst="rect">
            <a:avLst/>
          </a:prstGeom>
          <a:solidFill>
            <a:srgbClr val="1F5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62872" y="3127248"/>
            <a:ext cx="2478023" cy="60350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1F5F8B"/>
                </a:solidFill>
                <a:latin typeface="PingFang SC"/>
                <a:ea typeface="PingFang SC"/>
                <a:cs typeface="PingFang SC"/>
              </a:rPr>
              <a:t>71,237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62872" y="3749039"/>
            <a:ext cx="2478023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eval 总样本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4389120"/>
            <a:ext cx="7315200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混淆矩阵 @ 决策阈值 θ（全量 71,237 条）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" y="4773168"/>
            <a:ext cx="2624327" cy="786384"/>
          </a:xfrm>
          <a:prstGeom prst="roundRect">
            <a:avLst>
              <a:gd name="adj" fmla="val 6000"/>
            </a:avLst>
          </a:prstGeom>
          <a:solidFill>
            <a:srgbClr val="EC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58368" y="4773168"/>
            <a:ext cx="91440" cy="786384"/>
          </a:xfrm>
          <a:prstGeom prst="rect">
            <a:avLst/>
          </a:prstGeom>
          <a:solidFill>
            <a:srgbClr val="1E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41247" y="4773168"/>
            <a:ext cx="1312163" cy="7863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1E7A4C"/>
                </a:solidFill>
                <a:latin typeface="PingFang SC"/>
                <a:ea typeface="PingFang SC"/>
                <a:cs typeface="PingFang SC"/>
              </a:rPr>
              <a:t>62,567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970531" y="4773168"/>
            <a:ext cx="1184148" cy="7863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TP 真→真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502151" y="4773168"/>
            <a:ext cx="2624327" cy="786384"/>
          </a:xfrm>
          <a:prstGeom prst="roundRect">
            <a:avLst>
              <a:gd name="adj" fmla="val 6000"/>
            </a:avLst>
          </a:prstGeom>
          <a:solidFill>
            <a:srgbClr val="EC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3502151" y="4773168"/>
            <a:ext cx="91440" cy="786384"/>
          </a:xfrm>
          <a:prstGeom prst="rect">
            <a:avLst/>
          </a:prstGeom>
          <a:solidFill>
            <a:srgbClr val="1E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685031" y="4773168"/>
            <a:ext cx="1312163" cy="7863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1E7A4C"/>
                </a:solidFill>
                <a:latin typeface="PingFang SC"/>
                <a:ea typeface="PingFang SC"/>
                <a:cs typeface="PingFang SC"/>
              </a:rPr>
              <a:t>7,303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814315" y="4773168"/>
            <a:ext cx="1184148" cy="7863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TN 伪→伪判对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345935" y="4773168"/>
            <a:ext cx="2624327" cy="786384"/>
          </a:xfrm>
          <a:prstGeom prst="roundRect">
            <a:avLst>
              <a:gd name="adj" fmla="val 6000"/>
            </a:avLst>
          </a:prstGeom>
          <a:solidFill>
            <a:srgbClr val="EC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6345935" y="4773168"/>
            <a:ext cx="91440" cy="786384"/>
          </a:xfrm>
          <a:prstGeom prst="rect">
            <a:avLst/>
          </a:prstGeom>
          <a:solidFill>
            <a:srgbClr val="B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528815" y="4773168"/>
            <a:ext cx="1312163" cy="7863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B02A2A"/>
                </a:solidFill>
                <a:latin typeface="PingFang SC"/>
                <a:ea typeface="PingFang SC"/>
                <a:cs typeface="PingFang SC"/>
              </a:rPr>
              <a:t>52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58099" y="4773168"/>
            <a:ext cx="1184148" cy="7863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FP 真判伪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189719" y="4773168"/>
            <a:ext cx="2624327" cy="786384"/>
          </a:xfrm>
          <a:prstGeom prst="roundRect">
            <a:avLst>
              <a:gd name="adj" fmla="val 6000"/>
            </a:avLst>
          </a:prstGeom>
          <a:solidFill>
            <a:srgbClr val="EC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9189719" y="4773168"/>
            <a:ext cx="91440" cy="786384"/>
          </a:xfrm>
          <a:prstGeom prst="rect">
            <a:avLst/>
          </a:prstGeom>
          <a:solidFill>
            <a:srgbClr val="B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372599" y="4773168"/>
            <a:ext cx="1312163" cy="7863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B02A2A"/>
                </a:solidFill>
                <a:latin typeface="PingFang SC"/>
                <a:ea typeface="PingFang SC"/>
                <a:cs typeface="PingFang SC"/>
              </a:rPr>
              <a:t>1,315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01884" y="4773168"/>
            <a:ext cx="1184148" cy="7863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FN 伪漏检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58368" y="5669279"/>
            <a:ext cx="11155680" cy="658368"/>
          </a:xfrm>
          <a:prstGeom prst="roundRect">
            <a:avLst>
              <a:gd name="adj" fmla="val 6000"/>
            </a:avLst>
          </a:prstGeom>
          <a:solidFill>
            <a:srgbClr val="F8E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658368" y="5669279"/>
            <a:ext cx="100584" cy="658368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14400" y="5669279"/>
            <a:ext cx="10698480" cy="6583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16000"/>
              </a:lnSpc>
            </a:pPr>
            <a:r>
              <a:rPr sz="1200" b="1" i="0" dirty="0" err="1">
                <a:solidFill>
                  <a:srgbClr val="B55C18"/>
                </a:solidFill>
                <a:latin typeface="PingFang SC"/>
                <a:ea typeface="PingFang SC"/>
                <a:cs typeface="PingFang SC"/>
              </a:rPr>
              <a:t>数据组成：bonafide</a:t>
            </a:r>
            <a:r>
              <a:rPr sz="1200" b="1" i="0" dirty="0">
                <a:solidFill>
                  <a:srgbClr val="B55C18"/>
                </a:solidFill>
                <a:latin typeface="PingFang SC"/>
                <a:ea typeface="PingFang SC"/>
                <a:cs typeface="PingFang SC"/>
              </a:rPr>
              <a:t> 7,355 + spoof 63,882（13 </a:t>
            </a:r>
            <a:r>
              <a:rPr sz="1200" b="1" i="0" dirty="0" err="1">
                <a:solidFill>
                  <a:srgbClr val="B55C18"/>
                </a:solidFill>
                <a:latin typeface="PingFang SC"/>
                <a:ea typeface="PingFang SC"/>
                <a:cs typeface="PingFang SC"/>
              </a:rPr>
              <a:t>种未知攻击各</a:t>
            </a:r>
            <a:r>
              <a:rPr sz="1200" b="1" i="0" dirty="0">
                <a:solidFill>
                  <a:srgbClr val="B55C18"/>
                </a:solidFill>
                <a:latin typeface="PingFang SC"/>
                <a:ea typeface="PingFang SC"/>
                <a:cs typeface="PingFang SC"/>
              </a:rPr>
              <a:t> 4,914）。</a:t>
            </a:r>
            <a:r>
              <a:rPr sz="1200" b="1" i="0" dirty="0" err="1">
                <a:solidFill>
                  <a:srgbClr val="B55C18"/>
                </a:solidFill>
                <a:latin typeface="PingFang SC"/>
                <a:ea typeface="PingFang SC"/>
                <a:cs typeface="PingFang SC"/>
              </a:rPr>
              <a:t>训练</a:t>
            </a:r>
            <a:r>
              <a:rPr sz="1200" b="1" i="0" dirty="0">
                <a:solidFill>
                  <a:srgbClr val="B55C18"/>
                </a:solidFill>
                <a:latin typeface="PingFang SC"/>
                <a:ea typeface="PingFang SC"/>
                <a:cs typeface="PingFang SC"/>
              </a:rPr>
              <a:t>/收敛（A10 </a:t>
            </a:r>
            <a:r>
              <a:rPr sz="1200" b="1" i="0" dirty="0" err="1">
                <a:solidFill>
                  <a:srgbClr val="B55C18"/>
                </a:solidFill>
                <a:latin typeface="PingFang SC"/>
                <a:ea typeface="PingFang SC"/>
                <a:cs typeface="PingFang SC"/>
              </a:rPr>
              <a:t>阶段实测</a:t>
            </a:r>
            <a:r>
              <a:rPr sz="1200" b="1" i="0" dirty="0">
                <a:solidFill>
                  <a:srgbClr val="B55C18"/>
                </a:solidFill>
                <a:latin typeface="PingFang SC"/>
                <a:ea typeface="PingFang SC"/>
                <a:cs typeface="PingFang SC"/>
              </a:rPr>
              <a:t>）：25,380 </a:t>
            </a:r>
            <a:r>
              <a:rPr sz="1200" b="1" i="0" dirty="0" err="1">
                <a:solidFill>
                  <a:srgbClr val="B55C18"/>
                </a:solidFill>
                <a:latin typeface="PingFang SC"/>
                <a:ea typeface="PingFang SC"/>
                <a:cs typeface="PingFang SC"/>
              </a:rPr>
              <a:t>条</a:t>
            </a:r>
            <a:r>
              <a:rPr sz="1200" b="1" i="0" dirty="0">
                <a:solidFill>
                  <a:srgbClr val="B55C18"/>
                </a:solidFill>
                <a:latin typeface="PingFang SC"/>
                <a:ea typeface="PingFang SC"/>
                <a:cs typeface="PingFang SC"/>
              </a:rPr>
              <a:t> · 8 epochs · A10 24GB · </a:t>
            </a:r>
            <a:r>
              <a:rPr sz="1200" b="1" i="0" dirty="0" err="1">
                <a:solidFill>
                  <a:srgbClr val="B55C18"/>
                </a:solidFill>
                <a:latin typeface="PingFang SC"/>
                <a:ea typeface="PingFang SC"/>
                <a:cs typeface="PingFang SC"/>
              </a:rPr>
              <a:t>约</a:t>
            </a:r>
            <a:r>
              <a:rPr sz="1200" b="1" i="0" dirty="0">
                <a:solidFill>
                  <a:srgbClr val="B55C18"/>
                </a:solidFill>
                <a:latin typeface="PingFang SC"/>
                <a:ea typeface="PingFang SC"/>
                <a:cs typeface="PingFang SC"/>
              </a:rPr>
              <a:t> 960s/epoch · loss 0.1571→0.0070 · dev EER 0.0091→0.0046（best，epoch 5/7/8）· </a:t>
            </a:r>
            <a:r>
              <a:rPr sz="1200" b="1" i="0" dirty="0" err="1">
                <a:solidFill>
                  <a:srgbClr val="B55C18"/>
                </a:solidFill>
                <a:latin typeface="PingFang SC"/>
                <a:ea typeface="PingFang SC"/>
                <a:cs typeface="PingFang SC"/>
              </a:rPr>
              <a:t>早停</a:t>
            </a:r>
            <a:r>
              <a:rPr sz="1200" b="1" i="0" dirty="0">
                <a:solidFill>
                  <a:srgbClr val="B55C18"/>
                </a:solidFill>
                <a:latin typeface="PingFang SC"/>
                <a:ea typeface="PingFang SC"/>
                <a:cs typeface="PingFang SC"/>
              </a:rPr>
              <a:t> patience=3 · </a:t>
            </a:r>
            <a:r>
              <a:rPr sz="1200" b="1" i="0" dirty="0" err="1">
                <a:solidFill>
                  <a:srgbClr val="B55C18"/>
                </a:solidFill>
                <a:latin typeface="PingFang SC"/>
                <a:ea typeface="PingFang SC"/>
                <a:cs typeface="PingFang SC"/>
              </a:rPr>
              <a:t>采用</a:t>
            </a:r>
            <a:r>
              <a:rPr sz="1200" b="1" i="0" dirty="0">
                <a:solidFill>
                  <a:srgbClr val="B55C18"/>
                </a:solidFill>
                <a:latin typeface="PingFang SC"/>
                <a:ea typeface="PingFang SC"/>
                <a:cs typeface="PingFang SC"/>
              </a:rPr>
              <a:t> checkpoint_epoch7_eer0.0046.pt；dev 0.46% / eval-5000 </a:t>
            </a:r>
            <a:r>
              <a:rPr sz="1200" b="1" i="0" dirty="0" err="1">
                <a:solidFill>
                  <a:srgbClr val="B55C18"/>
                </a:solidFill>
                <a:latin typeface="PingFang SC"/>
                <a:ea typeface="PingFang SC"/>
                <a:cs typeface="PingFang SC"/>
              </a:rPr>
              <a:t>子集</a:t>
            </a:r>
            <a:r>
              <a:rPr sz="1200" b="1" i="0" dirty="0">
                <a:solidFill>
                  <a:srgbClr val="B55C18"/>
                </a:solidFill>
                <a:latin typeface="PingFang SC"/>
                <a:ea typeface="PingFang SC"/>
                <a:cs typeface="PingFang SC"/>
              </a:rPr>
              <a:t> 1.89% → </a:t>
            </a:r>
            <a:r>
              <a:rPr sz="1200" b="1" i="0" dirty="0" err="1">
                <a:solidFill>
                  <a:srgbClr val="B55C18"/>
                </a:solidFill>
                <a:latin typeface="PingFang SC"/>
                <a:ea typeface="PingFang SC"/>
                <a:cs typeface="PingFang SC"/>
              </a:rPr>
              <a:t>全量</a:t>
            </a:r>
            <a:r>
              <a:rPr sz="1200" b="1" i="0" dirty="0">
                <a:solidFill>
                  <a:srgbClr val="B55C18"/>
                </a:solidFill>
                <a:latin typeface="PingFang SC"/>
                <a:ea typeface="PingFang SC"/>
                <a:cs typeface="PingFang SC"/>
              </a:rPr>
              <a:t> 71k 2.03%。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66928" y="6400800"/>
            <a:ext cx="11228832" cy="18288"/>
          </a:xfrm>
          <a:prstGeom prst="rect">
            <a:avLst/>
          </a:prstGeom>
          <a:solidFill>
            <a:srgbClr val="C9C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66928" y="6437376"/>
            <a:ext cx="8778240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子课题三 · 未知攻击与跨数据集泛化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058400" y="6437376"/>
            <a:ext cx="1737360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37 / 47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1417320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0424160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07A2F"/>
                </a:solidFill>
                <a:latin typeface="PingFang SC"/>
                <a:ea typeface="PingFang SC"/>
                <a:cs typeface="PingFang SC"/>
              </a:rPr>
              <a:t>REAL RESULTS ·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13956"/>
            <a:ext cx="10881360" cy="6766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i="0" dirty="0" err="1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全量</a:t>
            </a:r>
            <a:r>
              <a:rPr sz="2600" b="1" i="0" dirty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 71k：DET </a:t>
            </a:r>
            <a:r>
              <a:rPr sz="2600" b="1" i="0" dirty="0" err="1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曲线与打分分布</a:t>
            </a:r>
            <a:endParaRPr sz="2600" b="1" i="0" dirty="0">
              <a:solidFill>
                <a:srgbClr val="1B244E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48640" y="1042293"/>
            <a:ext cx="11450072" cy="4678684"/>
          </a:xfrm>
          <a:prstGeom prst="roundRect">
            <a:avLst>
              <a:gd name="adj" fmla="val 6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01_det_curve_21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419" y="1250129"/>
            <a:ext cx="4578582" cy="3976825"/>
          </a:xfrm>
          <a:prstGeom prst="roundRect">
            <a:avLst>
              <a:gd name="adj" fmla="val 0"/>
            </a:avLst>
          </a:prstGeom>
          <a:ln w="12700">
            <a:solidFill>
              <a:srgbClr val="C9CFDE"/>
            </a:solidFill>
          </a:ln>
        </p:spPr>
      </p:pic>
      <p:pic>
        <p:nvPicPr>
          <p:cNvPr id="13" name="Picture 12" descr="02_score_distribution_21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8780" y="1718949"/>
            <a:ext cx="6247911" cy="2540816"/>
          </a:xfrm>
          <a:prstGeom prst="roundRect">
            <a:avLst>
              <a:gd name="adj" fmla="val 0"/>
            </a:avLst>
          </a:prstGeom>
          <a:ln w="12700">
            <a:solidFill>
              <a:srgbClr val="C9CFDE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1345729" y="5317320"/>
            <a:ext cx="3323844" cy="290551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0" i="1" dirty="0" err="1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图</a:t>
            </a:r>
            <a:r>
              <a:rPr sz="1200" b="0" i="1" dirty="0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 20　DET </a:t>
            </a:r>
            <a:r>
              <a:rPr sz="1200" b="0" i="1" dirty="0" err="1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检测错误权衡曲线</a:t>
            </a:r>
            <a:endParaRPr sz="1200" b="0" i="1" dirty="0">
              <a:solidFill>
                <a:srgbClr val="5E6474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311966" y="4601784"/>
            <a:ext cx="3323844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0" i="1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图 21　bonafide / spoof 打分分布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6437376"/>
            <a:ext cx="1737360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38 / 47</a:t>
            </a: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E25CF84D-5A2B-F545-72CE-8EB12E7D8CA9}"/>
              </a:ext>
            </a:extLst>
          </p:cNvPr>
          <p:cNvGrpSpPr/>
          <p:nvPr/>
        </p:nvGrpSpPr>
        <p:grpSpPr>
          <a:xfrm>
            <a:off x="676655" y="5719785"/>
            <a:ext cx="4992125" cy="537971"/>
            <a:chOff x="7872983" y="2359152"/>
            <a:chExt cx="3922777" cy="537971"/>
          </a:xfrm>
        </p:grpSpPr>
        <p:sp>
          <p:nvSpPr>
            <p:cNvPr id="30" name="Rectangle 17">
              <a:extLst>
                <a:ext uri="{FF2B5EF4-FFF2-40B4-BE49-F238E27FC236}">
                  <a16:creationId xmlns:a16="http://schemas.microsoft.com/office/drawing/2014/main" id="{E97EF481-B6EC-224F-EA62-A130BA5C4277}"/>
                </a:ext>
              </a:extLst>
            </p:cNvPr>
            <p:cNvSpPr/>
            <p:nvPr/>
          </p:nvSpPr>
          <p:spPr>
            <a:xfrm>
              <a:off x="7872983" y="2443353"/>
              <a:ext cx="77724" cy="77724"/>
            </a:xfrm>
            <a:prstGeom prst="rect">
              <a:avLst/>
            </a:prstGeom>
            <a:solidFill>
              <a:srgbClr val="E07A2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400"/>
            </a:p>
          </p:txBody>
        </p:sp>
        <p:sp>
          <p:nvSpPr>
            <p:cNvPr id="31" name="TextBox 18">
              <a:extLst>
                <a:ext uri="{FF2B5EF4-FFF2-40B4-BE49-F238E27FC236}">
                  <a16:creationId xmlns:a16="http://schemas.microsoft.com/office/drawing/2014/main" id="{9996348C-9508-DC1B-2F7A-ABED66203AA8}"/>
                </a:ext>
              </a:extLst>
            </p:cNvPr>
            <p:cNvSpPr txBox="1"/>
            <p:nvPr/>
          </p:nvSpPr>
          <p:spPr>
            <a:xfrm>
              <a:off x="8129016" y="2359152"/>
              <a:ext cx="3666744" cy="537971"/>
            </a:xfrm>
            <a:prstGeom prst="rect">
              <a:avLst/>
            </a:prstGeom>
            <a:noFill/>
          </p:spPr>
          <p:txBody>
            <a:bodyPr wrap="square" lIns="36576" tIns="18288" rIns="36576" bIns="18288" anchor="t">
              <a:noAutofit/>
            </a:bodyPr>
            <a:lstStyle/>
            <a:p>
              <a:pPr algn="l">
                <a:lnSpc>
                  <a:spcPct val="114000"/>
                </a:lnSpc>
              </a:pPr>
              <a:r>
                <a:rPr sz="1400" b="0" i="0" dirty="0">
                  <a:solidFill>
                    <a:srgbClr val="20242E"/>
                  </a:solidFill>
                  <a:latin typeface="PingFang SC"/>
                  <a:ea typeface="PingFang SC"/>
                  <a:cs typeface="PingFang SC"/>
                </a:rPr>
                <a:t>DET </a:t>
              </a:r>
              <a:r>
                <a:rPr sz="1400" b="0" i="0" dirty="0" err="1">
                  <a:solidFill>
                    <a:srgbClr val="20242E"/>
                  </a:solidFill>
                  <a:latin typeface="PingFang SC"/>
                  <a:ea typeface="PingFang SC"/>
                  <a:cs typeface="PingFang SC"/>
                </a:rPr>
                <a:t>曲线：横纵轴为假正</a:t>
              </a:r>
              <a:r>
                <a:rPr sz="1400" b="0" i="0" dirty="0">
                  <a:solidFill>
                    <a:srgbClr val="20242E"/>
                  </a:solidFill>
                  <a:latin typeface="PingFang SC"/>
                  <a:ea typeface="PingFang SC"/>
                  <a:cs typeface="PingFang SC"/>
                </a:rPr>
                <a:t>/</a:t>
              </a:r>
              <a:r>
                <a:rPr sz="1400" b="0" i="0" dirty="0" err="1">
                  <a:solidFill>
                    <a:srgbClr val="20242E"/>
                  </a:solidFill>
                  <a:latin typeface="PingFang SC"/>
                  <a:ea typeface="PingFang SC"/>
                  <a:cs typeface="PingFang SC"/>
                </a:rPr>
                <a:t>假负率，曲线越贴近左下越好；全量</a:t>
              </a:r>
              <a:r>
                <a:rPr sz="1400" b="0" i="0" dirty="0">
                  <a:solidFill>
                    <a:srgbClr val="20242E"/>
                  </a:solidFill>
                  <a:latin typeface="PingFang SC"/>
                  <a:ea typeface="PingFang SC"/>
                  <a:cs typeface="PingFang SC"/>
                </a:rPr>
                <a:t> 71k </a:t>
              </a:r>
              <a:r>
                <a:rPr sz="1400" b="0" i="0" dirty="0" err="1">
                  <a:solidFill>
                    <a:srgbClr val="20242E"/>
                  </a:solidFill>
                  <a:latin typeface="PingFang SC"/>
                  <a:ea typeface="PingFang SC"/>
                  <a:cs typeface="PingFang SC"/>
                </a:rPr>
                <a:t>整体</a:t>
              </a:r>
              <a:r>
                <a:rPr sz="1400" b="0" i="0" dirty="0">
                  <a:solidFill>
                    <a:srgbClr val="20242E"/>
                  </a:solidFill>
                  <a:latin typeface="PingFang SC"/>
                  <a:ea typeface="PingFang SC"/>
                  <a:cs typeface="PingFang SC"/>
                </a:rPr>
                <a:t> EER 2.03%。</a:t>
              </a:r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C1348BD3-BDAA-5370-A41D-9A39F38FB00B}"/>
              </a:ext>
            </a:extLst>
          </p:cNvPr>
          <p:cNvGrpSpPr/>
          <p:nvPr/>
        </p:nvGrpSpPr>
        <p:grpSpPr>
          <a:xfrm>
            <a:off x="676655" y="6257756"/>
            <a:ext cx="4787443" cy="537971"/>
            <a:chOff x="7872983" y="3061716"/>
            <a:chExt cx="3922777" cy="537971"/>
          </a:xfrm>
        </p:grpSpPr>
        <p:sp>
          <p:nvSpPr>
            <p:cNvPr id="33" name="Rectangle 19">
              <a:extLst>
                <a:ext uri="{FF2B5EF4-FFF2-40B4-BE49-F238E27FC236}">
                  <a16:creationId xmlns:a16="http://schemas.microsoft.com/office/drawing/2014/main" id="{FB826768-B42D-903F-2C93-C9E495305444}"/>
                </a:ext>
              </a:extLst>
            </p:cNvPr>
            <p:cNvSpPr/>
            <p:nvPr/>
          </p:nvSpPr>
          <p:spPr>
            <a:xfrm>
              <a:off x="7872983" y="3145917"/>
              <a:ext cx="77724" cy="77724"/>
            </a:xfrm>
            <a:prstGeom prst="rect">
              <a:avLst/>
            </a:prstGeom>
            <a:solidFill>
              <a:srgbClr val="E07A2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400"/>
            </a:p>
          </p:txBody>
        </p:sp>
        <p:sp>
          <p:nvSpPr>
            <p:cNvPr id="34" name="TextBox 20">
              <a:extLst>
                <a:ext uri="{FF2B5EF4-FFF2-40B4-BE49-F238E27FC236}">
                  <a16:creationId xmlns:a16="http://schemas.microsoft.com/office/drawing/2014/main" id="{EE936097-2E44-BE95-6561-85CC7BCCF0C4}"/>
                </a:ext>
              </a:extLst>
            </p:cNvPr>
            <p:cNvSpPr txBox="1"/>
            <p:nvPr/>
          </p:nvSpPr>
          <p:spPr>
            <a:xfrm>
              <a:off x="8129016" y="3061716"/>
              <a:ext cx="3666744" cy="537971"/>
            </a:xfrm>
            <a:prstGeom prst="rect">
              <a:avLst/>
            </a:prstGeom>
            <a:noFill/>
          </p:spPr>
          <p:txBody>
            <a:bodyPr wrap="square" lIns="36576" tIns="18288" rIns="36576" bIns="18288" anchor="t">
              <a:noAutofit/>
            </a:bodyPr>
            <a:lstStyle/>
            <a:p>
              <a:pPr algn="l">
                <a:lnSpc>
                  <a:spcPct val="114000"/>
                </a:lnSpc>
              </a:pPr>
              <a:r>
                <a:rPr sz="1400" b="0" i="0" dirty="0" err="1">
                  <a:solidFill>
                    <a:srgbClr val="20242E"/>
                  </a:solidFill>
                  <a:latin typeface="PingFang SC"/>
                  <a:ea typeface="PingFang SC"/>
                  <a:cs typeface="PingFang SC"/>
                </a:rPr>
                <a:t>打分分布：bonafide</a:t>
              </a:r>
              <a:r>
                <a:rPr sz="1400" b="0" i="0" dirty="0">
                  <a:solidFill>
                    <a:srgbClr val="20242E"/>
                  </a:solidFill>
                  <a:latin typeface="PingFang SC"/>
                  <a:ea typeface="PingFang SC"/>
                  <a:cs typeface="PingFang SC"/>
                </a:rPr>
                <a:t> </a:t>
              </a:r>
              <a:r>
                <a:rPr sz="1400" b="0" i="0" dirty="0" err="1">
                  <a:solidFill>
                    <a:srgbClr val="20242E"/>
                  </a:solidFill>
                  <a:latin typeface="PingFang SC"/>
                  <a:ea typeface="PingFang SC"/>
                  <a:cs typeface="PingFang SC"/>
                </a:rPr>
                <a:t>与</a:t>
              </a:r>
              <a:r>
                <a:rPr sz="1400" b="0" i="0" dirty="0">
                  <a:solidFill>
                    <a:srgbClr val="20242E"/>
                  </a:solidFill>
                  <a:latin typeface="PingFang SC"/>
                  <a:ea typeface="PingFang SC"/>
                  <a:cs typeface="PingFang SC"/>
                </a:rPr>
                <a:t> spoof </a:t>
              </a:r>
              <a:r>
                <a:rPr sz="1400" b="0" i="0" dirty="0" err="1">
                  <a:solidFill>
                    <a:srgbClr val="20242E"/>
                  </a:solidFill>
                  <a:latin typeface="PingFang SC"/>
                  <a:ea typeface="PingFang SC"/>
                  <a:cs typeface="PingFang SC"/>
                </a:rPr>
                <a:t>分数几乎完全分离，交叉区域极小，对应低</a:t>
              </a:r>
              <a:r>
                <a:rPr sz="1400" b="0" i="0" dirty="0">
                  <a:solidFill>
                    <a:srgbClr val="20242E"/>
                  </a:solidFill>
                  <a:latin typeface="PingFang SC"/>
                  <a:ea typeface="PingFang SC"/>
                  <a:cs typeface="PingFang SC"/>
                </a:rPr>
                <a:t> EER </a:t>
              </a:r>
              <a:r>
                <a:rPr sz="1400" b="0" i="0" dirty="0" err="1">
                  <a:solidFill>
                    <a:srgbClr val="20242E"/>
                  </a:solidFill>
                  <a:latin typeface="PingFang SC"/>
                  <a:ea typeface="PingFang SC"/>
                  <a:cs typeface="PingFang SC"/>
                </a:rPr>
                <a:t>与高</a:t>
              </a:r>
              <a:r>
                <a:rPr sz="1400" b="0" i="0" dirty="0">
                  <a:solidFill>
                    <a:srgbClr val="20242E"/>
                  </a:solidFill>
                  <a:latin typeface="PingFang SC"/>
                  <a:ea typeface="PingFang SC"/>
                  <a:cs typeface="PingFang SC"/>
                </a:rPr>
                <a:t> AUC 0.9890。</a:t>
              </a:r>
            </a:p>
          </p:txBody>
        </p: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70162819-FD83-4CC2-06DB-AD646EBA0281}"/>
              </a:ext>
            </a:extLst>
          </p:cNvPr>
          <p:cNvGrpSpPr/>
          <p:nvPr/>
        </p:nvGrpSpPr>
        <p:grpSpPr>
          <a:xfrm>
            <a:off x="6320277" y="5738689"/>
            <a:ext cx="4992123" cy="537971"/>
            <a:chOff x="7872983" y="3764280"/>
            <a:chExt cx="3922777" cy="537971"/>
          </a:xfrm>
        </p:grpSpPr>
        <p:sp>
          <p:nvSpPr>
            <p:cNvPr id="36" name="Rectangle 21">
              <a:extLst>
                <a:ext uri="{FF2B5EF4-FFF2-40B4-BE49-F238E27FC236}">
                  <a16:creationId xmlns:a16="http://schemas.microsoft.com/office/drawing/2014/main" id="{67405F88-BCE5-431A-E896-9E2E81981195}"/>
                </a:ext>
              </a:extLst>
            </p:cNvPr>
            <p:cNvSpPr/>
            <p:nvPr/>
          </p:nvSpPr>
          <p:spPr>
            <a:xfrm>
              <a:off x="7872983" y="3848481"/>
              <a:ext cx="77724" cy="77724"/>
            </a:xfrm>
            <a:prstGeom prst="rect">
              <a:avLst/>
            </a:prstGeom>
            <a:solidFill>
              <a:srgbClr val="E07A2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400"/>
            </a:p>
          </p:txBody>
        </p:sp>
        <p:sp>
          <p:nvSpPr>
            <p:cNvPr id="37" name="TextBox 22">
              <a:extLst>
                <a:ext uri="{FF2B5EF4-FFF2-40B4-BE49-F238E27FC236}">
                  <a16:creationId xmlns:a16="http://schemas.microsoft.com/office/drawing/2014/main" id="{EE6760F1-67AD-E124-9F01-653FB8816299}"/>
                </a:ext>
              </a:extLst>
            </p:cNvPr>
            <p:cNvSpPr txBox="1"/>
            <p:nvPr/>
          </p:nvSpPr>
          <p:spPr>
            <a:xfrm>
              <a:off x="8129016" y="3764280"/>
              <a:ext cx="3666744" cy="537971"/>
            </a:xfrm>
            <a:prstGeom prst="rect">
              <a:avLst/>
            </a:prstGeom>
            <a:noFill/>
          </p:spPr>
          <p:txBody>
            <a:bodyPr wrap="square" lIns="36576" tIns="18288" rIns="36576" bIns="18288" anchor="t">
              <a:noAutofit/>
            </a:bodyPr>
            <a:lstStyle/>
            <a:p>
              <a:pPr algn="l">
                <a:lnSpc>
                  <a:spcPct val="114000"/>
                </a:lnSpc>
              </a:pPr>
              <a:r>
                <a:rPr sz="1400" b="0" i="0" dirty="0">
                  <a:solidFill>
                    <a:srgbClr val="20242E"/>
                  </a:solidFill>
                  <a:latin typeface="PingFang SC"/>
                  <a:ea typeface="PingFang SC"/>
                  <a:cs typeface="PingFang SC"/>
                </a:rPr>
                <a:t>spoof </a:t>
              </a:r>
              <a:r>
                <a:rPr sz="1400" b="0" i="0" dirty="0" err="1">
                  <a:solidFill>
                    <a:srgbClr val="20242E"/>
                  </a:solidFill>
                  <a:latin typeface="PingFang SC"/>
                  <a:ea typeface="PingFang SC"/>
                  <a:cs typeface="PingFang SC"/>
                </a:rPr>
                <a:t>分布跨越多个子峰，反映</a:t>
              </a:r>
              <a:r>
                <a:rPr sz="1400" b="0" i="0" dirty="0">
                  <a:solidFill>
                    <a:srgbClr val="20242E"/>
                  </a:solidFill>
                  <a:latin typeface="PingFang SC"/>
                  <a:ea typeface="PingFang SC"/>
                  <a:cs typeface="PingFang SC"/>
                </a:rPr>
                <a:t> A07–A19 </a:t>
              </a:r>
              <a:r>
                <a:rPr sz="1400" b="0" i="0" dirty="0" err="1">
                  <a:solidFill>
                    <a:srgbClr val="20242E"/>
                  </a:solidFill>
                  <a:latin typeface="PingFang SC"/>
                  <a:ea typeface="PingFang SC"/>
                  <a:cs typeface="PingFang SC"/>
                </a:rPr>
                <a:t>十三种未知生成器的多样性</a:t>
              </a:r>
              <a:r>
                <a:rPr sz="1400" b="0" i="0" dirty="0">
                  <a:solidFill>
                    <a:srgbClr val="20242E"/>
                  </a:solidFill>
                  <a:latin typeface="PingFang SC"/>
                  <a:ea typeface="PingFang SC"/>
                  <a:cs typeface="PingFang SC"/>
                </a:rPr>
                <a:t>。</a:t>
              </a:r>
            </a:p>
          </p:txBody>
        </p:sp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AFD2B49C-4238-913A-64A2-AA09187CB036}"/>
              </a:ext>
            </a:extLst>
          </p:cNvPr>
          <p:cNvGrpSpPr/>
          <p:nvPr/>
        </p:nvGrpSpPr>
        <p:grpSpPr>
          <a:xfrm>
            <a:off x="6306917" y="6241424"/>
            <a:ext cx="4882600" cy="537971"/>
            <a:chOff x="7872983" y="4466844"/>
            <a:chExt cx="3922777" cy="537971"/>
          </a:xfrm>
        </p:grpSpPr>
        <p:sp>
          <p:nvSpPr>
            <p:cNvPr id="39" name="Rectangle 23">
              <a:extLst>
                <a:ext uri="{FF2B5EF4-FFF2-40B4-BE49-F238E27FC236}">
                  <a16:creationId xmlns:a16="http://schemas.microsoft.com/office/drawing/2014/main" id="{CA5F137D-99C0-29C4-6647-872B28F60A17}"/>
                </a:ext>
              </a:extLst>
            </p:cNvPr>
            <p:cNvSpPr/>
            <p:nvPr/>
          </p:nvSpPr>
          <p:spPr>
            <a:xfrm>
              <a:off x="7872983" y="4551045"/>
              <a:ext cx="77724" cy="77724"/>
            </a:xfrm>
            <a:prstGeom prst="rect">
              <a:avLst/>
            </a:prstGeom>
            <a:solidFill>
              <a:srgbClr val="E07A2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400"/>
            </a:p>
          </p:txBody>
        </p:sp>
        <p:sp>
          <p:nvSpPr>
            <p:cNvPr id="40" name="TextBox 24">
              <a:extLst>
                <a:ext uri="{FF2B5EF4-FFF2-40B4-BE49-F238E27FC236}">
                  <a16:creationId xmlns:a16="http://schemas.microsoft.com/office/drawing/2014/main" id="{0EE1B934-6679-2BC6-6047-08BB8A415FC4}"/>
                </a:ext>
              </a:extLst>
            </p:cNvPr>
            <p:cNvSpPr txBox="1"/>
            <p:nvPr/>
          </p:nvSpPr>
          <p:spPr>
            <a:xfrm>
              <a:off x="8129016" y="4466844"/>
              <a:ext cx="3666744" cy="537971"/>
            </a:xfrm>
            <a:prstGeom prst="rect">
              <a:avLst/>
            </a:prstGeom>
            <a:noFill/>
          </p:spPr>
          <p:txBody>
            <a:bodyPr wrap="square" lIns="36576" tIns="18288" rIns="36576" bIns="18288" anchor="t">
              <a:noAutofit/>
            </a:bodyPr>
            <a:lstStyle/>
            <a:p>
              <a:pPr algn="l">
                <a:lnSpc>
                  <a:spcPct val="114000"/>
                </a:lnSpc>
              </a:pPr>
              <a:r>
                <a:rPr sz="1400" b="0" i="0" dirty="0">
                  <a:solidFill>
                    <a:srgbClr val="20242E"/>
                  </a:solidFill>
                  <a:latin typeface="PingFang SC"/>
                  <a:ea typeface="PingFang SC"/>
                  <a:cs typeface="PingFang SC"/>
                </a:rPr>
                <a:t>少数难攻击（A10 / A18 / A19）的 spoof </a:t>
              </a:r>
              <a:r>
                <a:rPr sz="1400" b="0" i="0" dirty="0" err="1">
                  <a:solidFill>
                    <a:srgbClr val="20242E"/>
                  </a:solidFill>
                  <a:latin typeface="PingFang SC"/>
                  <a:ea typeface="PingFang SC"/>
                  <a:cs typeface="PingFang SC"/>
                </a:rPr>
                <a:t>分数向</a:t>
              </a:r>
              <a:r>
                <a:rPr sz="1400" b="0" i="0" dirty="0">
                  <a:solidFill>
                    <a:srgbClr val="20242E"/>
                  </a:solidFill>
                  <a:latin typeface="PingFang SC"/>
                  <a:ea typeface="PingFang SC"/>
                  <a:cs typeface="PingFang SC"/>
                </a:rPr>
                <a:t> </a:t>
              </a:r>
              <a:r>
                <a:rPr sz="1400" b="0" i="0" dirty="0" err="1">
                  <a:solidFill>
                    <a:srgbClr val="20242E"/>
                  </a:solidFill>
                  <a:latin typeface="PingFang SC"/>
                  <a:ea typeface="PingFang SC"/>
                  <a:cs typeface="PingFang SC"/>
                </a:rPr>
                <a:t>bonafide</a:t>
              </a:r>
              <a:r>
                <a:rPr sz="1400" b="0" i="0" dirty="0">
                  <a:solidFill>
                    <a:srgbClr val="20242E"/>
                  </a:solidFill>
                  <a:latin typeface="PingFang SC"/>
                  <a:ea typeface="PingFang SC"/>
                  <a:cs typeface="PingFang SC"/>
                </a:rPr>
                <a:t> </a:t>
              </a:r>
              <a:r>
                <a:rPr sz="1400" b="0" i="0" dirty="0" err="1">
                  <a:solidFill>
                    <a:srgbClr val="20242E"/>
                  </a:solidFill>
                  <a:latin typeface="PingFang SC"/>
                  <a:ea typeface="PingFang SC"/>
                  <a:cs typeface="PingFang SC"/>
                </a:rPr>
                <a:t>尾部重叠，是</a:t>
              </a:r>
              <a:r>
                <a:rPr sz="1400" b="0" i="0" dirty="0">
                  <a:solidFill>
                    <a:srgbClr val="20242E"/>
                  </a:solidFill>
                  <a:latin typeface="PingFang SC"/>
                  <a:ea typeface="PingFang SC"/>
                  <a:cs typeface="PingFang SC"/>
                </a:rPr>
                <a:t> EER </a:t>
              </a:r>
              <a:r>
                <a:rPr sz="1400" b="0" i="0" dirty="0" err="1">
                  <a:solidFill>
                    <a:srgbClr val="20242E"/>
                  </a:solidFill>
                  <a:latin typeface="PingFang SC"/>
                  <a:ea typeface="PingFang SC"/>
                  <a:cs typeface="PingFang SC"/>
                </a:rPr>
                <a:t>的主要来源</a:t>
              </a:r>
              <a:r>
                <a:rPr sz="1400" b="0" i="0" dirty="0">
                  <a:solidFill>
                    <a:srgbClr val="20242E"/>
                  </a:solidFill>
                  <a:latin typeface="PingFang SC"/>
                  <a:ea typeface="PingFang SC"/>
                  <a:cs typeface="PingFang SC"/>
                </a:rPr>
                <a:t>。</a:t>
              </a:r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1417320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86487"/>
            <a:ext cx="10424160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 i="0" dirty="0">
                <a:solidFill>
                  <a:srgbClr val="E07A2F"/>
                </a:solidFill>
                <a:latin typeface="PingFang SC"/>
                <a:ea typeface="PingFang SC"/>
                <a:cs typeface="PingFang SC"/>
              </a:rPr>
              <a:t>REAL RESULTS ·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4602"/>
            <a:ext cx="10881360" cy="6766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i="0" dirty="0" err="1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全量</a:t>
            </a:r>
            <a:r>
              <a:rPr sz="2600" b="1" i="0" dirty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 71k：混淆矩阵与概率校准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803427"/>
            <a:ext cx="1417320" cy="5486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12064" y="921639"/>
            <a:ext cx="11430891" cy="4665122"/>
          </a:xfrm>
          <a:prstGeom prst="roundRect">
            <a:avLst>
              <a:gd name="adj" fmla="val 6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05_confusion_matrix_2100.png"/>
          <p:cNvPicPr>
            <a:picLocks noChangeAspect="1"/>
          </p:cNvPicPr>
          <p:nvPr/>
        </p:nvPicPr>
        <p:blipFill>
          <a:blip r:embed="rId2"/>
          <a:srcRect b="7610"/>
          <a:stretch>
            <a:fillRect/>
          </a:stretch>
        </p:blipFill>
        <p:spPr>
          <a:xfrm>
            <a:off x="676656" y="977386"/>
            <a:ext cx="4843198" cy="4284043"/>
          </a:xfrm>
          <a:prstGeom prst="roundRect">
            <a:avLst>
              <a:gd name="adj" fmla="val 0"/>
            </a:avLst>
          </a:prstGeom>
          <a:ln w="12700">
            <a:solidFill>
              <a:srgbClr val="C9CFDE"/>
            </a:solidFill>
          </a:ln>
        </p:spPr>
      </p:pic>
      <p:pic>
        <p:nvPicPr>
          <p:cNvPr id="13" name="Picture 12" descr="04_calibration_21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4446" y="1706084"/>
            <a:ext cx="6241807" cy="2826646"/>
          </a:xfrm>
          <a:prstGeom prst="roundRect">
            <a:avLst>
              <a:gd name="adj" fmla="val 0"/>
            </a:avLst>
          </a:prstGeom>
          <a:ln w="12700">
            <a:solidFill>
              <a:srgbClr val="C9CFDE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1156159" y="5317175"/>
            <a:ext cx="3323844" cy="230505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0" i="1" dirty="0" err="1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图</a:t>
            </a:r>
            <a:r>
              <a:rPr sz="1200" b="0" i="1" dirty="0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 22　</a:t>
            </a:r>
            <a:r>
              <a:rPr sz="1200" b="0" i="1" dirty="0" err="1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混淆矩阵</a:t>
            </a:r>
            <a:r>
              <a:rPr sz="1200" b="0" i="1" dirty="0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lang="zh-CN" altLang="en-US" sz="1200" i="1" dirty="0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与</a:t>
            </a:r>
            <a:r>
              <a:rPr sz="1200" b="0" i="1" dirty="0" err="1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决策阈值</a:t>
            </a:r>
            <a:r>
              <a:rPr sz="1200" b="0" i="1" dirty="0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200" b="0" i="1" dirty="0" err="1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θ</a:t>
            </a:r>
            <a:endParaRPr sz="1200" b="0" i="1" dirty="0">
              <a:solidFill>
                <a:srgbClr val="5E6474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069482" y="4805111"/>
            <a:ext cx="3323844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0" i="1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图 23　校准曲线 reliability diagram</a:t>
            </a: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8FD13498-F6DA-F3F4-15A3-2EE9CE28298E}"/>
              </a:ext>
            </a:extLst>
          </p:cNvPr>
          <p:cNvGrpSpPr/>
          <p:nvPr/>
        </p:nvGrpSpPr>
        <p:grpSpPr>
          <a:xfrm>
            <a:off x="548640" y="5642507"/>
            <a:ext cx="5932003" cy="1075942"/>
            <a:chOff x="7854695" y="2359152"/>
            <a:chExt cx="5932003" cy="1075942"/>
          </a:xfrm>
        </p:grpSpPr>
        <p:sp>
          <p:nvSpPr>
            <p:cNvPr id="30" name="Rectangle 17">
              <a:extLst>
                <a:ext uri="{FF2B5EF4-FFF2-40B4-BE49-F238E27FC236}">
                  <a16:creationId xmlns:a16="http://schemas.microsoft.com/office/drawing/2014/main" id="{7FFAA293-49DC-3B84-F0A1-6D1EFD689952}"/>
                </a:ext>
              </a:extLst>
            </p:cNvPr>
            <p:cNvSpPr/>
            <p:nvPr/>
          </p:nvSpPr>
          <p:spPr>
            <a:xfrm>
              <a:off x="7872983" y="2443353"/>
              <a:ext cx="77724" cy="77724"/>
            </a:xfrm>
            <a:prstGeom prst="rect">
              <a:avLst/>
            </a:prstGeom>
            <a:solidFill>
              <a:srgbClr val="E07A2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400"/>
            </a:p>
          </p:txBody>
        </p:sp>
        <p:sp>
          <p:nvSpPr>
            <p:cNvPr id="31" name="TextBox 18">
              <a:extLst>
                <a:ext uri="{FF2B5EF4-FFF2-40B4-BE49-F238E27FC236}">
                  <a16:creationId xmlns:a16="http://schemas.microsoft.com/office/drawing/2014/main" id="{B6BF9DB0-0735-62E0-BE8D-BD92F27CD3A4}"/>
                </a:ext>
              </a:extLst>
            </p:cNvPr>
            <p:cNvSpPr txBox="1"/>
            <p:nvPr/>
          </p:nvSpPr>
          <p:spPr>
            <a:xfrm>
              <a:off x="8129016" y="2359152"/>
              <a:ext cx="5657682" cy="537971"/>
            </a:xfrm>
            <a:prstGeom prst="rect">
              <a:avLst/>
            </a:prstGeom>
            <a:noFill/>
          </p:spPr>
          <p:txBody>
            <a:bodyPr wrap="square" lIns="36576" tIns="18288" rIns="36576" bIns="18288" anchor="t">
              <a:noAutofit/>
            </a:bodyPr>
            <a:lstStyle/>
            <a:p>
              <a:pPr algn="l">
                <a:lnSpc>
                  <a:spcPct val="114000"/>
                </a:lnSpc>
              </a:pPr>
              <a:r>
                <a:rPr sz="1400" b="0" i="0" dirty="0" err="1">
                  <a:solidFill>
                    <a:srgbClr val="20242E"/>
                  </a:solidFill>
                  <a:latin typeface="PingFang SC"/>
                  <a:ea typeface="PingFang SC"/>
                  <a:cs typeface="PingFang SC"/>
                </a:rPr>
                <a:t>混淆矩阵</a:t>
              </a:r>
              <a:r>
                <a:rPr sz="1400" b="0" i="0" dirty="0">
                  <a:solidFill>
                    <a:srgbClr val="20242E"/>
                  </a:solidFill>
                  <a:latin typeface="PingFang SC"/>
                  <a:ea typeface="PingFang SC"/>
                  <a:cs typeface="PingFang SC"/>
                </a:rPr>
                <a:t> @</a:t>
              </a:r>
              <a:r>
                <a:rPr sz="1400" b="0" i="0" dirty="0" err="1">
                  <a:solidFill>
                    <a:srgbClr val="20242E"/>
                  </a:solidFill>
                  <a:latin typeface="PingFang SC"/>
                  <a:ea typeface="PingFang SC"/>
                  <a:cs typeface="PingFang SC"/>
                </a:rPr>
                <a:t>θ：TP</a:t>
              </a:r>
              <a:r>
                <a:rPr sz="1400" b="0" i="0" dirty="0">
                  <a:solidFill>
                    <a:srgbClr val="20242E"/>
                  </a:solidFill>
                  <a:latin typeface="PingFang SC"/>
                  <a:ea typeface="PingFang SC"/>
                  <a:cs typeface="PingFang SC"/>
                </a:rPr>
                <a:t>=62,567、TN=7,303、FP=52、FN=1,315；假正极少，真人几乎不被误判为伪造。</a:t>
              </a:r>
            </a:p>
          </p:txBody>
        </p:sp>
        <p:sp>
          <p:nvSpPr>
            <p:cNvPr id="32" name="Rectangle 19">
              <a:extLst>
                <a:ext uri="{FF2B5EF4-FFF2-40B4-BE49-F238E27FC236}">
                  <a16:creationId xmlns:a16="http://schemas.microsoft.com/office/drawing/2014/main" id="{36749F35-5C7E-CB51-A48C-97AE295F0632}"/>
                </a:ext>
              </a:extLst>
            </p:cNvPr>
            <p:cNvSpPr/>
            <p:nvPr/>
          </p:nvSpPr>
          <p:spPr>
            <a:xfrm>
              <a:off x="7854695" y="2981324"/>
              <a:ext cx="77724" cy="77724"/>
            </a:xfrm>
            <a:prstGeom prst="rect">
              <a:avLst/>
            </a:prstGeom>
            <a:solidFill>
              <a:srgbClr val="E07A2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400"/>
            </a:p>
          </p:txBody>
        </p:sp>
        <p:sp>
          <p:nvSpPr>
            <p:cNvPr id="33" name="TextBox 20">
              <a:extLst>
                <a:ext uri="{FF2B5EF4-FFF2-40B4-BE49-F238E27FC236}">
                  <a16:creationId xmlns:a16="http://schemas.microsoft.com/office/drawing/2014/main" id="{2B100DED-55D1-DA3C-898D-E22B967DF0E8}"/>
                </a:ext>
              </a:extLst>
            </p:cNvPr>
            <p:cNvSpPr txBox="1"/>
            <p:nvPr/>
          </p:nvSpPr>
          <p:spPr>
            <a:xfrm>
              <a:off x="8110728" y="2897123"/>
              <a:ext cx="5657682" cy="537971"/>
            </a:xfrm>
            <a:prstGeom prst="rect">
              <a:avLst/>
            </a:prstGeom>
            <a:noFill/>
          </p:spPr>
          <p:txBody>
            <a:bodyPr wrap="square" lIns="36576" tIns="18288" rIns="36576" bIns="18288" anchor="t">
              <a:noAutofit/>
            </a:bodyPr>
            <a:lstStyle/>
            <a:p>
              <a:pPr algn="l">
                <a:lnSpc>
                  <a:spcPct val="114000"/>
                </a:lnSpc>
              </a:pPr>
              <a:r>
                <a:rPr sz="1400" b="0" i="0" dirty="0" err="1">
                  <a:solidFill>
                    <a:srgbClr val="20242E"/>
                  </a:solidFill>
                  <a:latin typeface="PingFang SC"/>
                  <a:ea typeface="PingFang SC"/>
                  <a:cs typeface="PingFang SC"/>
                </a:rPr>
                <a:t>漏检</a:t>
              </a:r>
              <a:r>
                <a:rPr sz="1400" b="0" i="0" dirty="0">
                  <a:solidFill>
                    <a:srgbClr val="20242E"/>
                  </a:solidFill>
                  <a:latin typeface="PingFang SC"/>
                  <a:ea typeface="PingFang SC"/>
                  <a:cs typeface="PingFang SC"/>
                </a:rPr>
                <a:t> FN=1,315 </a:t>
              </a:r>
              <a:r>
                <a:rPr sz="1400" b="0" i="0" dirty="0" err="1">
                  <a:solidFill>
                    <a:srgbClr val="20242E"/>
                  </a:solidFill>
                  <a:latin typeface="PingFang SC"/>
                  <a:ea typeface="PingFang SC"/>
                  <a:cs typeface="PingFang SC"/>
                </a:rPr>
                <a:t>主要来自难攻击子集，是后续泛化方法的重点优化方向</a:t>
              </a:r>
              <a:r>
                <a:rPr sz="1400" b="0" i="0" dirty="0">
                  <a:solidFill>
                    <a:srgbClr val="20242E"/>
                  </a:solidFill>
                  <a:latin typeface="PingFang SC"/>
                  <a:ea typeface="PingFang SC"/>
                  <a:cs typeface="PingFang SC"/>
                </a:rPr>
                <a:t>。</a:t>
              </a:r>
            </a:p>
          </p:txBody>
        </p:sp>
      </p:grpSp>
      <p:sp>
        <p:nvSpPr>
          <p:cNvPr id="34" name="Rectangle 21">
            <a:extLst>
              <a:ext uri="{FF2B5EF4-FFF2-40B4-BE49-F238E27FC236}">
                <a16:creationId xmlns:a16="http://schemas.microsoft.com/office/drawing/2014/main" id="{CB15C0CE-E9B8-A672-C193-AD790395BD8F}"/>
              </a:ext>
            </a:extLst>
          </p:cNvPr>
          <p:cNvSpPr/>
          <p:nvPr/>
        </p:nvSpPr>
        <p:spPr>
          <a:xfrm>
            <a:off x="6658952" y="5726708"/>
            <a:ext cx="77724" cy="7772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5" name="TextBox 22">
            <a:extLst>
              <a:ext uri="{FF2B5EF4-FFF2-40B4-BE49-F238E27FC236}">
                <a16:creationId xmlns:a16="http://schemas.microsoft.com/office/drawing/2014/main" id="{D1432767-0639-9E17-64DF-A1F78D1420EE}"/>
              </a:ext>
            </a:extLst>
          </p:cNvPr>
          <p:cNvSpPr txBox="1"/>
          <p:nvPr/>
        </p:nvSpPr>
        <p:spPr>
          <a:xfrm>
            <a:off x="6914985" y="5642507"/>
            <a:ext cx="5011268" cy="537971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400" b="0" i="0" dirty="0" err="1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校准曲线：ECE</a:t>
            </a:r>
            <a:r>
              <a:rPr sz="1400" b="0" i="0" dirty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 0.181、Brier 0.167，预测概率与真实频率总体一致但仍有偏差。</a:t>
            </a:r>
          </a:p>
        </p:txBody>
      </p:sp>
      <p:sp>
        <p:nvSpPr>
          <p:cNvPr id="36" name="Rectangle 23">
            <a:extLst>
              <a:ext uri="{FF2B5EF4-FFF2-40B4-BE49-F238E27FC236}">
                <a16:creationId xmlns:a16="http://schemas.microsoft.com/office/drawing/2014/main" id="{3B1B776F-1504-CFED-2A7B-22780B87CAD4}"/>
              </a:ext>
            </a:extLst>
          </p:cNvPr>
          <p:cNvSpPr/>
          <p:nvPr/>
        </p:nvSpPr>
        <p:spPr>
          <a:xfrm>
            <a:off x="6658952" y="6244487"/>
            <a:ext cx="77724" cy="7772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7" name="TextBox 24">
            <a:extLst>
              <a:ext uri="{FF2B5EF4-FFF2-40B4-BE49-F238E27FC236}">
                <a16:creationId xmlns:a16="http://schemas.microsoft.com/office/drawing/2014/main" id="{45D822E0-8CCE-D12A-861B-235F48330339}"/>
              </a:ext>
            </a:extLst>
          </p:cNvPr>
          <p:cNvSpPr txBox="1"/>
          <p:nvPr/>
        </p:nvSpPr>
        <p:spPr>
          <a:xfrm>
            <a:off x="6914985" y="6160286"/>
            <a:ext cx="5011268" cy="537971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400" b="0" i="0" dirty="0" err="1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良好校准意味着输出分数可直接用于阈值决策与代价敏感场景（min</a:t>
            </a:r>
            <a:r>
              <a:rPr sz="1400" b="0" i="0" dirty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 t-DCF 0.266）。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1417320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6639" y="91440"/>
            <a:ext cx="10424160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07A2F"/>
                </a:solidFill>
                <a:latin typeface="PingFang SC"/>
                <a:ea typeface="PingFang SC"/>
                <a:cs typeface="PingFang SC"/>
              </a:rPr>
              <a:t>REAL RESULTS ·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6639" y="120473"/>
            <a:ext cx="10881360" cy="6766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全量 71k：逐攻击热力图与 ROC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6268" y="697620"/>
            <a:ext cx="11489492" cy="4941066"/>
          </a:xfrm>
          <a:prstGeom prst="roundRect">
            <a:avLst>
              <a:gd name="adj" fmla="val 6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06_per_attack_heatmap_2100.png"/>
          <p:cNvPicPr>
            <a:picLocks noChangeAspect="1"/>
          </p:cNvPicPr>
          <p:nvPr/>
        </p:nvPicPr>
        <p:blipFill>
          <a:blip r:embed="rId2"/>
          <a:srcRect b="6530"/>
          <a:stretch>
            <a:fillRect/>
          </a:stretch>
        </p:blipFill>
        <p:spPr>
          <a:xfrm>
            <a:off x="493943" y="780402"/>
            <a:ext cx="4086978" cy="4566801"/>
          </a:xfrm>
          <a:prstGeom prst="roundRect">
            <a:avLst>
              <a:gd name="adj" fmla="val 0"/>
            </a:avLst>
          </a:prstGeom>
          <a:ln w="12700">
            <a:solidFill>
              <a:srgbClr val="C9CFDE"/>
            </a:solidFill>
          </a:ln>
        </p:spPr>
      </p:pic>
      <p:pic>
        <p:nvPicPr>
          <p:cNvPr id="13" name="Picture 12" descr="07_per_attack_roc_21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964" y="795021"/>
            <a:ext cx="5877083" cy="4410609"/>
          </a:xfrm>
          <a:prstGeom prst="roundRect">
            <a:avLst>
              <a:gd name="adj" fmla="val 0"/>
            </a:avLst>
          </a:prstGeom>
          <a:ln w="12700">
            <a:solidFill>
              <a:srgbClr val="C9CFDE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732273" y="5375410"/>
            <a:ext cx="3323844" cy="2350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0" i="1" dirty="0" err="1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图</a:t>
            </a:r>
            <a:r>
              <a:rPr sz="1200" b="0" i="1" dirty="0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 24　逐攻击指标热力图（A07–A19）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6583" y="5265846"/>
            <a:ext cx="3323844" cy="2350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0" i="1" dirty="0" err="1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图</a:t>
            </a:r>
            <a:r>
              <a:rPr sz="1200" b="0" i="1" dirty="0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 25　</a:t>
            </a:r>
            <a:r>
              <a:rPr sz="1200" b="0" i="1" dirty="0" err="1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逐攻击</a:t>
            </a:r>
            <a:r>
              <a:rPr sz="1200" b="0" i="1" dirty="0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 ROC </a:t>
            </a:r>
            <a:r>
              <a:rPr sz="1200" b="0" i="1" dirty="0" err="1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曲线</a:t>
            </a:r>
            <a:endParaRPr sz="1200" b="0" i="1" dirty="0">
              <a:solidFill>
                <a:srgbClr val="5E6474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0058400" y="6437376"/>
            <a:ext cx="1737360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40 / 47</a:t>
            </a:r>
          </a:p>
        </p:txBody>
      </p:sp>
      <p:sp>
        <p:nvSpPr>
          <p:cNvPr id="29" name="Rectangle 17">
            <a:extLst>
              <a:ext uri="{FF2B5EF4-FFF2-40B4-BE49-F238E27FC236}">
                <a16:creationId xmlns:a16="http://schemas.microsoft.com/office/drawing/2014/main" id="{D7D00BB5-415A-B70E-32E4-DD1E837287E0}"/>
              </a:ext>
            </a:extLst>
          </p:cNvPr>
          <p:cNvSpPr/>
          <p:nvPr/>
        </p:nvSpPr>
        <p:spPr>
          <a:xfrm>
            <a:off x="493943" y="5805669"/>
            <a:ext cx="77724" cy="7772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0" name="TextBox 18">
            <a:extLst>
              <a:ext uri="{FF2B5EF4-FFF2-40B4-BE49-F238E27FC236}">
                <a16:creationId xmlns:a16="http://schemas.microsoft.com/office/drawing/2014/main" id="{09AA734F-B367-4D2B-9BC1-E35A8360D919}"/>
              </a:ext>
            </a:extLst>
          </p:cNvPr>
          <p:cNvSpPr txBox="1"/>
          <p:nvPr/>
        </p:nvSpPr>
        <p:spPr>
          <a:xfrm>
            <a:off x="749975" y="5721468"/>
            <a:ext cx="4807653" cy="537971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400" b="0" i="0" dirty="0" err="1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逐攻击热力图：多数攻击</a:t>
            </a:r>
            <a:r>
              <a:rPr sz="1400" b="0" i="0" dirty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 EER &lt; 1%（</a:t>
            </a:r>
            <a:r>
              <a:rPr sz="1400" b="0" i="0" dirty="0" err="1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表现好</a:t>
            </a:r>
            <a:r>
              <a:rPr sz="1400" b="0" i="0" dirty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），A10 / A18 / A19 / A08 </a:t>
            </a:r>
            <a:r>
              <a:rPr sz="1400" b="0" i="0" dirty="0" err="1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相对偏难</a:t>
            </a:r>
            <a:r>
              <a:rPr sz="1400" b="0" i="0" dirty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  <p:sp>
        <p:nvSpPr>
          <p:cNvPr id="31" name="Rectangle 19">
            <a:extLst>
              <a:ext uri="{FF2B5EF4-FFF2-40B4-BE49-F238E27FC236}">
                <a16:creationId xmlns:a16="http://schemas.microsoft.com/office/drawing/2014/main" id="{441E970B-93FA-C0F6-E740-FDDB7D443001}"/>
              </a:ext>
            </a:extLst>
          </p:cNvPr>
          <p:cNvSpPr/>
          <p:nvPr/>
        </p:nvSpPr>
        <p:spPr>
          <a:xfrm>
            <a:off x="493943" y="6300034"/>
            <a:ext cx="77724" cy="7772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2" name="TextBox 20">
            <a:extLst>
              <a:ext uri="{FF2B5EF4-FFF2-40B4-BE49-F238E27FC236}">
                <a16:creationId xmlns:a16="http://schemas.microsoft.com/office/drawing/2014/main" id="{9BEBD041-2CC8-3D08-FF44-6B5090193D27}"/>
              </a:ext>
            </a:extLst>
          </p:cNvPr>
          <p:cNvSpPr txBox="1"/>
          <p:nvPr/>
        </p:nvSpPr>
        <p:spPr>
          <a:xfrm>
            <a:off x="732273" y="6224981"/>
            <a:ext cx="4985960" cy="537971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400" b="0" i="0" dirty="0" err="1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逐攻击</a:t>
            </a:r>
            <a:r>
              <a:rPr sz="1400" b="0" i="0" dirty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400" b="0" i="0" dirty="0" err="1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ROC：每条曲线对应一种未知攻击，绝大多数贴近左上角（AUC</a:t>
            </a:r>
            <a:r>
              <a:rPr sz="1400" b="0" i="0" dirty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400" b="0" i="0" dirty="0" err="1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接近</a:t>
            </a:r>
            <a:r>
              <a:rPr sz="1400" b="0" i="0" dirty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 1）。</a:t>
            </a:r>
          </a:p>
        </p:txBody>
      </p:sp>
      <p:sp>
        <p:nvSpPr>
          <p:cNvPr id="33" name="Rectangle 21">
            <a:extLst>
              <a:ext uri="{FF2B5EF4-FFF2-40B4-BE49-F238E27FC236}">
                <a16:creationId xmlns:a16="http://schemas.microsoft.com/office/drawing/2014/main" id="{3A8CA435-B750-158A-6137-977498906B9A}"/>
              </a:ext>
            </a:extLst>
          </p:cNvPr>
          <p:cNvSpPr/>
          <p:nvPr/>
        </p:nvSpPr>
        <p:spPr>
          <a:xfrm>
            <a:off x="6065871" y="5771211"/>
            <a:ext cx="77724" cy="7772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4" name="TextBox 22">
            <a:extLst>
              <a:ext uri="{FF2B5EF4-FFF2-40B4-BE49-F238E27FC236}">
                <a16:creationId xmlns:a16="http://schemas.microsoft.com/office/drawing/2014/main" id="{865A5069-4191-A671-B0C9-890B36C2E8AC}"/>
              </a:ext>
            </a:extLst>
          </p:cNvPr>
          <p:cNvSpPr txBox="1"/>
          <p:nvPr/>
        </p:nvSpPr>
        <p:spPr>
          <a:xfrm>
            <a:off x="6321904" y="5687010"/>
            <a:ext cx="4985960" cy="537971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400" b="0" i="0" dirty="0" err="1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难攻击</a:t>
            </a:r>
            <a:r>
              <a:rPr sz="1400" b="0" i="0" dirty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 ROC </a:t>
            </a:r>
            <a:r>
              <a:rPr sz="1400" b="0" i="0" dirty="0" err="1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曲线略向内凹，与其较高</a:t>
            </a:r>
            <a:r>
              <a:rPr sz="1400" b="0" i="0" dirty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 EER </a:t>
            </a:r>
            <a:r>
              <a:rPr sz="1400" b="0" i="0" dirty="0" err="1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一致，交叉印证</a:t>
            </a:r>
            <a:r>
              <a:rPr sz="1400" b="0" i="0" dirty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  <p:sp>
        <p:nvSpPr>
          <p:cNvPr id="35" name="Rectangle 23">
            <a:extLst>
              <a:ext uri="{FF2B5EF4-FFF2-40B4-BE49-F238E27FC236}">
                <a16:creationId xmlns:a16="http://schemas.microsoft.com/office/drawing/2014/main" id="{1A54EFAD-F302-A9CE-06AA-A8EEE0D775F8}"/>
              </a:ext>
            </a:extLst>
          </p:cNvPr>
          <p:cNvSpPr/>
          <p:nvPr/>
        </p:nvSpPr>
        <p:spPr>
          <a:xfrm>
            <a:off x="6065871" y="6252591"/>
            <a:ext cx="77724" cy="7772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6" name="TextBox 24">
            <a:extLst>
              <a:ext uri="{FF2B5EF4-FFF2-40B4-BE49-F238E27FC236}">
                <a16:creationId xmlns:a16="http://schemas.microsoft.com/office/drawing/2014/main" id="{E9D8ACAC-6EEC-86FB-10E4-5CC6E37038E4}"/>
              </a:ext>
            </a:extLst>
          </p:cNvPr>
          <p:cNvSpPr txBox="1"/>
          <p:nvPr/>
        </p:nvSpPr>
        <p:spPr>
          <a:xfrm>
            <a:off x="6321904" y="6168390"/>
            <a:ext cx="4693270" cy="537971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400" b="0" i="0" dirty="0" err="1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全未知设定下仍取得整体</a:t>
            </a:r>
            <a:r>
              <a:rPr sz="1400" b="0" i="0" dirty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 AUC 0.9890，验证对未见生成器的泛化能力。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1417320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21962" y="109728"/>
            <a:ext cx="10424160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 i="0" dirty="0">
                <a:solidFill>
                  <a:srgbClr val="E07A2F"/>
                </a:solidFill>
                <a:latin typeface="PingFang SC"/>
                <a:ea typeface="PingFang SC"/>
                <a:cs typeface="PingFang SC"/>
              </a:rPr>
              <a:t>REAL RESULTS ·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1962" y="256985"/>
            <a:ext cx="6614458" cy="6766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全量 71k：Bootstrap 置信区间与 ROC 小倍数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6480" y="933641"/>
            <a:ext cx="11602231" cy="4877036"/>
          </a:xfrm>
          <a:prstGeom prst="roundRect">
            <a:avLst>
              <a:gd name="adj" fmla="val 6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08_bootstrap_eer_ci_21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703" y="1610297"/>
            <a:ext cx="5900233" cy="3006308"/>
          </a:xfrm>
          <a:prstGeom prst="roundRect">
            <a:avLst>
              <a:gd name="adj" fmla="val 0"/>
            </a:avLst>
          </a:prstGeom>
          <a:ln w="12700">
            <a:solidFill>
              <a:srgbClr val="C9CFDE"/>
            </a:solidFill>
          </a:ln>
        </p:spPr>
      </p:pic>
      <p:pic>
        <p:nvPicPr>
          <p:cNvPr id="13" name="Picture 12" descr="11_roc_small_multiples_21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4891" y="1047323"/>
            <a:ext cx="5149393" cy="4514301"/>
          </a:xfrm>
          <a:prstGeom prst="roundRect">
            <a:avLst>
              <a:gd name="adj" fmla="val 0"/>
            </a:avLst>
          </a:prstGeom>
          <a:ln w="12700">
            <a:solidFill>
              <a:srgbClr val="C9CFDE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1778508" y="4777629"/>
            <a:ext cx="3323844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0" i="1" dirty="0" err="1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图</a:t>
            </a:r>
            <a:r>
              <a:rPr sz="1200" b="0" i="1" dirty="0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 26　Bootstrap EER </a:t>
            </a:r>
            <a:r>
              <a:rPr sz="1200" b="0" i="1" dirty="0" err="1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置信区间</a:t>
            </a:r>
            <a:endParaRPr sz="1200" b="0" i="1" dirty="0">
              <a:solidFill>
                <a:srgbClr val="5E6474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634221" y="5561624"/>
            <a:ext cx="3323844" cy="249053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0" i="1" dirty="0" err="1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图</a:t>
            </a:r>
            <a:r>
              <a:rPr sz="1200" b="0" i="1" dirty="0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 27　</a:t>
            </a:r>
            <a:r>
              <a:rPr sz="1200" b="0" i="1" dirty="0" err="1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逐攻击</a:t>
            </a:r>
            <a:r>
              <a:rPr sz="1200" b="0" i="1" dirty="0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 ROC </a:t>
            </a:r>
            <a:r>
              <a:rPr sz="1200" b="0" i="1" dirty="0" err="1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小倍数图</a:t>
            </a:r>
            <a:endParaRPr sz="1200" b="0" i="1" dirty="0">
              <a:solidFill>
                <a:srgbClr val="5E6474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9" name="Rectangle 17">
            <a:extLst>
              <a:ext uri="{FF2B5EF4-FFF2-40B4-BE49-F238E27FC236}">
                <a16:creationId xmlns:a16="http://schemas.microsoft.com/office/drawing/2014/main" id="{87BE949B-9C1E-34F6-2EF4-C06281D813F0}"/>
              </a:ext>
            </a:extLst>
          </p:cNvPr>
          <p:cNvSpPr/>
          <p:nvPr/>
        </p:nvSpPr>
        <p:spPr>
          <a:xfrm>
            <a:off x="652482" y="5913601"/>
            <a:ext cx="77724" cy="7772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0" name="TextBox 18">
            <a:extLst>
              <a:ext uri="{FF2B5EF4-FFF2-40B4-BE49-F238E27FC236}">
                <a16:creationId xmlns:a16="http://schemas.microsoft.com/office/drawing/2014/main" id="{84EC9896-E7C2-5711-1092-EC6650C442D2}"/>
              </a:ext>
            </a:extLst>
          </p:cNvPr>
          <p:cNvSpPr txBox="1"/>
          <p:nvPr/>
        </p:nvSpPr>
        <p:spPr>
          <a:xfrm>
            <a:off x="908514" y="5829400"/>
            <a:ext cx="5428527" cy="537971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400" b="0" i="0" dirty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Bootstrap EER </a:t>
            </a:r>
            <a:r>
              <a:rPr sz="1400" b="0" i="0" dirty="0" err="1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置信区间：对</a:t>
            </a:r>
            <a:r>
              <a:rPr sz="1400" b="0" i="0" dirty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 71k </a:t>
            </a:r>
            <a:r>
              <a:rPr sz="1400" b="0" i="0" dirty="0" err="1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重采样得到</a:t>
            </a:r>
            <a:r>
              <a:rPr sz="1400" b="0" i="0" dirty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 EER </a:t>
            </a:r>
            <a:r>
              <a:rPr sz="1400" b="0" i="0" dirty="0" err="1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的稳健区间，量化统计不确定性</a:t>
            </a:r>
            <a:r>
              <a:rPr sz="1400" b="0" i="0" dirty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  <p:sp>
        <p:nvSpPr>
          <p:cNvPr id="31" name="Rectangle 19">
            <a:extLst>
              <a:ext uri="{FF2B5EF4-FFF2-40B4-BE49-F238E27FC236}">
                <a16:creationId xmlns:a16="http://schemas.microsoft.com/office/drawing/2014/main" id="{34049612-CF52-2872-212E-E22519E73841}"/>
              </a:ext>
            </a:extLst>
          </p:cNvPr>
          <p:cNvSpPr/>
          <p:nvPr/>
        </p:nvSpPr>
        <p:spPr>
          <a:xfrm>
            <a:off x="652482" y="6404230"/>
            <a:ext cx="77724" cy="7772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2" name="TextBox 20">
            <a:extLst>
              <a:ext uri="{FF2B5EF4-FFF2-40B4-BE49-F238E27FC236}">
                <a16:creationId xmlns:a16="http://schemas.microsoft.com/office/drawing/2014/main" id="{D0399762-ABDD-04C4-ABD6-16827BD9ECED}"/>
              </a:ext>
            </a:extLst>
          </p:cNvPr>
          <p:cNvSpPr txBox="1"/>
          <p:nvPr/>
        </p:nvSpPr>
        <p:spPr>
          <a:xfrm>
            <a:off x="908515" y="6320030"/>
            <a:ext cx="4666316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400" b="0" i="0" dirty="0" err="1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区间较窄说明</a:t>
            </a:r>
            <a:r>
              <a:rPr sz="1400" b="0" i="0" dirty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 2.03% </a:t>
            </a:r>
            <a:r>
              <a:rPr sz="1400" b="0" i="0" dirty="0" err="1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的</a:t>
            </a:r>
            <a:r>
              <a:rPr sz="1400" b="0" i="0" dirty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 EER </a:t>
            </a:r>
            <a:r>
              <a:rPr sz="1400" b="0" i="0" dirty="0" err="1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估计在大样本下稳定可信</a:t>
            </a:r>
            <a:r>
              <a:rPr sz="1400" b="0" i="0" dirty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  <p:sp>
        <p:nvSpPr>
          <p:cNvPr id="33" name="Rectangle 21">
            <a:extLst>
              <a:ext uri="{FF2B5EF4-FFF2-40B4-BE49-F238E27FC236}">
                <a16:creationId xmlns:a16="http://schemas.microsoft.com/office/drawing/2014/main" id="{61DD6D1B-4554-389D-2834-B183B52A7226}"/>
              </a:ext>
            </a:extLst>
          </p:cNvPr>
          <p:cNvSpPr/>
          <p:nvPr/>
        </p:nvSpPr>
        <p:spPr>
          <a:xfrm>
            <a:off x="6719525" y="5913601"/>
            <a:ext cx="77724" cy="7772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22">
            <a:extLst>
              <a:ext uri="{FF2B5EF4-FFF2-40B4-BE49-F238E27FC236}">
                <a16:creationId xmlns:a16="http://schemas.microsoft.com/office/drawing/2014/main" id="{FCC9D42E-D94B-1F31-6B4E-A15A893AB339}"/>
              </a:ext>
            </a:extLst>
          </p:cNvPr>
          <p:cNvSpPr txBox="1"/>
          <p:nvPr/>
        </p:nvSpPr>
        <p:spPr>
          <a:xfrm>
            <a:off x="6975557" y="5829400"/>
            <a:ext cx="5023153" cy="537971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400" b="0" i="0" dirty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ROC </a:t>
            </a:r>
            <a:r>
              <a:rPr sz="1400" b="0" i="0" dirty="0" err="1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小倍数图：逐攻击</a:t>
            </a:r>
            <a:r>
              <a:rPr sz="1400" b="0" i="0" dirty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 ROC </a:t>
            </a:r>
            <a:r>
              <a:rPr sz="1400" b="0" i="0" dirty="0" err="1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平铺对比，便于定位表现最弱的攻击类型</a:t>
            </a:r>
            <a:r>
              <a:rPr sz="1400" b="0" i="0" dirty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  <p:sp>
        <p:nvSpPr>
          <p:cNvPr id="36" name="TextBox 24">
            <a:extLst>
              <a:ext uri="{FF2B5EF4-FFF2-40B4-BE49-F238E27FC236}">
                <a16:creationId xmlns:a16="http://schemas.microsoft.com/office/drawing/2014/main" id="{B18F1A6A-6C1E-745C-D671-C0A2741A00E3}"/>
              </a:ext>
            </a:extLst>
          </p:cNvPr>
          <p:cNvSpPr txBox="1"/>
          <p:nvPr/>
        </p:nvSpPr>
        <p:spPr>
          <a:xfrm>
            <a:off x="6975557" y="6367371"/>
            <a:ext cx="5335388" cy="329185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400" b="0" i="0" dirty="0" err="1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与逐攻击</a:t>
            </a:r>
            <a:r>
              <a:rPr sz="1400" b="0" i="0" dirty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 EER 表一致：A13 最易（0.00%）、A10 最难（7.28%）。</a:t>
            </a:r>
          </a:p>
        </p:txBody>
      </p:sp>
      <p:sp>
        <p:nvSpPr>
          <p:cNvPr id="37" name="Rectangle 21">
            <a:extLst>
              <a:ext uri="{FF2B5EF4-FFF2-40B4-BE49-F238E27FC236}">
                <a16:creationId xmlns:a16="http://schemas.microsoft.com/office/drawing/2014/main" id="{E3EB23F8-2AEC-DB55-5655-BD1B79B55986}"/>
              </a:ext>
            </a:extLst>
          </p:cNvPr>
          <p:cNvSpPr/>
          <p:nvPr/>
        </p:nvSpPr>
        <p:spPr>
          <a:xfrm>
            <a:off x="6720852" y="6476022"/>
            <a:ext cx="77724" cy="7772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1417320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10424160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 i="0" dirty="0">
                <a:solidFill>
                  <a:srgbClr val="E07A2F"/>
                </a:solidFill>
                <a:latin typeface="PingFang SC"/>
                <a:ea typeface="PingFang SC"/>
                <a:cs typeface="PingFang SC"/>
              </a:rPr>
              <a:t>REAL RESULTS ·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1643"/>
            <a:ext cx="10881360" cy="6766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i="0" dirty="0" err="1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全量</a:t>
            </a:r>
            <a:r>
              <a:rPr sz="2600" b="1" i="0" dirty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 71k：综合评估仪表盘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702527"/>
            <a:ext cx="11228832" cy="4216945"/>
          </a:xfrm>
          <a:prstGeom prst="roundRect">
            <a:avLst>
              <a:gd name="adj" fmla="val 6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17_dashboard_21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082" y="897256"/>
            <a:ext cx="5253170" cy="3829812"/>
          </a:xfrm>
          <a:prstGeom prst="roundRect">
            <a:avLst>
              <a:gd name="adj" fmla="val 0"/>
            </a:avLst>
          </a:prstGeom>
          <a:ln w="12700">
            <a:solidFill>
              <a:srgbClr val="C9CFDE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566928" y="4736211"/>
            <a:ext cx="11228832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1" dirty="0" err="1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图</a:t>
            </a:r>
            <a:r>
              <a:rPr sz="1200" b="0" i="1" dirty="0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 28　</a:t>
            </a:r>
            <a:r>
              <a:rPr sz="1200" b="0" i="1" dirty="0" err="1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ASVspoof</a:t>
            </a:r>
            <a:r>
              <a:rPr sz="1200" b="0" i="1" dirty="0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 2019 LA </a:t>
            </a:r>
            <a:r>
              <a:rPr sz="1200" b="0" i="1" dirty="0" err="1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全量</a:t>
            </a:r>
            <a:r>
              <a:rPr sz="1200" b="0" i="1" dirty="0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 71k </a:t>
            </a:r>
            <a:r>
              <a:rPr sz="1200" b="0" i="1" dirty="0" err="1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综合评估仪表盘</a:t>
            </a:r>
            <a:endParaRPr sz="1200" b="0" i="1" dirty="0">
              <a:solidFill>
                <a:srgbClr val="5E6474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66928" y="5129786"/>
            <a:ext cx="11228832" cy="950975"/>
          </a:xfrm>
          <a:prstGeom prst="roundRect">
            <a:avLst>
              <a:gd name="adj" fmla="val 6000"/>
            </a:avLst>
          </a:prstGeom>
          <a:solidFill>
            <a:srgbClr val="EC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66928" y="5129786"/>
            <a:ext cx="100584" cy="950975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2" y="5202938"/>
            <a:ext cx="2011680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要点解读</a:t>
            </a:r>
          </a:p>
        </p:txBody>
      </p:sp>
      <p:sp>
        <p:nvSpPr>
          <p:cNvPr id="17" name="Diamond 16"/>
          <p:cNvSpPr/>
          <p:nvPr/>
        </p:nvSpPr>
        <p:spPr>
          <a:xfrm>
            <a:off x="854964" y="5659757"/>
            <a:ext cx="100584" cy="100584"/>
          </a:xfrm>
          <a:prstGeom prst="diamond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15568" y="5586986"/>
            <a:ext cx="4983480" cy="537971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25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综合仪表盘汇总全量 71k 的核心指标、分数分布、逐攻击表现与校准于一屏。</a:t>
            </a:r>
          </a:p>
        </p:txBody>
      </p:sp>
      <p:sp>
        <p:nvSpPr>
          <p:cNvPr id="19" name="Diamond 18"/>
          <p:cNvSpPr/>
          <p:nvPr/>
        </p:nvSpPr>
        <p:spPr>
          <a:xfrm>
            <a:off x="6277356" y="5659757"/>
            <a:ext cx="100584" cy="100584"/>
          </a:xfrm>
          <a:prstGeom prst="diamond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37959" y="5586986"/>
            <a:ext cx="4983480" cy="537971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25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校准 ECE 0.181 / Brier 0.167；混淆矩阵 TP 62,567 / FP 52 / FN 1,315 / TN 7,303。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6400800"/>
            <a:ext cx="11228832" cy="18288"/>
          </a:xfrm>
          <a:prstGeom prst="rect">
            <a:avLst/>
          </a:prstGeom>
          <a:solidFill>
            <a:srgbClr val="C9C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66928" y="6437376"/>
            <a:ext cx="8778240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子课题三 · 未知攻击与跨数据集泛化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6437376"/>
            <a:ext cx="1737360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42 / 47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1417320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0424160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07A2F"/>
                </a:solidFill>
                <a:latin typeface="PingFang SC"/>
                <a:ea typeface="PingFang SC"/>
                <a:cs typeface="PingFang SC"/>
              </a:rPr>
              <a:t>REAL RESULTS ·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03504"/>
            <a:ext cx="10881360" cy="6766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i="0" dirty="0" err="1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逐攻击</a:t>
            </a:r>
            <a:r>
              <a:rPr sz="2600" b="1" i="0" dirty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2600" b="1" i="0" dirty="0" err="1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EER（eval</a:t>
            </a:r>
            <a:r>
              <a:rPr sz="2600" b="1" i="0" dirty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 · </a:t>
            </a:r>
            <a:r>
              <a:rPr sz="2600" b="1" i="0" dirty="0" err="1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全量</a:t>
            </a:r>
            <a:r>
              <a:rPr sz="2600" b="1" i="0" dirty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 71k · </a:t>
            </a:r>
            <a:r>
              <a:rPr sz="2600" b="1" i="0" dirty="0" err="1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全未知</a:t>
            </a:r>
            <a:r>
              <a:rPr sz="2600" b="1" i="0" dirty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 A07–</a:t>
            </a:r>
            <a:r>
              <a:rPr lang="en" sz="2600" b="1" i="0" dirty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A</a:t>
            </a:r>
            <a:r>
              <a:rPr lang="en-US" altLang="zh-CN" sz="2600" b="1" dirty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18</a:t>
            </a:r>
            <a:r>
              <a:rPr lang="zh-CN" altLang="en-US" sz="2600" b="1" dirty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）</a:t>
            </a:r>
            <a:endParaRPr sz="2600" b="1" i="0" dirty="0">
              <a:solidFill>
                <a:srgbClr val="1B244E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66928" y="1335024"/>
            <a:ext cx="1417320" cy="5486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58368" y="1627632"/>
            <a:ext cx="11155680" cy="512064"/>
          </a:xfrm>
          <a:prstGeom prst="rect">
            <a:avLst/>
          </a:prstGeom>
          <a:solidFill>
            <a:srgbClr val="1B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3232" y="1627632"/>
            <a:ext cx="1719072" cy="51206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攻击类型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42032" y="1627632"/>
            <a:ext cx="1719072" cy="51206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EER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70831" y="1627632"/>
            <a:ext cx="1901952" cy="51206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AUC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1627632"/>
            <a:ext cx="2084831" cy="51206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min t-DCF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7072" y="1627632"/>
            <a:ext cx="1901952" cy="51206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Macro-F1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88752" y="1627632"/>
            <a:ext cx="1170431" cy="51206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难度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2139696"/>
            <a:ext cx="11155680" cy="306324"/>
          </a:xfrm>
          <a:prstGeom prst="rect">
            <a:avLst/>
          </a:prstGeom>
          <a:solidFill>
            <a:srgbClr val="F4F5F8"/>
          </a:solidFill>
          <a:ln w="9525">
            <a:solidFill>
              <a:srgbClr val="C9C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0664" y="2139696"/>
            <a:ext cx="1664208" cy="3063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200" b="1" i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A07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9463" y="2139696"/>
            <a:ext cx="1664208" cy="3063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0.42%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98264" y="2139696"/>
            <a:ext cx="1847088" cy="3063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0.9998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4" y="2139696"/>
            <a:ext cx="2029967" cy="3063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0.1166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04504" y="2139696"/>
            <a:ext cx="1847088" cy="3063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0.9956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16184" y="2139696"/>
            <a:ext cx="1115568" cy="3063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58368" y="2446020"/>
            <a:ext cx="11155680" cy="306324"/>
          </a:xfrm>
          <a:prstGeom prst="rect">
            <a:avLst/>
          </a:prstGeom>
          <a:solidFill>
            <a:srgbClr val="FFFFFF"/>
          </a:solidFill>
          <a:ln w="9525">
            <a:solidFill>
              <a:srgbClr val="C9C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58368" y="2446020"/>
            <a:ext cx="82296" cy="30632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40664" y="2446020"/>
            <a:ext cx="1664208" cy="3063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200" b="1" i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A08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69463" y="2446020"/>
            <a:ext cx="1664208" cy="3063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4.84%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98264" y="2446020"/>
            <a:ext cx="1847088" cy="3063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0.9735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9944" y="2446020"/>
            <a:ext cx="2029967" cy="3063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0.4322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04504" y="2446020"/>
            <a:ext cx="1847088" cy="3063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0.9744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16184" y="2446020"/>
            <a:ext cx="1115568" cy="3063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较难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2752344"/>
            <a:ext cx="11155680" cy="306324"/>
          </a:xfrm>
          <a:prstGeom prst="rect">
            <a:avLst/>
          </a:prstGeom>
          <a:solidFill>
            <a:srgbClr val="F4F5F8"/>
          </a:solidFill>
          <a:ln w="9525">
            <a:solidFill>
              <a:srgbClr val="C9C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40664" y="2752344"/>
            <a:ext cx="1664208" cy="3063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200" b="1" i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A09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69463" y="2752344"/>
            <a:ext cx="1664208" cy="3063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0.26%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98264" y="2752344"/>
            <a:ext cx="1847088" cy="3063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1.0000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9944" y="2752344"/>
            <a:ext cx="2029967" cy="3063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0.0144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04504" y="2752344"/>
            <a:ext cx="1847088" cy="3063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0.9956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16184" y="2752344"/>
            <a:ext cx="1115568" cy="3063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58368" y="3058668"/>
            <a:ext cx="11155680" cy="306324"/>
          </a:xfrm>
          <a:prstGeom prst="rect">
            <a:avLst/>
          </a:prstGeom>
          <a:solidFill>
            <a:srgbClr val="FFFFFF"/>
          </a:solidFill>
          <a:ln w="9525">
            <a:solidFill>
              <a:srgbClr val="C9C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58368" y="3058668"/>
            <a:ext cx="82296" cy="306324"/>
          </a:xfrm>
          <a:prstGeom prst="rect">
            <a:avLst/>
          </a:prstGeom>
          <a:solidFill>
            <a:srgbClr val="B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40664" y="3058668"/>
            <a:ext cx="1664208" cy="3063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200" b="1" i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A10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569463" y="3058668"/>
            <a:ext cx="1664208" cy="3063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7.28%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98264" y="3058668"/>
            <a:ext cx="1847088" cy="3063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0.9592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9944" y="3058668"/>
            <a:ext cx="2029967" cy="3063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0.5670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04504" y="3058668"/>
            <a:ext cx="1847088" cy="3063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0.9626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616184" y="3058668"/>
            <a:ext cx="1115568" cy="3063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最难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8368" y="3364991"/>
            <a:ext cx="11155680" cy="306324"/>
          </a:xfrm>
          <a:prstGeom prst="rect">
            <a:avLst/>
          </a:prstGeom>
          <a:solidFill>
            <a:srgbClr val="F4F5F8"/>
          </a:solidFill>
          <a:ln w="9525">
            <a:solidFill>
              <a:srgbClr val="C9C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40664" y="3364991"/>
            <a:ext cx="1664208" cy="3063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200" b="1" i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A11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569463" y="3364991"/>
            <a:ext cx="1664208" cy="3063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0.54%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98264" y="3364991"/>
            <a:ext cx="1847088" cy="3063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0.9980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9944" y="3364991"/>
            <a:ext cx="2029967" cy="3063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0.1555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04504" y="3364991"/>
            <a:ext cx="1847088" cy="3063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0.9942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616184" y="3364991"/>
            <a:ext cx="1115568" cy="3063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58368" y="3671315"/>
            <a:ext cx="11155680" cy="306324"/>
          </a:xfrm>
          <a:prstGeom prst="rect">
            <a:avLst/>
          </a:prstGeom>
          <a:solidFill>
            <a:srgbClr val="FFFFFF"/>
          </a:solidFill>
          <a:ln w="9525">
            <a:solidFill>
              <a:srgbClr val="C9C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40664" y="3671315"/>
            <a:ext cx="1664208" cy="3063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200" b="1" i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A12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569463" y="3671315"/>
            <a:ext cx="1664208" cy="3063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0.43%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398264" y="3671315"/>
            <a:ext cx="1847088" cy="3063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0.9997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09944" y="3671315"/>
            <a:ext cx="2029967" cy="3063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0.1024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604504" y="3671315"/>
            <a:ext cx="1847088" cy="3063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0.9955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616184" y="3671315"/>
            <a:ext cx="1115568" cy="3063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658368" y="3977639"/>
            <a:ext cx="11155680" cy="306324"/>
          </a:xfrm>
          <a:prstGeom prst="rect">
            <a:avLst/>
          </a:prstGeom>
          <a:solidFill>
            <a:srgbClr val="F4F5F8"/>
          </a:solidFill>
          <a:ln w="9525">
            <a:solidFill>
              <a:srgbClr val="C9C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658368" y="3977639"/>
            <a:ext cx="82296" cy="306324"/>
          </a:xfrm>
          <a:prstGeom prst="rect">
            <a:avLst/>
          </a:prstGeom>
          <a:solidFill>
            <a:srgbClr val="1E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740664" y="3977639"/>
            <a:ext cx="1664208" cy="3063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200" b="1" i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A13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569463" y="3977639"/>
            <a:ext cx="1664208" cy="3063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0.00%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398264" y="3977639"/>
            <a:ext cx="1847088" cy="3063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1.0000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09944" y="3977639"/>
            <a:ext cx="2029967" cy="3063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0.0000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604504" y="3977639"/>
            <a:ext cx="1847088" cy="3063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0.9956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616184" y="3977639"/>
            <a:ext cx="1115568" cy="3063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最易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58368" y="4283964"/>
            <a:ext cx="11155680" cy="306324"/>
          </a:xfrm>
          <a:prstGeom prst="rect">
            <a:avLst/>
          </a:prstGeom>
          <a:solidFill>
            <a:srgbClr val="FFFFFF"/>
          </a:solidFill>
          <a:ln w="9525">
            <a:solidFill>
              <a:srgbClr val="C9C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740664" y="4283964"/>
            <a:ext cx="1664208" cy="3063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200" b="1" i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A14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569463" y="4283964"/>
            <a:ext cx="1664208" cy="3063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0.62%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398264" y="4283964"/>
            <a:ext cx="1847088" cy="3063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0.9983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409944" y="4283964"/>
            <a:ext cx="2029967" cy="3063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0.4056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604504" y="4283964"/>
            <a:ext cx="1847088" cy="3063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0.9951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616184" y="4283964"/>
            <a:ext cx="1115568" cy="3063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658368" y="4590288"/>
            <a:ext cx="11155680" cy="306324"/>
          </a:xfrm>
          <a:prstGeom prst="rect">
            <a:avLst/>
          </a:prstGeom>
          <a:solidFill>
            <a:srgbClr val="F4F5F8"/>
          </a:solidFill>
          <a:ln w="9525">
            <a:solidFill>
              <a:srgbClr val="C9C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740664" y="4590288"/>
            <a:ext cx="1664208" cy="3063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200" b="1" i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A15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569463" y="4590288"/>
            <a:ext cx="1664208" cy="3063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1.05%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398264" y="4590288"/>
            <a:ext cx="1847088" cy="3063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0.9934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9944" y="4590288"/>
            <a:ext cx="2029967" cy="3063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0.4862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604504" y="4590288"/>
            <a:ext cx="1847088" cy="3063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0.9912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616184" y="4590288"/>
            <a:ext cx="1115568" cy="3063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658368" y="4896612"/>
            <a:ext cx="11155680" cy="306324"/>
          </a:xfrm>
          <a:prstGeom prst="rect">
            <a:avLst/>
          </a:prstGeom>
          <a:solidFill>
            <a:srgbClr val="FFFFFF"/>
          </a:solidFill>
          <a:ln w="9525">
            <a:solidFill>
              <a:srgbClr val="C9C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740664" y="4896612"/>
            <a:ext cx="1664208" cy="3063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200" b="1" i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A16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569463" y="4896612"/>
            <a:ext cx="1664208" cy="3063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0.44%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398264" y="4896612"/>
            <a:ext cx="1847088" cy="3063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0.9995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409944" y="4896612"/>
            <a:ext cx="2029967" cy="3063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0.0586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604504" y="4896612"/>
            <a:ext cx="1847088" cy="3063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0.9953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616184" y="4896612"/>
            <a:ext cx="1115568" cy="3063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658368" y="5202936"/>
            <a:ext cx="11155680" cy="306324"/>
          </a:xfrm>
          <a:prstGeom prst="rect">
            <a:avLst/>
          </a:prstGeom>
          <a:solidFill>
            <a:srgbClr val="F4F5F8"/>
          </a:solidFill>
          <a:ln w="9525">
            <a:solidFill>
              <a:srgbClr val="C9C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740664" y="5202936"/>
            <a:ext cx="1664208" cy="3063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200" b="1" i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A17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569463" y="5202936"/>
            <a:ext cx="1664208" cy="3063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0.53%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398264" y="5202936"/>
            <a:ext cx="1847088" cy="3063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0.9986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409944" y="5202936"/>
            <a:ext cx="2029967" cy="3063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0.1178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604504" y="5202936"/>
            <a:ext cx="1847088" cy="3063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0.9947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616184" y="5202936"/>
            <a:ext cx="1115568" cy="3063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658368" y="5509259"/>
            <a:ext cx="11155680" cy="306324"/>
          </a:xfrm>
          <a:prstGeom prst="rect">
            <a:avLst/>
          </a:prstGeom>
          <a:solidFill>
            <a:srgbClr val="FFFFFF"/>
          </a:solidFill>
          <a:ln w="9525">
            <a:solidFill>
              <a:srgbClr val="C9C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ectangle 98"/>
          <p:cNvSpPr/>
          <p:nvPr/>
        </p:nvSpPr>
        <p:spPr>
          <a:xfrm>
            <a:off x="658368" y="5509259"/>
            <a:ext cx="82296" cy="30632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740664" y="5509259"/>
            <a:ext cx="1664208" cy="3063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200" b="1" i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A18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569463" y="5509259"/>
            <a:ext cx="1664208" cy="3063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6.46%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398264" y="5509259"/>
            <a:ext cx="1847088" cy="3063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0.9641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409944" y="5509259"/>
            <a:ext cx="2029967" cy="3063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0.5067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604504" y="5509259"/>
            <a:ext cx="1847088" cy="3063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0.9666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616184" y="5509259"/>
            <a:ext cx="1115568" cy="3063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20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较难</a:t>
            </a:r>
          </a:p>
        </p:txBody>
      </p:sp>
      <p:grpSp>
        <p:nvGrpSpPr>
          <p:cNvPr id="120" name="组合 119">
            <a:extLst>
              <a:ext uri="{FF2B5EF4-FFF2-40B4-BE49-F238E27FC236}">
                <a16:creationId xmlns:a16="http://schemas.microsoft.com/office/drawing/2014/main" id="{B339B197-DBD4-064B-9998-4CE6E2DEFDCB}"/>
              </a:ext>
            </a:extLst>
          </p:cNvPr>
          <p:cNvGrpSpPr/>
          <p:nvPr/>
        </p:nvGrpSpPr>
        <p:grpSpPr>
          <a:xfrm>
            <a:off x="646771" y="5919737"/>
            <a:ext cx="11155680" cy="669518"/>
            <a:chOff x="658368" y="5669280"/>
            <a:chExt cx="11155680" cy="669518"/>
          </a:xfrm>
        </p:grpSpPr>
        <p:sp>
          <p:nvSpPr>
            <p:cNvPr id="106" name="Rectangle 105"/>
            <p:cNvSpPr/>
            <p:nvPr/>
          </p:nvSpPr>
          <p:spPr>
            <a:xfrm>
              <a:off x="658368" y="5815583"/>
              <a:ext cx="11155680" cy="306324"/>
            </a:xfrm>
            <a:prstGeom prst="rect">
              <a:avLst/>
            </a:prstGeom>
            <a:solidFill>
              <a:srgbClr val="F4F5F8"/>
            </a:solidFill>
            <a:ln w="9525">
              <a:solidFill>
                <a:srgbClr val="C9CF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7" name="Rectangle 106"/>
            <p:cNvSpPr/>
            <p:nvPr/>
          </p:nvSpPr>
          <p:spPr>
            <a:xfrm>
              <a:off x="658368" y="5815583"/>
              <a:ext cx="82296" cy="306324"/>
            </a:xfrm>
            <a:prstGeom prst="rect">
              <a:avLst/>
            </a:prstGeom>
            <a:solidFill>
              <a:srgbClr val="E07A2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8" name="TextBox 107"/>
            <p:cNvSpPr txBox="1"/>
            <p:nvPr/>
          </p:nvSpPr>
          <p:spPr>
            <a:xfrm>
              <a:off x="740664" y="5815583"/>
              <a:ext cx="1664208" cy="306324"/>
            </a:xfrm>
            <a:prstGeom prst="rect">
              <a:avLst/>
            </a:prstGeom>
            <a:noFill/>
          </p:spPr>
          <p:txBody>
            <a:bodyPr wrap="square" lIns="36576" tIns="18288" rIns="36576" bIns="18288" anchor="ctr">
              <a:noAutofit/>
            </a:bodyPr>
            <a:lstStyle/>
            <a:p>
              <a:pPr algn="ctr">
                <a:lnSpc>
                  <a:spcPct val="102000"/>
                </a:lnSpc>
              </a:pPr>
              <a:r>
                <a:rPr sz="1200" b="1" i="0">
                  <a:solidFill>
                    <a:srgbClr val="1B244E"/>
                  </a:solidFill>
                  <a:latin typeface="PingFang SC"/>
                  <a:ea typeface="PingFang SC"/>
                  <a:cs typeface="PingFang SC"/>
                </a:rPr>
                <a:t>A19</a:t>
              </a:r>
            </a:p>
          </p:txBody>
        </p:sp>
        <p:sp>
          <p:nvSpPr>
            <p:cNvPr id="109" name="TextBox 108"/>
            <p:cNvSpPr txBox="1"/>
            <p:nvPr/>
          </p:nvSpPr>
          <p:spPr>
            <a:xfrm>
              <a:off x="2569463" y="5815583"/>
              <a:ext cx="1664208" cy="306324"/>
            </a:xfrm>
            <a:prstGeom prst="rect">
              <a:avLst/>
            </a:prstGeom>
            <a:noFill/>
          </p:spPr>
          <p:txBody>
            <a:bodyPr wrap="square" lIns="36576" tIns="18288" rIns="36576" bIns="18288" anchor="ctr">
              <a:noAutofit/>
            </a:bodyPr>
            <a:lstStyle/>
            <a:p>
              <a:pPr algn="ctr">
                <a:lnSpc>
                  <a:spcPct val="102000"/>
                </a:lnSpc>
              </a:pPr>
              <a:r>
                <a:rPr sz="1200" b="0" i="0">
                  <a:solidFill>
                    <a:srgbClr val="20242E"/>
                  </a:solidFill>
                  <a:latin typeface="PingFang SC"/>
                  <a:ea typeface="PingFang SC"/>
                  <a:cs typeface="PingFang SC"/>
                </a:rPr>
                <a:t>5.00%</a:t>
              </a:r>
            </a:p>
          </p:txBody>
        </p:sp>
        <p:sp>
          <p:nvSpPr>
            <p:cNvPr id="110" name="TextBox 109"/>
            <p:cNvSpPr txBox="1"/>
            <p:nvPr/>
          </p:nvSpPr>
          <p:spPr>
            <a:xfrm>
              <a:off x="4398264" y="5815583"/>
              <a:ext cx="1847088" cy="306324"/>
            </a:xfrm>
            <a:prstGeom prst="rect">
              <a:avLst/>
            </a:prstGeom>
            <a:noFill/>
          </p:spPr>
          <p:txBody>
            <a:bodyPr wrap="square" lIns="36576" tIns="18288" rIns="36576" bIns="18288" anchor="ctr">
              <a:noAutofit/>
            </a:bodyPr>
            <a:lstStyle/>
            <a:p>
              <a:pPr algn="ctr">
                <a:lnSpc>
                  <a:spcPct val="102000"/>
                </a:lnSpc>
              </a:pPr>
              <a:r>
                <a:rPr sz="1200" b="0" i="0">
                  <a:solidFill>
                    <a:srgbClr val="20242E"/>
                  </a:solidFill>
                  <a:latin typeface="PingFang SC"/>
                  <a:ea typeface="PingFang SC"/>
                  <a:cs typeface="PingFang SC"/>
                </a:rPr>
                <a:t>0.9723</a:t>
              </a:r>
            </a:p>
          </p:txBody>
        </p:sp>
        <p:sp>
          <p:nvSpPr>
            <p:cNvPr id="111" name="TextBox 110"/>
            <p:cNvSpPr txBox="1"/>
            <p:nvPr/>
          </p:nvSpPr>
          <p:spPr>
            <a:xfrm>
              <a:off x="6409944" y="5815583"/>
              <a:ext cx="2029967" cy="306324"/>
            </a:xfrm>
            <a:prstGeom prst="rect">
              <a:avLst/>
            </a:prstGeom>
            <a:noFill/>
          </p:spPr>
          <p:txBody>
            <a:bodyPr wrap="square" lIns="36576" tIns="18288" rIns="36576" bIns="18288" anchor="ctr">
              <a:noAutofit/>
            </a:bodyPr>
            <a:lstStyle/>
            <a:p>
              <a:pPr algn="ctr">
                <a:lnSpc>
                  <a:spcPct val="102000"/>
                </a:lnSpc>
              </a:pPr>
              <a:r>
                <a:rPr sz="1200" b="0" i="0">
                  <a:solidFill>
                    <a:srgbClr val="20242E"/>
                  </a:solidFill>
                  <a:latin typeface="PingFang SC"/>
                  <a:ea typeface="PingFang SC"/>
                  <a:cs typeface="PingFang SC"/>
                </a:rPr>
                <a:t>0.4890</a:t>
              </a:r>
            </a:p>
          </p:txBody>
        </p:sp>
        <p:sp>
          <p:nvSpPr>
            <p:cNvPr id="112" name="TextBox 111"/>
            <p:cNvSpPr txBox="1"/>
            <p:nvPr/>
          </p:nvSpPr>
          <p:spPr>
            <a:xfrm>
              <a:off x="8604504" y="5815583"/>
              <a:ext cx="1847088" cy="306324"/>
            </a:xfrm>
            <a:prstGeom prst="rect">
              <a:avLst/>
            </a:prstGeom>
            <a:noFill/>
          </p:spPr>
          <p:txBody>
            <a:bodyPr wrap="square" lIns="36576" tIns="18288" rIns="36576" bIns="18288" anchor="ctr">
              <a:noAutofit/>
            </a:bodyPr>
            <a:lstStyle/>
            <a:p>
              <a:pPr algn="ctr">
                <a:lnSpc>
                  <a:spcPct val="102000"/>
                </a:lnSpc>
              </a:pPr>
              <a:r>
                <a:rPr sz="1200" b="0" i="0">
                  <a:solidFill>
                    <a:srgbClr val="20242E"/>
                  </a:solidFill>
                  <a:latin typeface="PingFang SC"/>
                  <a:ea typeface="PingFang SC"/>
                  <a:cs typeface="PingFang SC"/>
                </a:rPr>
                <a:t>0.9736</a:t>
              </a:r>
            </a:p>
          </p:txBody>
        </p:sp>
        <p:sp>
          <p:nvSpPr>
            <p:cNvPr id="113" name="TextBox 112"/>
            <p:cNvSpPr txBox="1"/>
            <p:nvPr/>
          </p:nvSpPr>
          <p:spPr>
            <a:xfrm>
              <a:off x="10616184" y="5815583"/>
              <a:ext cx="1115568" cy="306324"/>
            </a:xfrm>
            <a:prstGeom prst="rect">
              <a:avLst/>
            </a:prstGeom>
            <a:noFill/>
          </p:spPr>
          <p:txBody>
            <a:bodyPr wrap="square" lIns="36576" tIns="18288" rIns="36576" bIns="18288" anchor="ctr">
              <a:noAutofit/>
            </a:bodyPr>
            <a:lstStyle/>
            <a:p>
              <a:pPr algn="ctr">
                <a:lnSpc>
                  <a:spcPct val="102000"/>
                </a:lnSpc>
              </a:pPr>
              <a:r>
                <a:rPr sz="1200" b="0" i="0">
                  <a:solidFill>
                    <a:srgbClr val="20242E"/>
                  </a:solidFill>
                  <a:latin typeface="PingFang SC"/>
                  <a:ea typeface="PingFang SC"/>
                  <a:cs typeface="PingFang SC"/>
                </a:rPr>
                <a:t>较难</a:t>
              </a:r>
            </a:p>
          </p:txBody>
        </p:sp>
        <p:sp>
          <p:nvSpPr>
            <p:cNvPr id="114" name="Rounded Rectangle 113"/>
            <p:cNvSpPr/>
            <p:nvPr/>
          </p:nvSpPr>
          <p:spPr>
            <a:xfrm>
              <a:off x="658368" y="5669280"/>
              <a:ext cx="11155680" cy="658367"/>
            </a:xfrm>
            <a:prstGeom prst="roundRect">
              <a:avLst>
                <a:gd name="adj" fmla="val 6000"/>
              </a:avLst>
            </a:prstGeom>
            <a:solidFill>
              <a:srgbClr val="F8E9D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5" name="Rectangle 114"/>
            <p:cNvSpPr/>
            <p:nvPr/>
          </p:nvSpPr>
          <p:spPr>
            <a:xfrm>
              <a:off x="658368" y="5669280"/>
              <a:ext cx="91440" cy="658367"/>
            </a:xfrm>
            <a:prstGeom prst="rect">
              <a:avLst/>
            </a:prstGeom>
            <a:solidFill>
              <a:srgbClr val="E07A2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6" name="TextBox 115"/>
            <p:cNvSpPr txBox="1"/>
            <p:nvPr/>
          </p:nvSpPr>
          <p:spPr>
            <a:xfrm>
              <a:off x="923543" y="5680431"/>
              <a:ext cx="10698480" cy="658367"/>
            </a:xfrm>
            <a:prstGeom prst="rect">
              <a:avLst/>
            </a:prstGeom>
            <a:noFill/>
          </p:spPr>
          <p:txBody>
            <a:bodyPr wrap="square" lIns="36576" tIns="18288" rIns="36576" bIns="18288" anchor="ctr">
              <a:noAutofit/>
            </a:bodyPr>
            <a:lstStyle/>
            <a:p>
              <a:pPr algn="l">
                <a:lnSpc>
                  <a:spcPct val="112000"/>
                </a:lnSpc>
              </a:pPr>
              <a:r>
                <a:rPr sz="1200" b="1" i="0">
                  <a:solidFill>
                    <a:srgbClr val="B55C18"/>
                  </a:solidFill>
                  <a:latin typeface="PingFang SC"/>
                  <a:ea typeface="PingFang SC"/>
                  <a:cs typeface="PingFang SC"/>
                </a:rPr>
                <a:t>最难：A10 7.28% / A18 6.46% / A19 5.00% / A08 4.84%；最易：A13 0.00%（完美区分）。整体 EER 2.03% 由少数难攻击主导，多数攻击 EER &lt; 1%，说明模型对大部分未知生成器已学到通用伪影。</a:t>
              </a:r>
            </a:p>
          </p:txBody>
        </p:sp>
      </p:grpSp>
      <p:sp>
        <p:nvSpPr>
          <p:cNvPr id="119" name="TextBox 118"/>
          <p:cNvSpPr txBox="1"/>
          <p:nvPr/>
        </p:nvSpPr>
        <p:spPr>
          <a:xfrm>
            <a:off x="10058400" y="6437376"/>
            <a:ext cx="1737360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43 / 47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1417320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0424160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07A2F"/>
                </a:solidFill>
                <a:latin typeface="PingFang SC"/>
                <a:ea typeface="PingFang SC"/>
                <a:cs typeface="PingFang SC"/>
              </a:rPr>
              <a:t>ENGINEERING ·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03504"/>
            <a:ext cx="10881360" cy="6766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云实验平台与工程实现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35024"/>
            <a:ext cx="1417320" cy="5486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640080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平台与流水线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139696"/>
            <a:ext cx="777240" cy="45720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2398334"/>
            <a:ext cx="77724" cy="7772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87552" y="2304288"/>
            <a:ext cx="6126480" cy="577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35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实验平台：阿里云 DSW + A10 GPU，rsync 同步代码、conda 环境、HF 镜像加速。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158566"/>
            <a:ext cx="77724" cy="7772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87552" y="3064520"/>
            <a:ext cx="6126480" cy="577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35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配置驱动：Hydra + OmegaConf，experiment/model/dataset/training 分层配置。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918798"/>
            <a:ext cx="77724" cy="7772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87552" y="3824752"/>
            <a:ext cx="6126480" cy="311536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35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一键启动：SKIP_PREPARE=1 bash scripts/quick_run.sh 完成全流程。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92340" y="1170432"/>
            <a:ext cx="4251960" cy="4572000"/>
          </a:xfrm>
          <a:prstGeom prst="roundRect">
            <a:avLst>
              <a:gd name="adj" fmla="val 6000"/>
            </a:avLst>
          </a:prstGeom>
          <a:solidFill>
            <a:srgbClr val="EC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292340" y="1170432"/>
            <a:ext cx="4251960" cy="566928"/>
          </a:xfrm>
          <a:prstGeom prst="roundRect">
            <a:avLst>
              <a:gd name="adj" fmla="val 6000"/>
            </a:avLst>
          </a:prstGeom>
          <a:solidFill>
            <a:srgbClr val="1B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292340" y="1444752"/>
            <a:ext cx="4251960" cy="292608"/>
          </a:xfrm>
          <a:prstGeom prst="rect">
            <a:avLst/>
          </a:prstGeom>
          <a:solidFill>
            <a:srgbClr val="1B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511796" y="1170432"/>
            <a:ext cx="3886200" cy="56692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50" b="1" i="0" dirty="0" err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代码资产统计</a:t>
            </a:r>
            <a:endParaRPr sz="1450" b="1" i="0" dirty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2" name="Diamond 21"/>
          <p:cNvSpPr/>
          <p:nvPr/>
        </p:nvSpPr>
        <p:spPr>
          <a:xfrm>
            <a:off x="7543800" y="2011299"/>
            <a:ext cx="100584" cy="100584"/>
          </a:xfrm>
          <a:prstGeom prst="diamond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804404" y="1938528"/>
            <a:ext cx="3520440" cy="537971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25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src/ 五大模块：data / models / training / evaluation / utils。</a:t>
            </a:r>
          </a:p>
        </p:txBody>
      </p:sp>
      <p:sp>
        <p:nvSpPr>
          <p:cNvPr id="24" name="Diamond 23"/>
          <p:cNvSpPr/>
          <p:nvPr/>
        </p:nvSpPr>
        <p:spPr>
          <a:xfrm>
            <a:off x="7543800" y="2732151"/>
            <a:ext cx="100584" cy="100584"/>
          </a:xfrm>
          <a:prstGeom prst="diamond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804404" y="2659380"/>
            <a:ext cx="3520440" cy="537971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25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26 个 Python 源模块（src）+ 14 个入口脚本（scripts）。</a:t>
            </a:r>
          </a:p>
        </p:txBody>
      </p:sp>
      <p:sp>
        <p:nvSpPr>
          <p:cNvPr id="26" name="Diamond 25"/>
          <p:cNvSpPr/>
          <p:nvPr/>
        </p:nvSpPr>
        <p:spPr>
          <a:xfrm>
            <a:off x="7543800" y="3453003"/>
            <a:ext cx="100584" cy="100584"/>
          </a:xfrm>
          <a:prstGeom prst="diamond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804404" y="3380232"/>
            <a:ext cx="3520440" cy="291845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25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128 项单元测试（tests，pytest 收集通过）。</a:t>
            </a:r>
          </a:p>
        </p:txBody>
      </p:sp>
      <p:sp>
        <p:nvSpPr>
          <p:cNvPr id="28" name="Diamond 27"/>
          <p:cNvSpPr/>
          <p:nvPr/>
        </p:nvSpPr>
        <p:spPr>
          <a:xfrm>
            <a:off x="7543800" y="3927729"/>
            <a:ext cx="100584" cy="100584"/>
          </a:xfrm>
          <a:prstGeom prst="diamond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804404" y="3854958"/>
            <a:ext cx="3656076" cy="537971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250" b="0" i="0" dirty="0" err="1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训练</a:t>
            </a:r>
            <a:r>
              <a:rPr sz="1250" b="0" i="0" dirty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/</a:t>
            </a:r>
            <a:r>
              <a:rPr sz="1250" b="0" i="0" dirty="0" err="1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评估</a:t>
            </a:r>
            <a:r>
              <a:rPr sz="1250" b="0" i="0" dirty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/</a:t>
            </a:r>
            <a:r>
              <a:rPr sz="1250" b="0" i="0" dirty="0" err="1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交叉评估</a:t>
            </a:r>
            <a:r>
              <a:rPr sz="1250" b="0" i="0" dirty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/</a:t>
            </a:r>
            <a:r>
              <a:rPr sz="1250" b="0" i="0" dirty="0" err="1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偏差检测</a:t>
            </a:r>
            <a:r>
              <a:rPr sz="1250" b="0" i="0" dirty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/</a:t>
            </a:r>
            <a:r>
              <a:rPr sz="1250" b="0" i="0" dirty="0" err="1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报告生成</a:t>
            </a:r>
            <a:r>
              <a:rPr sz="1250" b="0" i="0" dirty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 CLI </a:t>
            </a:r>
            <a:r>
              <a:rPr sz="1250" b="0" i="0" dirty="0" err="1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齐备</a:t>
            </a:r>
            <a:r>
              <a:rPr sz="1250" b="0" i="0" dirty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  <p:sp>
        <p:nvSpPr>
          <p:cNvPr id="30" name="Diamond 29"/>
          <p:cNvSpPr/>
          <p:nvPr/>
        </p:nvSpPr>
        <p:spPr>
          <a:xfrm>
            <a:off x="7543800" y="4648581"/>
            <a:ext cx="100584" cy="100584"/>
          </a:xfrm>
          <a:prstGeom prst="diamond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804404" y="4575810"/>
            <a:ext cx="3520440" cy="537971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250" b="0" i="0" dirty="0" err="1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可复现性：统一随机种子</a:t>
            </a:r>
            <a:r>
              <a:rPr sz="1250" b="0" i="0" dirty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 + </a:t>
            </a:r>
            <a:r>
              <a:rPr sz="1250" b="0" i="0" dirty="0" err="1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日志</a:t>
            </a:r>
            <a:r>
              <a:rPr sz="1250" b="0" i="0" dirty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 + </a:t>
            </a:r>
            <a:r>
              <a:rPr sz="1250" b="0" i="0" dirty="0" err="1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WandB</a:t>
            </a:r>
            <a:r>
              <a:rPr sz="1250" b="0" i="0" dirty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250" b="0" i="0" dirty="0" err="1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实验追踪</a:t>
            </a:r>
            <a:r>
              <a:rPr sz="1250" b="0" i="0" dirty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6400800"/>
            <a:ext cx="11228832" cy="18288"/>
          </a:xfrm>
          <a:prstGeom prst="rect">
            <a:avLst/>
          </a:prstGeom>
          <a:solidFill>
            <a:srgbClr val="C9C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66928" y="6437376"/>
            <a:ext cx="8778240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子课题三 · 未知攻击与跨数据集泛化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6437376"/>
            <a:ext cx="1737360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44 / 47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1417320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0424160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07A2F"/>
                </a:solidFill>
                <a:latin typeface="PingFang SC"/>
                <a:ea typeface="PingFang SC"/>
                <a:cs typeface="PingFang SC"/>
              </a:rPr>
              <a:t>CONCLUSION ·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03504"/>
            <a:ext cx="10881360" cy="6766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B244E"/>
                </a:solidFill>
                <a:latin typeface="PingFang SC"/>
                <a:ea typeface="PingFang SC"/>
                <a:cs typeface="PingFang SC"/>
              </a:rPr>
              <a:t>结论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35024"/>
            <a:ext cx="1417320" cy="5486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831406"/>
            <a:ext cx="77724" cy="7772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7552" y="1737360"/>
            <a:ext cx="10652759" cy="311536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35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完整系统实现：SSL 前端（WavLM / XLS-R）+ AASIST 后端 + LoRA 微调的模块化检测框架。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362398"/>
            <a:ext cx="77724" cy="7772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87552" y="2268352"/>
            <a:ext cx="10652759" cy="311536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35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五种泛化策略落地：Single ERM / Multi ERM / RawBoost / MLDG+LoRA / SAM。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893390"/>
            <a:ext cx="77724" cy="7772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87552" y="2799344"/>
            <a:ext cx="10652759" cy="577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35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完整评估体系：EER / AUC / Macro-F1 / Accuracy / min t-DCF 五指标 × overall / 已知 / 未知 / 逐攻击 / 逐数据集多维度，另含 ECE / Brier 校准评估。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690198"/>
            <a:ext cx="77724" cy="7772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87552" y="3596152"/>
            <a:ext cx="10652759" cy="311536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35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跨数据集评估工具：自动化 N×N 交叉矩阵 + 退化分析；偏差检测覆盖静音/说话人/编码器/t-SNE/Grad-CAM 五项。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221190"/>
            <a:ext cx="77724" cy="7772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87552" y="4127144"/>
            <a:ext cx="10652759" cy="311536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35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端到端验证通过：冒烟测试证明全流水线正确运行，并成功复现域迁移退化现象（域内 EER 0–6.7% → 跨域 26.7–33.3%）。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752182"/>
            <a:ext cx="77724" cy="7772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87552" y="4658136"/>
            <a:ext cx="10652759" cy="577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350" b="0" i="0">
                <a:solidFill>
                  <a:srgbClr val="20242E"/>
                </a:solidFill>
                <a:latin typeface="PingFang SC"/>
                <a:ea typeface="PingFang SC"/>
                <a:cs typeface="PingFang SC"/>
              </a:rPr>
              <a:t>真实实测：ASVspoof 2019 LA 全量 71,237 条 eval（全未知攻击）EER 2.03% / AUC 0.9890 / Accuracy 98.08% / Macro-F1 0.952。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8543" y="5430896"/>
            <a:ext cx="10972800" cy="621792"/>
          </a:xfrm>
          <a:prstGeom prst="roundRect">
            <a:avLst>
              <a:gd name="adj" fmla="val 6000"/>
            </a:avLst>
          </a:prstGeom>
          <a:solidFill>
            <a:srgbClr val="F8E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88543" y="5430896"/>
            <a:ext cx="91440" cy="621792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5431" y="5430896"/>
            <a:ext cx="10515600" cy="62179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250" b="1" i="0" dirty="0" err="1">
                <a:solidFill>
                  <a:srgbClr val="B55C18"/>
                </a:solidFill>
                <a:latin typeface="PingFang SC"/>
                <a:ea typeface="PingFang SC"/>
                <a:cs typeface="PingFang SC"/>
              </a:rPr>
              <a:t>已完成「系统正确性验证</a:t>
            </a:r>
            <a:r>
              <a:rPr sz="1250" b="1" i="0" dirty="0">
                <a:solidFill>
                  <a:srgbClr val="B55C18"/>
                </a:solidFill>
                <a:latin typeface="PingFang SC"/>
                <a:ea typeface="PingFang SC"/>
                <a:cs typeface="PingFang SC"/>
              </a:rPr>
              <a:t> + </a:t>
            </a:r>
            <a:r>
              <a:rPr sz="1250" b="1" i="0" dirty="0" err="1">
                <a:solidFill>
                  <a:srgbClr val="B55C18"/>
                </a:solidFill>
                <a:latin typeface="PingFang SC"/>
                <a:ea typeface="PingFang SC"/>
                <a:cs typeface="PingFang SC"/>
              </a:rPr>
              <a:t>ASVspoof</a:t>
            </a:r>
            <a:r>
              <a:rPr sz="1250" b="1" i="0" dirty="0">
                <a:solidFill>
                  <a:srgbClr val="B55C18"/>
                </a:solidFill>
                <a:latin typeface="PingFang SC"/>
                <a:ea typeface="PingFang SC"/>
                <a:cs typeface="PingFang SC"/>
              </a:rPr>
              <a:t> 2019 LA </a:t>
            </a:r>
            <a:r>
              <a:rPr sz="1250" b="1" i="0" dirty="0" err="1">
                <a:solidFill>
                  <a:srgbClr val="B55C18"/>
                </a:solidFill>
                <a:latin typeface="PingFang SC"/>
                <a:ea typeface="PingFang SC"/>
                <a:cs typeface="PingFang SC"/>
              </a:rPr>
              <a:t>全量</a:t>
            </a:r>
            <a:r>
              <a:rPr sz="1250" b="1" i="0" dirty="0">
                <a:solidFill>
                  <a:srgbClr val="B55C18"/>
                </a:solidFill>
                <a:latin typeface="PingFang SC"/>
                <a:ea typeface="PingFang SC"/>
                <a:cs typeface="PingFang SC"/>
              </a:rPr>
              <a:t> 71k </a:t>
            </a:r>
            <a:r>
              <a:rPr sz="1250" b="1" i="0" dirty="0" err="1">
                <a:solidFill>
                  <a:srgbClr val="B55C18"/>
                </a:solidFill>
                <a:latin typeface="PingFang SC"/>
                <a:ea typeface="PingFang SC"/>
                <a:cs typeface="PingFang SC"/>
              </a:rPr>
              <a:t>阿里云</a:t>
            </a:r>
            <a:r>
              <a:rPr sz="1250" b="1" i="0" dirty="0">
                <a:solidFill>
                  <a:srgbClr val="B55C18"/>
                </a:solidFill>
                <a:latin typeface="PingFang SC"/>
                <a:ea typeface="PingFang SC"/>
                <a:cs typeface="PingFang SC"/>
              </a:rPr>
              <a:t> A10 </a:t>
            </a:r>
            <a:r>
              <a:rPr sz="1250" b="1" i="0" dirty="0" err="1">
                <a:solidFill>
                  <a:srgbClr val="B55C18"/>
                </a:solidFill>
                <a:latin typeface="PingFang SC"/>
                <a:ea typeface="PingFang SC"/>
                <a:cs typeface="PingFang SC"/>
              </a:rPr>
              <a:t>实测</a:t>
            </a:r>
            <a:r>
              <a:rPr sz="1250" b="1" i="0" dirty="0">
                <a:solidFill>
                  <a:srgbClr val="B55C18"/>
                </a:solidFill>
                <a:latin typeface="PingFang SC"/>
                <a:ea typeface="PingFang SC"/>
                <a:cs typeface="PingFang SC"/>
              </a:rPr>
              <a:t>」；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6400800"/>
            <a:ext cx="11228832" cy="18288"/>
          </a:xfrm>
          <a:prstGeom prst="rect">
            <a:avLst/>
          </a:prstGeom>
          <a:solidFill>
            <a:srgbClr val="C9C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6928" y="6437376"/>
            <a:ext cx="8778240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子课题三 · 未知攻击与跨数据集泛化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6437376"/>
            <a:ext cx="1737360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5E6474"/>
                </a:solidFill>
                <a:latin typeface="PingFang SC"/>
                <a:ea typeface="PingFang SC"/>
                <a:cs typeface="PingFang SC"/>
              </a:rPr>
              <a:t>45 / 47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332720" cy="10972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4400" b="1" i="0" dirty="0" err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谢谢</a:t>
            </a:r>
            <a:r>
              <a:rPr sz="4400" b="1" i="0" dirty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 · </a:t>
            </a:r>
            <a:r>
              <a:rPr sz="4400" b="1" i="0" dirty="0" err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恳请批评指正</a:t>
            </a:r>
            <a:endParaRPr sz="4400" b="1" i="0" dirty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3383280"/>
            <a:ext cx="10332720" cy="8686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3200" b="1" i="0">
                <a:solidFill>
                  <a:srgbClr val="E07A2F"/>
                </a:solidFill>
                <a:latin typeface="PingFang SC"/>
                <a:ea typeface="PingFang SC"/>
                <a:cs typeface="PingFang SC"/>
              </a:rPr>
              <a:t>Q &amp; A</a:t>
            </a:r>
          </a:p>
        </p:txBody>
      </p:sp>
      <p:sp>
        <p:nvSpPr>
          <p:cNvPr id="7" name="Rectangle 6"/>
          <p:cNvSpPr/>
          <p:nvPr/>
        </p:nvSpPr>
        <p:spPr>
          <a:xfrm>
            <a:off x="4956048" y="4343400"/>
            <a:ext cx="2286000" cy="54864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4553712"/>
            <a:ext cx="1033272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D9E0F2"/>
                </a:solidFill>
                <a:latin typeface="PingFang SC"/>
                <a:ea typeface="PingFang SC"/>
                <a:cs typeface="PingFang SC"/>
              </a:rPr>
              <a:t>子课题三：未知攻击与跨数据集泛化 · 面向中文场景的大模型语音伪造检测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047488"/>
            <a:ext cx="1033272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50" b="0" i="1">
                <a:solidFill>
                  <a:srgbClr val="D9E0F2"/>
                </a:solidFill>
                <a:latin typeface="PingFang SC"/>
                <a:ea typeface="PingFang SC"/>
                <a:cs typeface="PingFang SC"/>
              </a:rPr>
              <a:t>系统已端到端验证通过 · ASVspoof 2019 LA 全量 71,237 条已于阿里云 A10 完成真实实测 · 完整跨数据集实验待续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806440"/>
            <a:ext cx="1033272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D9E0F2"/>
                </a:solidFill>
                <a:latin typeface="PingFang SC"/>
                <a:ea typeface="PingFang SC"/>
                <a:cs typeface="PingFang SC"/>
              </a:rPr>
              <a:t>答辩人：张艺怀 · 2026 年 9 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751</TotalTime>
  <Words>3823</Words>
  <Application>Microsoft Macintosh PowerPoint</Application>
  <PresentationFormat>宽屏</PresentationFormat>
  <Paragraphs>786</Paragraphs>
  <Slides>45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45</vt:i4>
      </vt:variant>
    </vt:vector>
  </HeadingPairs>
  <TitlesOfParts>
    <vt:vector size="49" baseType="lpstr">
      <vt:lpstr>PingFang SC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耀耀轩</cp:lastModifiedBy>
  <cp:revision>31</cp:revision>
  <dcterms:created xsi:type="dcterms:W3CDTF">2013-01-27T09:14:16Z</dcterms:created>
  <dcterms:modified xsi:type="dcterms:W3CDTF">2026-09-09T05:04:55Z</dcterms:modified>
  <cp:category/>
</cp:coreProperties>
</file>